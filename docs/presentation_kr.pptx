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339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302" r:id="rId37"/>
    <p:sldId id="304" r:id="rId38"/>
    <p:sldId id="305" r:id="rId39"/>
    <p:sldId id="307" r:id="rId40"/>
    <p:sldId id="335" r:id="rId41"/>
    <p:sldId id="336" r:id="rId42"/>
    <p:sldId id="337" r:id="rId43"/>
    <p:sldId id="338" r:id="rId44"/>
    <p:sldId id="295" r:id="rId45"/>
    <p:sldId id="293" r:id="rId46"/>
    <p:sldId id="299" r:id="rId47"/>
    <p:sldId id="301" r:id="rId48"/>
    <p:sldId id="298" r:id="rId49"/>
    <p:sldId id="297" r:id="rId5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CBCF0A5E-367A-46EE-8DCE-7FBB6402D6BC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9F744B0-D843-454C-9B98-A4A9B6157D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9D3C1CF-7342-4FA5-8EDC-F3BB6EE9B88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25016"/>
    <p:restoredTop sz="90000"/>
  </p:normalViewPr>
  <p:slideViewPr>
    <p:cSldViewPr snapToGrid="0">
      <p:cViewPr>
        <p:scale>
          <a:sx n="60" d="100"/>
          <a:sy n="60" d="100"/>
        </p:scale>
        <p:origin x="0" y="0"/>
      </p:cViewPr>
      <p:guideLst>
        <p:guide orient="horz" pos="3239"/>
        <p:guide pos="57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slideMaster" Target="slideMasters/slideMaster2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slide" Target="slides/slide21.xml"  /><Relationship Id="rId25" Type="http://schemas.openxmlformats.org/officeDocument/2006/relationships/slide" Target="slides/slide22.xml"  /><Relationship Id="rId26" Type="http://schemas.openxmlformats.org/officeDocument/2006/relationships/slide" Target="slides/slide23.xml"  /><Relationship Id="rId27" Type="http://schemas.openxmlformats.org/officeDocument/2006/relationships/slide" Target="slides/slide24.xml"  /><Relationship Id="rId28" Type="http://schemas.openxmlformats.org/officeDocument/2006/relationships/slide" Target="slides/slide25.xml"  /><Relationship Id="rId29" Type="http://schemas.openxmlformats.org/officeDocument/2006/relationships/slide" Target="slides/slide26.xml"  /><Relationship Id="rId3" Type="http://schemas.openxmlformats.org/officeDocument/2006/relationships/notesMaster" Target="notesMasters/notesMaster1.xml"  /><Relationship Id="rId30" Type="http://schemas.openxmlformats.org/officeDocument/2006/relationships/slide" Target="slides/slide27.xml"  /><Relationship Id="rId31" Type="http://schemas.openxmlformats.org/officeDocument/2006/relationships/slide" Target="slides/slide28.xml"  /><Relationship Id="rId32" Type="http://schemas.openxmlformats.org/officeDocument/2006/relationships/slide" Target="slides/slide29.xml"  /><Relationship Id="rId33" Type="http://schemas.openxmlformats.org/officeDocument/2006/relationships/slide" Target="slides/slide30.xml"  /><Relationship Id="rId34" Type="http://schemas.openxmlformats.org/officeDocument/2006/relationships/slide" Target="slides/slide31.xml"  /><Relationship Id="rId35" Type="http://schemas.openxmlformats.org/officeDocument/2006/relationships/slide" Target="slides/slide32.xml"  /><Relationship Id="rId36" Type="http://schemas.openxmlformats.org/officeDocument/2006/relationships/slide" Target="slides/slide33.xml"  /><Relationship Id="rId37" Type="http://schemas.openxmlformats.org/officeDocument/2006/relationships/slide" Target="slides/slide34.xml"  /><Relationship Id="rId38" Type="http://schemas.openxmlformats.org/officeDocument/2006/relationships/slide" Target="slides/slide35.xml"  /><Relationship Id="rId39" Type="http://schemas.openxmlformats.org/officeDocument/2006/relationships/slide" Target="slides/slide36.xml"  /><Relationship Id="rId4" Type="http://schemas.openxmlformats.org/officeDocument/2006/relationships/slide" Target="slides/slide1.xml"  /><Relationship Id="rId40" Type="http://schemas.openxmlformats.org/officeDocument/2006/relationships/slide" Target="slides/slide37.xml"  /><Relationship Id="rId41" Type="http://schemas.openxmlformats.org/officeDocument/2006/relationships/slide" Target="slides/slide38.xml"  /><Relationship Id="rId42" Type="http://schemas.openxmlformats.org/officeDocument/2006/relationships/slide" Target="slides/slide39.xml"  /><Relationship Id="rId43" Type="http://schemas.openxmlformats.org/officeDocument/2006/relationships/slide" Target="slides/slide40.xml"  /><Relationship Id="rId44" Type="http://schemas.openxmlformats.org/officeDocument/2006/relationships/slide" Target="slides/slide41.xml"  /><Relationship Id="rId45" Type="http://schemas.openxmlformats.org/officeDocument/2006/relationships/slide" Target="slides/slide42.xml"  /><Relationship Id="rId46" Type="http://schemas.openxmlformats.org/officeDocument/2006/relationships/slide" Target="slides/slide43.xml"  /><Relationship Id="rId47" Type="http://schemas.openxmlformats.org/officeDocument/2006/relationships/slide" Target="slides/slide44.xml"  /><Relationship Id="rId48" Type="http://schemas.openxmlformats.org/officeDocument/2006/relationships/slide" Target="slides/slide45.xml"  /><Relationship Id="rId49" Type="http://schemas.openxmlformats.org/officeDocument/2006/relationships/slide" Target="slides/slide46.xml"  /><Relationship Id="rId5" Type="http://schemas.openxmlformats.org/officeDocument/2006/relationships/slide" Target="slides/slide2.xml"  /><Relationship Id="rId50" Type="http://schemas.openxmlformats.org/officeDocument/2006/relationships/slide" Target="slides/slide47.xml"  /><Relationship Id="rId51" Type="http://schemas.openxmlformats.org/officeDocument/2006/relationships/presProps" Target="presProps.xml"  /><Relationship Id="rId52" Type="http://schemas.openxmlformats.org/officeDocument/2006/relationships/viewProps" Target="viewProps.xml"  /><Relationship Id="rId53" Type="http://schemas.openxmlformats.org/officeDocument/2006/relationships/theme" Target="theme/theme1.xml"  /><Relationship Id="rId54" Type="http://schemas.openxmlformats.org/officeDocument/2006/relationships/tableStyles" Target="tableStyles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30.xml"  /><Relationship Id="rId2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slide" Target="../slides/slide31.xml"  /><Relationship Id="rId2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2.xml"  /><Relationship Id="rId2" Type="http://schemas.openxmlformats.org/officeDocument/2006/relationships/notesMaster" Target="../notesMasters/notesMaster1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3.xml"  /><Relationship Id="rId2" Type="http://schemas.openxmlformats.org/officeDocument/2006/relationships/notesMaster" Target="../notesMasters/notesMaster1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4.xml"  /><Relationship Id="rId2" Type="http://schemas.openxmlformats.org/officeDocument/2006/relationships/notesMaster" Target="../notesMasters/notesMaster1.xml"  /></Relationships>
</file>

<file path=ppt/notesSlides/_rels/notesSlide34.xml.rels><?xml version="1.0" encoding="UTF-8" standalone="yes" ?><Relationships xmlns="http://schemas.openxmlformats.org/package/2006/relationships"><Relationship Id="rId1" Type="http://schemas.openxmlformats.org/officeDocument/2006/relationships/slide" Target="../slides/slide35.xml"  /><Relationship Id="rId2" Type="http://schemas.openxmlformats.org/officeDocument/2006/relationships/notesMaster" Target="../notesMasters/notesMaster1.xml"  /></Relationships>
</file>

<file path=ppt/notesSlides/_rels/notesSlide35.xml.rels><?xml version="1.0" encoding="UTF-8" standalone="yes" ?><Relationships xmlns="http://schemas.openxmlformats.org/package/2006/relationships"><Relationship Id="rId1" Type="http://schemas.openxmlformats.org/officeDocument/2006/relationships/slide" Target="../slides/slide36.xml"  /><Relationship Id="rId2" Type="http://schemas.openxmlformats.org/officeDocument/2006/relationships/notesMaster" Target="../notesMasters/notesMaster1.xml"  /></Relationships>
</file>

<file path=ppt/notesSlides/_rels/notesSlide36.xml.rels><?xml version="1.0" encoding="UTF-8" standalone="yes" ?><Relationships xmlns="http://schemas.openxmlformats.org/package/2006/relationships"><Relationship Id="rId1" Type="http://schemas.openxmlformats.org/officeDocument/2006/relationships/slide" Target="../slides/slide37.xml"  /><Relationship Id="rId2" Type="http://schemas.openxmlformats.org/officeDocument/2006/relationships/notesMaster" Target="../notesMasters/notesMaster1.xml"  /></Relationships>
</file>

<file path=ppt/notesSlides/_rels/notesSlide37.xml.rels><?xml version="1.0" encoding="UTF-8" standalone="yes" ?><Relationships xmlns="http://schemas.openxmlformats.org/package/2006/relationships"><Relationship Id="rId1" Type="http://schemas.openxmlformats.org/officeDocument/2006/relationships/slide" Target="../slides/slide42.xml"  /><Relationship Id="rId2" Type="http://schemas.openxmlformats.org/officeDocument/2006/relationships/notesMaster" Target="../notesMasters/notesMaster1.xml"  /></Relationships>
</file>

<file path=ppt/notesSlides/_rels/notesSlide38.xml.rels><?xml version="1.0" encoding="UTF-8" standalone="yes" ?><Relationships xmlns="http://schemas.openxmlformats.org/package/2006/relationships"><Relationship Id="rId1" Type="http://schemas.openxmlformats.org/officeDocument/2006/relationships/slide" Target="../slides/slide43.xml"  /><Relationship Id="rId2" Type="http://schemas.openxmlformats.org/officeDocument/2006/relationships/notesMaster" Target="../notesMasters/notesMaster1.xml"  /></Relationships>
</file>

<file path=ppt/notesSlides/_rels/notesSlide39.xml.rels><?xml version="1.0" encoding="UTF-8" standalone="yes" ?><Relationships xmlns="http://schemas.openxmlformats.org/package/2006/relationships"><Relationship Id="rId1" Type="http://schemas.openxmlformats.org/officeDocument/2006/relationships/slide" Target="../slides/slide44.xml"  /><Relationship Id="rId2" Type="http://schemas.openxmlformats.org/officeDocument/2006/relationships/notesMaster" Target="../notesMasters/notesMaster1.xml"  /></Relationships>
</file>

<file path=ppt/notesSlides/_rels/notesSlide40.xml.rels><?xml version="1.0" encoding="UTF-8" standalone="yes" ?><Relationships xmlns="http://schemas.openxmlformats.org/package/2006/relationships"><Relationship Id="rId1" Type="http://schemas.openxmlformats.org/officeDocument/2006/relationships/slide" Target="../slides/slide45.xml"  /><Relationship Id="rId2" Type="http://schemas.openxmlformats.org/officeDocument/2006/relationships/notesMaster" Target="../notesMasters/notesMaster1.xml"  /></Relationships>
</file>

<file path=ppt/notesSlides/_rels/notesSlide41.xml.rels><?xml version="1.0" encoding="UTF-8" standalone="yes" ?><Relationships xmlns="http://schemas.openxmlformats.org/package/2006/relationships"><Relationship Id="rId1" Type="http://schemas.openxmlformats.org/officeDocument/2006/relationships/slide" Target="../slides/slide46.xml"  /><Relationship Id="rId2" Type="http://schemas.openxmlformats.org/officeDocument/2006/relationships/notesMaster" Target="../notesMasters/notesMaster1.xml"  /></Relationships>
</file>

<file path=ppt/notesSlides/_rels/notesSlide4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47814ba0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0" name="Google Shape;160;g2a47814ba0b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47814ba0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" name="Google Shape;180;g2a47814ba0b_0_3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a47814ba0b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7" name="Google Shape;217;g2a47814ba0b_0_28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a47814ba0b_0_10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24" name="Google Shape;224;g2a47814ba0b_0_10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a47814ba0b_0_7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35" name="Google Shape;235;g2a47814ba0b_0_76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a47814ba0b_0_10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53" name="Google Shape;253;g2a47814ba0b_0_100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47814ba0b_0_1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87" name="Google Shape;287;g2a47814ba0b_0_112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a47814ba0b_0_1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02" name="Google Shape;302;g2a47814ba0b_0_130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a47814ba0b_0_1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25" name="Google Shape;325;g2a47814ba0b_0_12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a47814ba0b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48" name="Google Shape;348;g2a47814ba0b_0_30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a47814ba0b_0_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5" name="Google Shape;355;g2a47814ba0b_0_80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a47814ba0b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91" name="Google Shape;391;g2a47814ba0b_0_33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a47814ba0b_0_1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18" name="Google Shape;418;g2a47814ba0b_0_135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a47814ba0b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28" name="Google Shape;428;g2a47814ba0b_0_78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a47814ba0b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41" name="Google Shape;441;g2a47814ba0b_0_30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a47814ba0b_0_9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48" name="Google Shape;448;g2a47814ba0b_0_93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a47814ba0b_0_1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75" name="Google Shape;475;g2a47814ba0b_0_118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a47814ba0b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01" name="Google Shape;501;g2a47814ba0b_0_89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a47814ba0b_0_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14" name="Google Shape;514;g2a47814ba0b_0_91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a47814ba0b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25" name="Google Shape;525;g2a47814ba0b_0_31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a47814ba0b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32" name="Google Shape;532;g2a47814ba0b_1_8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a47814ba0b_1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53" name="Google Shape;553;g2a47814ba0b_1_14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a47814ba0b_1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70" name="Google Shape;570;g2a47814ba0b_1_1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a47814ba0b_1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87" name="Google Shape;587;g2a47814ba0b_1_16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a47814ba0b_1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08" name="Google Shape;608;g2a47814ba0b_1_18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a47814ba0b_1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39" name="Google Shape;639;g2a47814ba0b_1_23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a47814ba0b_0_9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64" name="Google Shape;664;g2a47814ba0b_0_96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a47814ba0b_1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83" name="Google Shape;683;g2a47814ba0b_1_2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a47814ba0b_1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98" name="Google Shape;698;g2a47814ba0b_1_29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a47814ba0b_1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15" name="Google Shape;715;g2a47814ba0b_1_3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a47814ba0b_1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35" name="Google Shape;735;g2a47814ba0b_1_33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a47814ba0b_1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52" name="Google Shape;752;g2a47814ba0b_1_35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a47814ba0b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767" name="Google Shape;767;g2a47814ba0b_0_3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a47814ba0b_2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774" name="Google Shape;774;g2a47814ba0b_2_29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a47814ba0b_2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774" name="Google Shape;774;g2a47814ba0b_2_29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a47814ba0b_2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774" name="Google Shape;774;g2a47814ba0b_2_29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a47814ba0b_2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52" name="Google Shape;852;g2a47814ba0b_2_17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a47814ba0b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23" name="Google Shape;823;g2a47814ba0b_0_32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a47814ba0b_2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830" name="Google Shape;830;g2a47814ba0b_2_12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a47814ba0b_2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830" name="Google Shape;830;g2a47814ba0b_2_12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a47814ba0b_2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830" name="Google Shape;830;g2a47814ba0b_2_12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47814ba0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60" name="Google Shape;160;g2a47814ba0b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 idx="0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 idx="0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 idx="0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 idx="0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 idx="0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body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 rot="0">
            <a:off x="0" y="762002"/>
            <a:ext cx="2075700" cy="2032574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162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Pretendard Variable"/>
                <a:ea typeface="Pretendard Variable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Pretendard Variable"/>
                <a:ea typeface="Pretendard Variable"/>
              </a:endParaRPr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 idx="0"/>
          </p:nvPr>
        </p:nvSpPr>
        <p:spPr>
          <a:xfrm>
            <a:off x="2595000" y="787500"/>
            <a:ext cx="14077800" cy="18282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2595000" y="3135100"/>
            <a:ext cx="14077800" cy="58224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a47814ba0b_0_653"/>
          <p:cNvSpPr txBox="1">
            <a:spLocks noGrp="1"/>
          </p:cNvSpPr>
          <p:nvPr>
            <p:ph type="title" idx="0"/>
          </p:nvPr>
        </p:nvSpPr>
        <p:spPr>
          <a:xfrm>
            <a:off x="914399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8" name="Google Shape;88;g2a47814ba0b_0_653"/>
          <p:cNvSpPr txBox="1">
            <a:spLocks noGrp="1"/>
          </p:cNvSpPr>
          <p:nvPr>
            <p:ph type="body" idx="1"/>
          </p:nvPr>
        </p:nvSpPr>
        <p:spPr>
          <a:xfrm>
            <a:off x="914399" y="2400300"/>
            <a:ext cx="16459200" cy="67890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marL="457200" lvl="0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1pPr>
            <a:lvl2pPr marL="914400" lvl="1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3pPr>
            <a:lvl4pPr marL="1828800" lvl="3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4pPr>
            <a:lvl5pPr marL="2286000" lvl="4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/>
            </a:lvl5pPr>
            <a:lvl6pPr marL="2743200" lvl="5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6pPr>
            <a:lvl7pPr marL="3200400" lvl="6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7pPr>
            <a:lvl8pPr marL="3657600" lvl="7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8pPr>
            <a:lvl9pPr marL="4114800" lvl="8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9" name="Google Shape;89;g2a47814ba0b_0_653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0" name="Google Shape;90;g2a47814ba0b_0_653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1" name="Google Shape;91;g2a47814ba0b_0_653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슬라이드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7814ba0b_0_659"/>
          <p:cNvSpPr txBox="1">
            <a:spLocks noGrp="1"/>
          </p:cNvSpPr>
          <p:nvPr>
            <p:ph type="ctrTitle" idx="0"/>
          </p:nvPr>
        </p:nvSpPr>
        <p:spPr>
          <a:xfrm>
            <a:off x="1371599" y="3195638"/>
            <a:ext cx="15544800" cy="22050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4" name="Google Shape;94;g2a47814ba0b_0_659"/>
          <p:cNvSpPr txBox="1">
            <a:spLocks noGrp="1"/>
          </p:cNvSpPr>
          <p:nvPr>
            <p:ph type="subTitle" idx="1"/>
          </p:nvPr>
        </p:nvSpPr>
        <p:spPr>
          <a:xfrm>
            <a:off x="2743199" y="5829300"/>
            <a:ext cx="12801600" cy="26289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5" name="Google Shape;95;g2a47814ba0b_0_659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6" name="Google Shape;96;g2a47814ba0b_0_659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7" name="Google Shape;97;g2a47814ba0b_0_659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a47814ba0b_0_665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0" name="Google Shape;100;g2a47814ba0b_0_665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1" name="Google Shape;101;g2a47814ba0b_0_665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47814ba0b_0_669"/>
          <p:cNvSpPr txBox="1">
            <a:spLocks noGrp="1"/>
          </p:cNvSpPr>
          <p:nvPr>
            <p:ph type="title" idx="0"/>
          </p:nvPr>
        </p:nvSpPr>
        <p:spPr>
          <a:xfrm>
            <a:off x="1444624" y="6610350"/>
            <a:ext cx="15544800" cy="20430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4" name="Google Shape;104;g2a47814ba0b_0_669"/>
          <p:cNvSpPr txBox="1">
            <a:spLocks noGrp="1"/>
          </p:cNvSpPr>
          <p:nvPr>
            <p:ph type="body" idx="1"/>
          </p:nvPr>
        </p:nvSpPr>
        <p:spPr>
          <a:xfrm>
            <a:off x="1444624" y="4360069"/>
            <a:ext cx="15544800" cy="22506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5" name="Google Shape;105;g2a47814ba0b_0_669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6" name="Google Shape;106;g2a47814ba0b_0_669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7" name="Google Shape;107;g2a47814ba0b_0_669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내용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47814ba0b_0_675"/>
          <p:cNvSpPr txBox="1">
            <a:spLocks noGrp="1"/>
          </p:cNvSpPr>
          <p:nvPr>
            <p:ph type="title" idx="0"/>
          </p:nvPr>
        </p:nvSpPr>
        <p:spPr>
          <a:xfrm>
            <a:off x="914399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0" name="Google Shape;110;g2a47814ba0b_0_675"/>
          <p:cNvSpPr txBox="1">
            <a:spLocks noGrp="1"/>
          </p:cNvSpPr>
          <p:nvPr>
            <p:ph type="body" idx="1"/>
          </p:nvPr>
        </p:nvSpPr>
        <p:spPr>
          <a:xfrm>
            <a:off x="914399" y="2400300"/>
            <a:ext cx="8076900" cy="67890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marL="457200" lvl="0" indent="-495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1pPr>
            <a:lvl2pPr marL="914400" lvl="1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marL="1371600" lvl="2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marL="1828800" lvl="3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marL="2286000" lvl="4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marL="2743200" lvl="5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marL="3200400" lvl="6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marL="3657600" lvl="7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marL="4114800" lvl="8" indent="-495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1" name="Google Shape;111;g2a47814ba0b_0_675"/>
          <p:cNvSpPr txBox="1">
            <a:spLocks noGrp="1"/>
          </p:cNvSpPr>
          <p:nvPr>
            <p:ph type="body" idx="2"/>
          </p:nvPr>
        </p:nvSpPr>
        <p:spPr>
          <a:xfrm>
            <a:off x="9296398" y="2400300"/>
            <a:ext cx="8076900" cy="67890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marL="457200" lvl="0" indent="-495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1pPr>
            <a:lvl2pPr marL="914400" lvl="1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marL="1371600" lvl="2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marL="1828800" lvl="3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marL="2286000" lvl="4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marL="2743200" lvl="5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marL="3200400" lvl="6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marL="3657600" lvl="7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marL="4114800" lvl="8" indent="-495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2" name="Google Shape;112;g2a47814ba0b_0_675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3" name="Google Shape;113;g2a47814ba0b_0_675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4" name="Google Shape;114;g2a47814ba0b_0_675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47814ba0b_0_682"/>
          <p:cNvSpPr txBox="1">
            <a:spLocks noGrp="1"/>
          </p:cNvSpPr>
          <p:nvPr>
            <p:ph type="title" idx="0"/>
          </p:nvPr>
        </p:nvSpPr>
        <p:spPr>
          <a:xfrm>
            <a:off x="914399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7" name="Google Shape;117;g2a47814ba0b_0_682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8" name="Google Shape;118;g2a47814ba0b_0_682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9" name="Google Shape;119;g2a47814ba0b_0_682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표" type="tbl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a47814ba0b_0_687"/>
          <p:cNvSpPr txBox="1">
            <a:spLocks noGrp="1"/>
          </p:cNvSpPr>
          <p:nvPr>
            <p:ph type="title" idx="0"/>
          </p:nvPr>
        </p:nvSpPr>
        <p:spPr>
          <a:xfrm>
            <a:off x="914399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22" name="Google Shape;122;g2a47814ba0b_0_687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23" name="Google Shape;123;g2a47814ba0b_0_687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24" name="Google Shape;124;g2a47814ba0b_0_687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내용 4개" type="fourObj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47814ba0b_0_692"/>
          <p:cNvSpPr txBox="1">
            <a:spLocks noGrp="1"/>
          </p:cNvSpPr>
          <p:nvPr>
            <p:ph type="title" idx="0"/>
          </p:nvPr>
        </p:nvSpPr>
        <p:spPr>
          <a:xfrm>
            <a:off x="914399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27" name="Google Shape;127;g2a47814ba0b_0_692"/>
          <p:cNvSpPr txBox="1">
            <a:spLocks noGrp="1"/>
          </p:cNvSpPr>
          <p:nvPr>
            <p:ph type="body" idx="1"/>
          </p:nvPr>
        </p:nvSpPr>
        <p:spPr>
          <a:xfrm>
            <a:off x="914399" y="2400300"/>
            <a:ext cx="8076900" cy="32940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marL="457200" lvl="0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28" name="Google Shape;128;g2a47814ba0b_0_692"/>
          <p:cNvSpPr txBox="1">
            <a:spLocks noGrp="1"/>
          </p:cNvSpPr>
          <p:nvPr>
            <p:ph type="body" idx="2"/>
          </p:nvPr>
        </p:nvSpPr>
        <p:spPr>
          <a:xfrm>
            <a:off x="9296398" y="2400300"/>
            <a:ext cx="8076900" cy="32940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marL="457200" lvl="0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29" name="Google Shape;129;g2a47814ba0b_0_692"/>
          <p:cNvSpPr txBox="1">
            <a:spLocks noGrp="1"/>
          </p:cNvSpPr>
          <p:nvPr>
            <p:ph type="body" idx="3"/>
          </p:nvPr>
        </p:nvSpPr>
        <p:spPr>
          <a:xfrm>
            <a:off x="912056" y="5976330"/>
            <a:ext cx="8076900" cy="32940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marL="457200" lvl="0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30" name="Google Shape;130;g2a47814ba0b_0_692"/>
          <p:cNvSpPr txBox="1">
            <a:spLocks noGrp="1"/>
          </p:cNvSpPr>
          <p:nvPr>
            <p:ph type="body" idx="4"/>
          </p:nvPr>
        </p:nvSpPr>
        <p:spPr>
          <a:xfrm>
            <a:off x="9294054" y="5976330"/>
            <a:ext cx="8076900" cy="32940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marL="457200" lvl="0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31" name="Google Shape;131;g2a47814ba0b_0_692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32" name="Google Shape;132;g2a47814ba0b_0_692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33" name="Google Shape;133;g2a47814ba0b_0_692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그림 및 설명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a47814ba0b_0_701"/>
          <p:cNvSpPr txBox="1">
            <a:spLocks noGrp="1"/>
          </p:cNvSpPr>
          <p:nvPr>
            <p:ph type="title" idx="0"/>
          </p:nvPr>
        </p:nvSpPr>
        <p:spPr>
          <a:xfrm>
            <a:off x="3584574" y="7200900"/>
            <a:ext cx="10972800" cy="8502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36" name="Google Shape;136;g2a47814ba0b_0_701"/>
          <p:cNvSpPr>
            <a:spLocks noGrp="1"/>
          </p:cNvSpPr>
          <p:nvPr>
            <p:ph type="pic" idx="2"/>
          </p:nvPr>
        </p:nvSpPr>
        <p:spPr>
          <a:xfrm>
            <a:off x="3584574" y="919163"/>
            <a:ext cx="10972800" cy="6172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7" name="Google Shape;137;g2a47814ba0b_0_701"/>
          <p:cNvSpPr txBox="1">
            <a:spLocks noGrp="1"/>
          </p:cNvSpPr>
          <p:nvPr>
            <p:ph type="body" idx="1"/>
          </p:nvPr>
        </p:nvSpPr>
        <p:spPr>
          <a:xfrm>
            <a:off x="3584574" y="8051007"/>
            <a:ext cx="10972800" cy="12072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marL="3200400" lvl="6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marL="3657600" lvl="7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marL="4114800" lvl="8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38" name="Google Shape;138;g2a47814ba0b_0_701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39" name="Google Shape;139;g2a47814ba0b_0_701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40" name="Google Shape;140;g2a47814ba0b_0_701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간지" type="objOnly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a47814ba0b_0_708"/>
          <p:cNvSpPr txBox="1">
            <a:spLocks noGrp="1"/>
          </p:cNvSpPr>
          <p:nvPr>
            <p:ph type="ctrTitle" idx="0"/>
          </p:nvPr>
        </p:nvSpPr>
        <p:spPr>
          <a:xfrm>
            <a:off x="0" y="3195638"/>
            <a:ext cx="18288000" cy="22050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sz="66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43" name="Google Shape;143;g2a47814ba0b_0_708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44" name="Google Shape;144;g2a47814ba0b_0_708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45" name="Google Shape;145;g2a47814ba0b_0_708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type="clipArtAndTx">
  <p:cSld name="CLIPART_AN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a47814ba0b_0_713"/>
          <p:cNvSpPr txBox="1">
            <a:spLocks noGrp="1"/>
          </p:cNvSpPr>
          <p:nvPr>
            <p:ph type="title" idx="0"/>
          </p:nvPr>
        </p:nvSpPr>
        <p:spPr>
          <a:xfrm>
            <a:off x="914399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48" name="Google Shape;148;g2a47814ba0b_0_713"/>
          <p:cNvSpPr txBox="1">
            <a:spLocks noGrp="1"/>
          </p:cNvSpPr>
          <p:nvPr>
            <p:ph type="body" idx="1"/>
          </p:nvPr>
        </p:nvSpPr>
        <p:spPr>
          <a:xfrm>
            <a:off x="4286216" y="3321844"/>
            <a:ext cx="9715500" cy="48222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marL="457200" lvl="0" indent="-45720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marL="914400" lvl="1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3pPr>
            <a:lvl4pPr marL="1828800" lvl="3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4pPr>
            <a:lvl5pPr marL="2286000" lvl="4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/>
            </a:lvl5pPr>
            <a:lvl6pPr marL="2743200" lvl="5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6pPr>
            <a:lvl7pPr marL="3200400" lvl="6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7pPr>
            <a:lvl8pPr marL="3657600" lvl="7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8pPr>
            <a:lvl9pPr marL="4114800" lvl="8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49" name="Google Shape;149;g2a47814ba0b_0_713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50" name="Google Shape;150;g2a47814ba0b_0_713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51" name="Google Shape;151;g2a47814ba0b_0_713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세로 제목 및 본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a47814ba0b_0_719"/>
          <p:cNvSpPr txBox="1">
            <a:spLocks noGrp="1"/>
          </p:cNvSpPr>
          <p:nvPr>
            <p:ph type="title" idx="0"/>
          </p:nvPr>
        </p:nvSpPr>
        <p:spPr>
          <a:xfrm rot="5400000">
            <a:off x="10927497" y="2743257"/>
            <a:ext cx="8777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54" name="Google Shape;154;g2a47814ba0b_0_719"/>
          <p:cNvSpPr txBox="1">
            <a:spLocks noGrp="1"/>
          </p:cNvSpPr>
          <p:nvPr>
            <p:ph type="body" idx="1"/>
          </p:nvPr>
        </p:nvSpPr>
        <p:spPr>
          <a:xfrm rot="5400000">
            <a:off x="2545497" y="-1219143"/>
            <a:ext cx="8777400" cy="120396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marL="457200" lvl="0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1pPr>
            <a:lvl2pPr marL="914400" lvl="1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2pPr>
            <a:lvl3pPr marL="1371600" lvl="2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3pPr>
            <a:lvl4pPr marL="1828800" lvl="3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/>
            </a:lvl4pPr>
            <a:lvl5pPr marL="2286000" lvl="4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/>
            </a:lvl5pPr>
            <a:lvl6pPr marL="2743200" lvl="5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6pPr>
            <a:lvl7pPr marL="3200400" lvl="6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7pPr>
            <a:lvl8pPr marL="3657600" lvl="7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8pPr>
            <a:lvl9pPr marL="4114800" lvl="8" indent="-4000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55" name="Google Shape;155;g2a47814ba0b_0_719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56" name="Google Shape;156;g2a47814ba0b_0_719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57" name="Google Shape;157;g2a47814ba0b_0_719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10" Type="http://schemas.openxmlformats.org/officeDocument/2006/relationships/slideLayout" Target="../slideLayouts/slideLayout22.xml"  /><Relationship Id="rId11" Type="http://schemas.openxmlformats.org/officeDocument/2006/relationships/slideLayout" Target="../slideLayouts/slideLayout23.xml"  /><Relationship Id="rId12" Type="http://schemas.openxmlformats.org/officeDocument/2006/relationships/slideLayout" Target="../slideLayouts/slideLayout24.xml"  /><Relationship Id="rId13" Type="http://schemas.openxmlformats.org/officeDocument/2006/relationships/theme" Target="../theme/theme2.xml"  /><Relationship Id="rId2" Type="http://schemas.openxmlformats.org/officeDocument/2006/relationships/slideLayout" Target="../slideLayouts/slideLayout14.xml"  /><Relationship Id="rId3" Type="http://schemas.openxmlformats.org/officeDocument/2006/relationships/slideLayout" Target="../slideLayouts/slideLayout15.xml"  /><Relationship Id="rId4" Type="http://schemas.openxmlformats.org/officeDocument/2006/relationships/slideLayout" Target="../slideLayouts/slideLayout16.xml"  /><Relationship Id="rId5" Type="http://schemas.openxmlformats.org/officeDocument/2006/relationships/slideLayout" Target="../slideLayouts/slideLayout17.xml"  /><Relationship Id="rId6" Type="http://schemas.openxmlformats.org/officeDocument/2006/relationships/slideLayout" Target="../slideLayouts/slideLayout18.xml"  /><Relationship Id="rId7" Type="http://schemas.openxmlformats.org/officeDocument/2006/relationships/slideLayout" Target="../slideLayouts/slideLayout19.xml"  /><Relationship Id="rId8" Type="http://schemas.openxmlformats.org/officeDocument/2006/relationships/slideLayout" Target="../slideLayouts/slideLayout20.xml"  /><Relationship Id="rId9" Type="http://schemas.openxmlformats.org/officeDocument/2006/relationships/slideLayout" Target="../slideLayouts/slideLayout21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7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47814ba0b_0_647"/>
          <p:cNvSpPr txBox="1">
            <a:spLocks noGrp="1"/>
          </p:cNvSpPr>
          <p:nvPr>
            <p:ph type="title" idx="0"/>
          </p:nvPr>
        </p:nvSpPr>
        <p:spPr>
          <a:xfrm>
            <a:off x="914399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sz="6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2"/>
                </a:solidFill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2"/>
                </a:solidFill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2"/>
                </a:solidFill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2"/>
                </a:solidFill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2"/>
                </a:solidFill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2"/>
                </a:solidFill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2"/>
                </a:solidFill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2"/>
                </a:solidFill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2" name="Google Shape;82;g2a47814ba0b_0_647"/>
          <p:cNvSpPr txBox="1">
            <a:spLocks noGrp="1"/>
          </p:cNvSpPr>
          <p:nvPr>
            <p:ph type="body" idx="1"/>
          </p:nvPr>
        </p:nvSpPr>
        <p:spPr>
          <a:xfrm>
            <a:off x="914399" y="2400300"/>
            <a:ext cx="16459200" cy="67890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rmAutofit/>
          </a:bodyPr>
          <a:lstStyle>
            <a:lvl1pPr marL="457200" marR="0" lvl="0" indent="-533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953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–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»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3" name="Google Shape;83;g2a47814ba0b_0_647"/>
          <p:cNvSpPr txBox="1">
            <a:spLocks noGrp="1"/>
          </p:cNvSpPr>
          <p:nvPr>
            <p:ph type="dt" idx="10"/>
          </p:nvPr>
        </p:nvSpPr>
        <p:spPr>
          <a:xfrm>
            <a:off x="914399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4" name="Google Shape;84;g2a47814ba0b_0_647"/>
          <p:cNvSpPr txBox="1">
            <a:spLocks noGrp="1"/>
          </p:cNvSpPr>
          <p:nvPr>
            <p:ph type="ftr" idx="11"/>
          </p:nvPr>
        </p:nvSpPr>
        <p:spPr>
          <a:xfrm>
            <a:off x="6248399" y="9534525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5" name="Google Shape;85;g2a47814ba0b_0_647"/>
          <p:cNvSpPr txBox="1">
            <a:spLocks noGrp="1"/>
          </p:cNvSpPr>
          <p:nvPr>
            <p:ph type="sldNum" idx="12"/>
          </p:nvPr>
        </p:nvSpPr>
        <p:spPr>
          <a:xfrm>
            <a:off x="13106398" y="9534525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JP Variable"/>
          <a:ea typeface="Pretendard JP Variable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4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10" Type="http://schemas.openxmlformats.org/officeDocument/2006/relationships/image" Target="../media/image7.png"  /><Relationship Id="rId11" Type="http://schemas.openxmlformats.org/officeDocument/2006/relationships/image" Target="../media/image6.png"  /><Relationship Id="rId12" Type="http://schemas.openxmlformats.org/officeDocument/2006/relationships/image" Target="../media/image7.png"  /><Relationship Id="rId13" Type="http://schemas.openxmlformats.org/officeDocument/2006/relationships/image" Target="../media/image6.png"  /><Relationship Id="rId14" Type="http://schemas.openxmlformats.org/officeDocument/2006/relationships/image" Target="../media/image7.png"  /><Relationship Id="rId15" Type="http://schemas.openxmlformats.org/officeDocument/2006/relationships/image" Target="../media/image6.png"  /><Relationship Id="rId16" Type="http://schemas.openxmlformats.org/officeDocument/2006/relationships/image" Target="../media/image7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Relationship Id="rId6" Type="http://schemas.openxmlformats.org/officeDocument/2006/relationships/image" Target="../media/image7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6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9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10.png"  /><Relationship Id="rId7" Type="http://schemas.openxmlformats.org/officeDocument/2006/relationships/image" Target="../media/image11.png"  /><Relationship Id="rId8" Type="http://schemas.openxmlformats.org/officeDocument/2006/relationships/image" Target="../media/image12.png"  /><Relationship Id="rId9" Type="http://schemas.openxmlformats.org/officeDocument/2006/relationships/image" Target="../media/image1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10" Type="http://schemas.openxmlformats.org/officeDocument/2006/relationships/image" Target="../media/image15.png"  /><Relationship Id="rId11" Type="http://schemas.openxmlformats.org/officeDocument/2006/relationships/image" Target="../media/image15.png"  /><Relationship Id="rId12" Type="http://schemas.openxmlformats.org/officeDocument/2006/relationships/image" Target="../media/image15.png"  /><Relationship Id="rId13" Type="http://schemas.openxmlformats.org/officeDocument/2006/relationships/image" Target="../media/image15.png"  /><Relationship Id="rId14" Type="http://schemas.openxmlformats.org/officeDocument/2006/relationships/image" Target="../media/image15.png"  /><Relationship Id="rId15" Type="http://schemas.openxmlformats.org/officeDocument/2006/relationships/image" Target="../media/image16.png"  /><Relationship Id="rId16" Type="http://schemas.openxmlformats.org/officeDocument/2006/relationships/image" Target="../media/image10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14.png"  /><Relationship Id="rId7" Type="http://schemas.openxmlformats.org/officeDocument/2006/relationships/image" Target="../media/image14.png"  /><Relationship Id="rId8" Type="http://schemas.openxmlformats.org/officeDocument/2006/relationships/image" Target="../media/image14.png"  /><Relationship Id="rId9" Type="http://schemas.openxmlformats.org/officeDocument/2006/relationships/image" Target="../media/image1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1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10" Type="http://schemas.openxmlformats.org/officeDocument/2006/relationships/image" Target="../media/image22.png"  /><Relationship Id="rId11" Type="http://schemas.openxmlformats.org/officeDocument/2006/relationships/image" Target="../media/image23.png"  /><Relationship Id="rId12" Type="http://schemas.openxmlformats.org/officeDocument/2006/relationships/image" Target="../media/image24.png"  /><Relationship Id="rId13" Type="http://schemas.openxmlformats.org/officeDocument/2006/relationships/image" Target="../media/image19.png"  /><Relationship Id="rId14" Type="http://schemas.openxmlformats.org/officeDocument/2006/relationships/image" Target="../media/image19.png"  /><Relationship Id="rId15" Type="http://schemas.openxmlformats.org/officeDocument/2006/relationships/image" Target="../media/image20.png"  /><Relationship Id="rId16" Type="http://schemas.openxmlformats.org/officeDocument/2006/relationships/image" Target="../media/image20.png"  /><Relationship Id="rId17" Type="http://schemas.openxmlformats.org/officeDocument/2006/relationships/image" Target="../media/image22.png"  /><Relationship Id="rId18" Type="http://schemas.openxmlformats.org/officeDocument/2006/relationships/image" Target="../media/image22.png"  /><Relationship Id="rId19" Type="http://schemas.openxmlformats.org/officeDocument/2006/relationships/image" Target="../media/image22.png"  /><Relationship Id="rId2" Type="http://schemas.openxmlformats.org/officeDocument/2006/relationships/slideLayout" Target="../slideLayouts/slideLayout1.xml"  /><Relationship Id="rId20" Type="http://schemas.openxmlformats.org/officeDocument/2006/relationships/image" Target="../media/image21.png"  /><Relationship Id="rId21" Type="http://schemas.openxmlformats.org/officeDocument/2006/relationships/image" Target="../media/image25.png"  /><Relationship Id="rId22" Type="http://schemas.openxmlformats.org/officeDocument/2006/relationships/image" Target="../media/image26.png"  /><Relationship Id="rId23" Type="http://schemas.openxmlformats.org/officeDocument/2006/relationships/image" Target="../media/image21.png"  /><Relationship Id="rId24" Type="http://schemas.openxmlformats.org/officeDocument/2006/relationships/image" Target="../media/image21.png"  /><Relationship Id="rId25" Type="http://schemas.openxmlformats.org/officeDocument/2006/relationships/image" Target="../media/image27.png"  /><Relationship Id="rId26" Type="http://schemas.openxmlformats.org/officeDocument/2006/relationships/image" Target="../media/image27.png"  /><Relationship Id="rId27" Type="http://schemas.openxmlformats.org/officeDocument/2006/relationships/image" Target="../media/image23.png"  /><Relationship Id="rId28" Type="http://schemas.openxmlformats.org/officeDocument/2006/relationships/image" Target="../media/image28.png"  /><Relationship Id="rId29" Type="http://schemas.openxmlformats.org/officeDocument/2006/relationships/image" Target="../media/image19.png"  /><Relationship Id="rId3" Type="http://schemas.openxmlformats.org/officeDocument/2006/relationships/image" Target="../media/image8.png"  /><Relationship Id="rId30" Type="http://schemas.openxmlformats.org/officeDocument/2006/relationships/image" Target="../media/image20.png"  /><Relationship Id="rId4" Type="http://schemas.openxmlformats.org/officeDocument/2006/relationships/image" Target="../media/image1.png"  /><Relationship Id="rId5" Type="http://schemas.openxmlformats.org/officeDocument/2006/relationships/image" Target="../media/image6.png"  /><Relationship Id="rId6" Type="http://schemas.openxmlformats.org/officeDocument/2006/relationships/image" Target="../media/image18.png"  /><Relationship Id="rId7" Type="http://schemas.openxmlformats.org/officeDocument/2006/relationships/image" Target="../media/image19.png"  /><Relationship Id="rId8" Type="http://schemas.openxmlformats.org/officeDocument/2006/relationships/image" Target="../media/image20.png"  /><Relationship Id="rId9" Type="http://schemas.openxmlformats.org/officeDocument/2006/relationships/image" Target="../media/image2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10" Type="http://schemas.openxmlformats.org/officeDocument/2006/relationships/image" Target="../media/image33.png"  /><Relationship Id="rId11" Type="http://schemas.openxmlformats.org/officeDocument/2006/relationships/image" Target="../media/image34.png"  /><Relationship Id="rId12" Type="http://schemas.openxmlformats.org/officeDocument/2006/relationships/image" Target="../media/image32.png"  /><Relationship Id="rId13" Type="http://schemas.openxmlformats.org/officeDocument/2006/relationships/image" Target="../media/image22.png"  /><Relationship Id="rId14" Type="http://schemas.openxmlformats.org/officeDocument/2006/relationships/image" Target="../media/image23.png"  /><Relationship Id="rId15" Type="http://schemas.openxmlformats.org/officeDocument/2006/relationships/image" Target="../media/image35.png"  /><Relationship Id="rId16" Type="http://schemas.openxmlformats.org/officeDocument/2006/relationships/image" Target="../media/image36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29.png"  /><Relationship Id="rId6" Type="http://schemas.openxmlformats.org/officeDocument/2006/relationships/image" Target="../media/image8.png"  /><Relationship Id="rId7" Type="http://schemas.openxmlformats.org/officeDocument/2006/relationships/image" Target="../media/image30.png"  /><Relationship Id="rId8" Type="http://schemas.openxmlformats.org/officeDocument/2006/relationships/image" Target="../media/image31.png"  /><Relationship Id="rId9" Type="http://schemas.openxmlformats.org/officeDocument/2006/relationships/image" Target="../media/image3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37.png"  /><Relationship Id="rId7" Type="http://schemas.openxmlformats.org/officeDocument/2006/relationships/image" Target="../media/image37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10" Type="http://schemas.openxmlformats.org/officeDocument/2006/relationships/image" Target="../media/image33.png"  /><Relationship Id="rId11" Type="http://schemas.openxmlformats.org/officeDocument/2006/relationships/image" Target="../media/image34.png"  /><Relationship Id="rId12" Type="http://schemas.openxmlformats.org/officeDocument/2006/relationships/image" Target="../media/image32.png"  /><Relationship Id="rId13" Type="http://schemas.openxmlformats.org/officeDocument/2006/relationships/image" Target="../media/image19.png"  /><Relationship Id="rId14" Type="http://schemas.openxmlformats.org/officeDocument/2006/relationships/image" Target="../media/image20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29.png"  /><Relationship Id="rId6" Type="http://schemas.openxmlformats.org/officeDocument/2006/relationships/image" Target="../media/image8.png"  /><Relationship Id="rId7" Type="http://schemas.openxmlformats.org/officeDocument/2006/relationships/image" Target="../media/image30.png"  /><Relationship Id="rId8" Type="http://schemas.openxmlformats.org/officeDocument/2006/relationships/image" Target="../media/image31.png"  /><Relationship Id="rId9" Type="http://schemas.openxmlformats.org/officeDocument/2006/relationships/image" Target="../media/image32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38.png"  /><Relationship Id="rId7" Type="http://schemas.openxmlformats.org/officeDocument/2006/relationships/image" Target="../media/image19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19.png"  /><Relationship Id="rId7" Type="http://schemas.openxmlformats.org/officeDocument/2006/relationships/image" Target="../media/image20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10" Type="http://schemas.openxmlformats.org/officeDocument/2006/relationships/image" Target="../media/image43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39.png"  /><Relationship Id="rId7" Type="http://schemas.openxmlformats.org/officeDocument/2006/relationships/image" Target="../media/image40.png"  /><Relationship Id="rId8" Type="http://schemas.openxmlformats.org/officeDocument/2006/relationships/image" Target="../media/image41.png"  /><Relationship Id="rId9" Type="http://schemas.openxmlformats.org/officeDocument/2006/relationships/image" Target="../media/image42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10.png"  /><Relationship Id="rId7" Type="http://schemas.openxmlformats.org/officeDocument/2006/relationships/image" Target="../media/image11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10.png"  /><Relationship Id="rId7" Type="http://schemas.openxmlformats.org/officeDocument/2006/relationships/image" Target="../media/image11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10" Type="http://schemas.openxmlformats.org/officeDocument/2006/relationships/image" Target="../media/image44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39.png"  /><Relationship Id="rId7" Type="http://schemas.openxmlformats.org/officeDocument/2006/relationships/image" Target="../media/image40.png"  /><Relationship Id="rId8" Type="http://schemas.openxmlformats.org/officeDocument/2006/relationships/image" Target="../media/image41.png"  /><Relationship Id="rId9" Type="http://schemas.openxmlformats.org/officeDocument/2006/relationships/image" Target="../media/image42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47.png"  /><Relationship Id="rId7" Type="http://schemas.openxmlformats.org/officeDocument/2006/relationships/image" Target="../media/image47.png"  /><Relationship Id="rId8" Type="http://schemas.openxmlformats.org/officeDocument/2006/relationships/image" Target="../media/image47.png"  /><Relationship Id="rId9" Type="http://schemas.openxmlformats.org/officeDocument/2006/relationships/image" Target="../media/image47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Relationship Id="rId8" Type="http://schemas.openxmlformats.org/officeDocument/2006/relationships/image" Target="../media/image48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10" Type="http://schemas.openxmlformats.org/officeDocument/2006/relationships/image" Target="../media/image51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Relationship Id="rId8" Type="http://schemas.openxmlformats.org/officeDocument/2006/relationships/image" Target="../media/image49.png"  /><Relationship Id="rId9" Type="http://schemas.openxmlformats.org/officeDocument/2006/relationships/image" Target="../media/image50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Relationship Id="rId8" Type="http://schemas.openxmlformats.org/officeDocument/2006/relationships/image" Target="../media/image52.png"  /><Relationship Id="rId9" Type="http://schemas.openxmlformats.org/officeDocument/2006/relationships/image" Target="../media/image53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Relationship Id="rId8" Type="http://schemas.openxmlformats.org/officeDocument/2006/relationships/image" Target="../media/image54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8.png"  /><Relationship Id="rId6" Type="http://schemas.openxmlformats.org/officeDocument/2006/relationships/image" Target="../media/image45.png"  /><Relationship Id="rId7" Type="http://schemas.openxmlformats.org/officeDocument/2006/relationships/image" Target="../media/image55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6.png"  /><Relationship Id="rId4" Type="http://schemas.openxmlformats.org/officeDocument/2006/relationships/image" Target="../media/image57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8.png"  /><Relationship Id="rId4" Type="http://schemas.openxmlformats.org/officeDocument/2006/relationships/image" Target="../media/image59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8.png"  /><Relationship Id="rId4" Type="http://schemas.openxmlformats.org/officeDocument/2006/relationships/image" Target="../media/image59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8.png"  /><Relationship Id="rId4" Type="http://schemas.openxmlformats.org/officeDocument/2006/relationships/image" Target="../media/image59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0.png"  /><Relationship Id="rId3" Type="http://schemas.openxmlformats.org/officeDocument/2006/relationships/image" Target="../media/image6.png"  /><Relationship Id="rId4" Type="http://schemas.openxmlformats.org/officeDocument/2006/relationships/image" Target="../media/image8.png"  /><Relationship Id="rId5" Type="http://schemas.openxmlformats.org/officeDocument/2006/relationships/image" Target="../media/image53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1.png"  /><Relationship Id="rId3" Type="http://schemas.openxmlformats.org/officeDocument/2006/relationships/image" Target="../media/image6.png"  /><Relationship Id="rId4" Type="http://schemas.openxmlformats.org/officeDocument/2006/relationships/image" Target="../media/image8.png"  /><Relationship Id="rId5" Type="http://schemas.openxmlformats.org/officeDocument/2006/relationships/image" Target="../media/image62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3.png"  /><Relationship Id="rId3" Type="http://schemas.openxmlformats.org/officeDocument/2006/relationships/image" Target="../media/image6.png"  /><Relationship Id="rId4" Type="http://schemas.openxmlformats.org/officeDocument/2006/relationships/image" Target="../media/image8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4.png"  /><Relationship Id="rId3" Type="http://schemas.openxmlformats.org/officeDocument/2006/relationships/image" Target="../media/image6.png"  /><Relationship Id="rId4" Type="http://schemas.openxmlformats.org/officeDocument/2006/relationships/image" Target="../media/image8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7.xml"  /><Relationship Id="rId10" Type="http://schemas.openxmlformats.org/officeDocument/2006/relationships/image" Target="../media/image67.png"  /><Relationship Id="rId11" Type="http://schemas.openxmlformats.org/officeDocument/2006/relationships/image" Target="../media/image65.png"  /><Relationship Id="rId12" Type="http://schemas.openxmlformats.org/officeDocument/2006/relationships/image" Target="../media/image66.png"  /><Relationship Id="rId13" Type="http://schemas.openxmlformats.org/officeDocument/2006/relationships/image" Target="../media/image67.png"  /><Relationship Id="rId14" Type="http://schemas.openxmlformats.org/officeDocument/2006/relationships/image" Target="../media/image68.png"  /><Relationship Id="rId15" Type="http://schemas.openxmlformats.org/officeDocument/2006/relationships/image" Target="../media/image68.png"  /><Relationship Id="rId16" Type="http://schemas.openxmlformats.org/officeDocument/2006/relationships/image" Target="../media/image68.png"  /><Relationship Id="rId17" Type="http://schemas.openxmlformats.org/officeDocument/2006/relationships/image" Target="../media/image69.png"  /><Relationship Id="rId18" Type="http://schemas.openxmlformats.org/officeDocument/2006/relationships/image" Target="../media/image70.png"  /><Relationship Id="rId19" Type="http://schemas.openxmlformats.org/officeDocument/2006/relationships/image" Target="../media/image70.png"  /><Relationship Id="rId2" Type="http://schemas.openxmlformats.org/officeDocument/2006/relationships/slideLayout" Target="../slideLayouts/slideLayout1.xml"  /><Relationship Id="rId20" Type="http://schemas.openxmlformats.org/officeDocument/2006/relationships/image" Target="../media/image70.png"  /><Relationship Id="rId3" Type="http://schemas.openxmlformats.org/officeDocument/2006/relationships/image" Target="../media/image6.png"  /><Relationship Id="rId4" Type="http://schemas.openxmlformats.org/officeDocument/2006/relationships/image" Target="../media/image8.png"  /><Relationship Id="rId5" Type="http://schemas.openxmlformats.org/officeDocument/2006/relationships/image" Target="../media/image65.png"  /><Relationship Id="rId6" Type="http://schemas.openxmlformats.org/officeDocument/2006/relationships/image" Target="../media/image66.png"  /><Relationship Id="rId7" Type="http://schemas.openxmlformats.org/officeDocument/2006/relationships/image" Target="../media/image67.png"  /><Relationship Id="rId8" Type="http://schemas.openxmlformats.org/officeDocument/2006/relationships/image" Target="../media/image65.png"  /><Relationship Id="rId9" Type="http://schemas.openxmlformats.org/officeDocument/2006/relationships/image" Target="../media/image66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Relationship Id="rId4" Type="http://schemas.openxmlformats.org/officeDocument/2006/relationships/image" Target="../media/image8.png"  /><Relationship Id="rId5" Type="http://schemas.openxmlformats.org/officeDocument/2006/relationships/image" Target="../media/image71.png"  /><Relationship Id="rId6" Type="http://schemas.openxmlformats.org/officeDocument/2006/relationships/hyperlink" Target="https://github.com/fairyofdata?tab=repositories" TargetMode="External"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Relationship Id="rId4" Type="http://schemas.openxmlformats.org/officeDocument/2006/relationships/image" Target="../media/image8.png"  /><Relationship Id="rId5" Type="http://schemas.openxmlformats.org/officeDocument/2006/relationships/image" Target="../media/image72.png"  /><Relationship Id="rId6" Type="http://schemas.openxmlformats.org/officeDocument/2006/relationships/image" Target="../media/image73.jpeg"  /><Relationship Id="rId7" Type="http://schemas.openxmlformats.org/officeDocument/2006/relationships/image" Target="../media/image74.jpe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1.xml"  /><Relationship Id="rId10" Type="http://schemas.openxmlformats.org/officeDocument/2006/relationships/image" Target="../media/image75.png"  /><Relationship Id="rId11" Type="http://schemas.openxmlformats.org/officeDocument/2006/relationships/image" Target="../media/image75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Relationship Id="rId4" Type="http://schemas.openxmlformats.org/officeDocument/2006/relationships/image" Target="../media/image8.png"  /><Relationship Id="rId5" Type="http://schemas.openxmlformats.org/officeDocument/2006/relationships/image" Target="../media/image46.png"  /><Relationship Id="rId6" Type="http://schemas.openxmlformats.org/officeDocument/2006/relationships/image" Target="../media/image75.png"  /><Relationship Id="rId7" Type="http://schemas.openxmlformats.org/officeDocument/2006/relationships/image" Target="../media/image75.png"  /><Relationship Id="rId8" Type="http://schemas.openxmlformats.org/officeDocument/2006/relationships/image" Target="../media/image75.png"  /><Relationship Id="rId9" Type="http://schemas.openxmlformats.org/officeDocument/2006/relationships/image" Target="../media/image75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2.xml"  /><Relationship Id="rId2" Type="http://schemas.openxmlformats.org/officeDocument/2006/relationships/slideLayout" Target="../slideLayouts/slideLayout15.xml"  /><Relationship Id="rId3" Type="http://schemas.openxmlformats.org/officeDocument/2006/relationships/image" Target="../media/image76.png"  /><Relationship Id="rId4" Type="http://schemas.openxmlformats.org/officeDocument/2006/relationships/image" Target="../media/image77.png"  /><Relationship Id="rId5" Type="http://schemas.openxmlformats.org/officeDocument/2006/relationships/image" Target="../media/image78.png"  /><Relationship Id="rId6" Type="http://schemas.openxmlformats.org/officeDocument/2006/relationships/image" Target="../media/image78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2a47814ba0b_0_1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2a47814ba0b_0_1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595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2a47814ba0b_0_16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5125700" y="482600"/>
            <a:ext cx="26797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2a47814ba0b_0_16"/>
          <p:cNvSpPr txBox="1"/>
          <p:nvPr/>
        </p:nvSpPr>
        <p:spPr>
          <a:xfrm>
            <a:off x="3733800" y="2463800"/>
            <a:ext cx="10885800" cy="265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6200">
                <a:solidFill>
                  <a:schemeClr val="lt1"/>
                </a:solidFill>
                <a:latin typeface="Pretendard JP Variable"/>
                <a:ea typeface="Pretendard JP Variable"/>
                <a:cs typeface="Montserrat"/>
                <a:sym typeface="Montserrat"/>
              </a:rPr>
              <a:t>LLM 기반 ESG 중심 개인 투자 </a:t>
            </a:r>
            <a:endParaRPr lang="en-US" sz="6200">
              <a:solidFill>
                <a:schemeClr val="lt1"/>
              </a:solidFill>
              <a:latin typeface="Pretendard JP Variable"/>
              <a:ea typeface="Pretendard JP Variable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6200">
                <a:solidFill>
                  <a:schemeClr val="lt1"/>
                </a:solidFill>
                <a:latin typeface="Pretendard JP Variable"/>
                <a:ea typeface="Pretendard JP Variable"/>
                <a:cs typeface="Montserrat"/>
                <a:sym typeface="Montserrat"/>
              </a:rPr>
              <a:t>포트폴리오 최적화 </a:t>
            </a:r>
            <a:r>
              <a:rPr lang="ko-KR" altLang="en-US" sz="6200">
                <a:solidFill>
                  <a:schemeClr val="lt1"/>
                </a:solidFill>
                <a:latin typeface="Pretendard JP Variable"/>
                <a:ea typeface="Pretendard JP Variable"/>
                <a:cs typeface="Montserrat"/>
                <a:sym typeface="Montserrat"/>
              </a:rPr>
              <a:t>플랫폼</a:t>
            </a:r>
            <a:endParaRPr lang="ko-KR" altLang="en-US" sz="6200">
              <a:solidFill>
                <a:schemeClr val="lt1"/>
              </a:solidFill>
              <a:latin typeface="Pretendard JP Variable"/>
              <a:ea typeface="Pretendard JP Variable"/>
              <a:cs typeface="Montserrat"/>
              <a:sym typeface="Montserrat"/>
            </a:endParaRPr>
          </a:p>
        </p:txBody>
      </p:sp>
      <p:sp>
        <p:nvSpPr>
          <p:cNvPr id="166" name="Google Shape;166;g2a47814ba0b_0_16"/>
          <p:cNvSpPr txBox="1"/>
          <p:nvPr/>
        </p:nvSpPr>
        <p:spPr>
          <a:xfrm>
            <a:off x="15227300" y="635000"/>
            <a:ext cx="2463900" cy="31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solidFill>
                  <a:srgbClr val="ffffff"/>
                </a:solidFill>
                <a:latin typeface="Pretendard JP Variable"/>
                <a:ea typeface="Pretendard JP Variable"/>
              </a:rPr>
              <a:t>2024.12.09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173" name="Google Shape;173;g2a47814ba0b_0_16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5232400" y="2209800"/>
            <a:ext cx="78232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2a47814ba0b_0_16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5232400" y="5181600"/>
            <a:ext cx="78232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6;g2a47814ba0b_0_16"/>
          <p:cNvSpPr txBox="1"/>
          <p:nvPr/>
        </p:nvSpPr>
        <p:spPr>
          <a:xfrm>
            <a:off x="5135926" y="7434914"/>
            <a:ext cx="8016149" cy="17938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1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 Black"/>
                <a:ea typeface="Pretendard JP Variable Black"/>
                <a:cs typeface="Calibri"/>
                <a:sym typeface="Calibri"/>
              </a:rPr>
              <a:t>Team KWargs </a:t>
            </a:r>
            <a:r>
              <a:rPr xmlns:mc="http://schemas.openxmlformats.org/markup-compatibility/2006" xmlns:hp="http://schemas.haansoft.com/office/presentation/8.0" kumimoji="0" lang="en-US" altLang="ko-KR" sz="4000" b="0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| </a:t>
            </a:r>
            <a:r>
              <a:rPr xmlns:mc="http://schemas.openxmlformats.org/markup-compatibility/2006" xmlns:hp="http://schemas.haansoft.com/office/presentation/8.0" kumimoji="0" lang="en-US" sz="4000" b="0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백지헌</a:t>
            </a:r>
            <a:r>
              <a:rPr xmlns:mc="http://schemas.openxmlformats.org/markup-compatibility/2006" xmlns:hp="http://schemas.haansoft.com/office/presentation/8.0" kumimoji="0" lang="en-US" altLang="ko-KR" sz="4000" b="0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</a:t>
            </a:r>
            <a:r>
              <a:rPr xmlns:mc="http://schemas.openxmlformats.org/markup-compatibility/2006" xmlns:hp="http://schemas.haansoft.com/office/presentation/8.0" kumimoji="0" lang="en-US" sz="4000" b="0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김나연 장한재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0" cap="none" spc="0" normalizeH="0" baseline="0" mc:Ignorable="hp" hp:hslEmbossed="0">
              <a:solidFill>
                <a:srgbClr val="3f537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광운대학교 정보융합학부 데이터사이언스전공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0" cap="none" spc="0" normalizeH="0" baseline="0" mc:Ignorable="hp" hp:hslEmbossed="0">
              <a:solidFill>
                <a:srgbClr val="3f537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2a47814ba0b_0_35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2a47814ba0b_0_35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2a47814ba0b_0_35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2247900" y="23622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2a47814ba0b_0_35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3200400" y="3302000"/>
            <a:ext cx="468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2a47814ba0b_0_35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2247900" y="48387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2a47814ba0b_0_35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3200400" y="5778500"/>
            <a:ext cx="468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2a47814ba0b_0_35"/>
          <p:cNvPicPr/>
          <p:nvPr/>
        </p:nvPicPr>
        <p:blipFill rotWithShape="1">
          <a:blip r:embed="rId9">
            <a:alphaModFix/>
          </a:blip>
          <a:srcRect/>
          <a:stretch>
            <a:fillRect/>
          </a:stretch>
        </p:blipFill>
        <p:spPr>
          <a:xfrm>
            <a:off x="2247900" y="73406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2a47814ba0b_0_35"/>
          <p:cNvPicPr/>
          <p:nvPr/>
        </p:nvPicPr>
        <p:blipFill rotWithShape="1">
          <a:blip r:embed="rId10">
            <a:alphaModFix/>
          </a:blip>
          <a:srcRect/>
          <a:stretch>
            <a:fillRect/>
          </a:stretch>
        </p:blipFill>
        <p:spPr>
          <a:xfrm>
            <a:off x="3200400" y="8280400"/>
            <a:ext cx="46863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2a47814ba0b_0_35"/>
          <p:cNvSpPr txBox="1"/>
          <p:nvPr/>
        </p:nvSpPr>
        <p:spPr>
          <a:xfrm>
            <a:off x="2209800" y="24765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01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191" name="Google Shape;191;g2a47814ba0b_0_35"/>
          <p:cNvSpPr txBox="1"/>
          <p:nvPr/>
        </p:nvSpPr>
        <p:spPr>
          <a:xfrm>
            <a:off x="3441700" y="2476500"/>
            <a:ext cx="40260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프로젝트 소개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192" name="Google Shape;192;g2a47814ba0b_0_35"/>
          <p:cNvSpPr txBox="1"/>
          <p:nvPr/>
        </p:nvSpPr>
        <p:spPr>
          <a:xfrm>
            <a:off x="3441700" y="3505200"/>
            <a:ext cx="4483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latin typeface="Pretendard JP Variable"/>
                <a:ea typeface="Pretendard JP Variable"/>
                <a:cs typeface="Calibri"/>
                <a:sym typeface="Calibri"/>
              </a:rPr>
              <a:t>배경, 목적</a:t>
            </a:r>
            <a:endParaRPr lang="en-US" sz="18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latin typeface="Pretendard JP Variable"/>
                <a:ea typeface="Pretendard JP Variable"/>
                <a:cs typeface="Calibri"/>
                <a:sym typeface="Calibri"/>
              </a:rPr>
              <a:t>전체 프로세스 소개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193" name="Google Shape;193;g2a47814ba0b_0_35"/>
          <p:cNvSpPr txBox="1"/>
          <p:nvPr/>
        </p:nvSpPr>
        <p:spPr>
          <a:xfrm>
            <a:off x="2209800" y="49657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02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194" name="Google Shape;194;g2a47814ba0b_0_35"/>
          <p:cNvSpPr txBox="1"/>
          <p:nvPr/>
        </p:nvSpPr>
        <p:spPr>
          <a:xfrm>
            <a:off x="3441700" y="4978400"/>
            <a:ext cx="40260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데이터 수집</a:t>
            </a: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 및 전처리</a:t>
            </a:r>
            <a:endParaRPr lang="ko-KR" altLang="en-US"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195" name="Google Shape;195;g2a47814ba0b_0_35"/>
          <p:cNvSpPr txBox="1"/>
          <p:nvPr/>
        </p:nvSpPr>
        <p:spPr>
          <a:xfrm>
            <a:off x="3441700" y="6007100"/>
            <a:ext cx="4483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1800">
                <a:latin typeface="Pretendard JP Variable"/>
                <a:ea typeface="Pretendard JP Variable"/>
                <a:cs typeface="Calibri"/>
                <a:sym typeface="Calibri"/>
              </a:rPr>
              <a:t>텍스트 </a:t>
            </a:r>
            <a:r>
              <a:rPr lang="en-US" sz="1800">
                <a:latin typeface="Pretendard JP Variable"/>
                <a:ea typeface="Pretendard JP Variable"/>
                <a:cs typeface="Calibri"/>
                <a:sym typeface="Calibri"/>
              </a:rPr>
              <a:t>데이터 수집 파이프라인</a:t>
            </a:r>
            <a:endParaRPr lang="en-US" sz="18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1800">
                <a:latin typeface="Pretendard JP Variable"/>
                <a:ea typeface="Pretendard JP Variable"/>
                <a:cs typeface="Calibri"/>
                <a:sym typeface="Calibri"/>
              </a:rPr>
              <a:t>수집된 데이터 전처리 프로세스</a:t>
            </a:r>
            <a:endParaRPr lang="ko-KR" altLang="en-US" sz="18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196" name="Google Shape;196;g2a47814ba0b_0_35"/>
          <p:cNvSpPr txBox="1"/>
          <p:nvPr/>
        </p:nvSpPr>
        <p:spPr>
          <a:xfrm>
            <a:off x="2197100" y="74676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03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197" name="Google Shape;197;g2a47814ba0b_0_35"/>
          <p:cNvSpPr txBox="1"/>
          <p:nvPr/>
        </p:nvSpPr>
        <p:spPr>
          <a:xfrm>
            <a:off x="3441700" y="7467600"/>
            <a:ext cx="40260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NLP 모델 파인튜닝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198" name="Google Shape;198;g2a47814ba0b_0_35"/>
          <p:cNvSpPr txBox="1"/>
          <p:nvPr/>
        </p:nvSpPr>
        <p:spPr>
          <a:xfrm>
            <a:off x="3441700" y="8496300"/>
            <a:ext cx="4483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latin typeface="Pretendard JP Variable"/>
                <a:ea typeface="Pretendard JP Variable"/>
                <a:cs typeface="Calibri"/>
                <a:sym typeface="Calibri"/>
              </a:rPr>
              <a:t>LLM 프롬프트 엔지니어링</a:t>
            </a:r>
            <a:endParaRPr lang="en-US" sz="18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latin typeface="Pretendard JP Variable"/>
                <a:ea typeface="Pretendard JP Variable"/>
                <a:cs typeface="Calibri"/>
                <a:sym typeface="Calibri"/>
              </a:rPr>
              <a:t>일반화된 모델 파인튜닝</a:t>
            </a:r>
            <a:endParaRPr sz="18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199" name="Google Shape;199;g2a47814ba0b_0_35"/>
          <p:cNvPicPr/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10401300" y="23622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2a47814ba0b_0_35"/>
          <p:cNvPicPr/>
          <p:nvPr/>
        </p:nvPicPr>
        <p:blipFill rotWithShape="1">
          <a:blip r:embed="rId12">
            <a:alphaModFix/>
          </a:blip>
          <a:srcRect/>
          <a:stretch>
            <a:fillRect/>
          </a:stretch>
        </p:blipFill>
        <p:spPr>
          <a:xfrm>
            <a:off x="11353800" y="3302000"/>
            <a:ext cx="468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2a47814ba0b_0_35"/>
          <p:cNvPicPr/>
          <p:nvPr/>
        </p:nvPicPr>
        <p:blipFill rotWithShape="1">
          <a:blip r:embed="rId13">
            <a:alphaModFix/>
          </a:blip>
          <a:srcRect/>
          <a:stretch>
            <a:fillRect/>
          </a:stretch>
        </p:blipFill>
        <p:spPr>
          <a:xfrm>
            <a:off x="10401300" y="48387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2a47814ba0b_0_35"/>
          <p:cNvPicPr/>
          <p:nvPr/>
        </p:nvPicPr>
        <p:blipFill rotWithShape="1">
          <a:blip r:embed="rId14">
            <a:alphaModFix/>
          </a:blip>
          <a:srcRect/>
          <a:stretch>
            <a:fillRect/>
          </a:stretch>
        </p:blipFill>
        <p:spPr>
          <a:xfrm>
            <a:off x="11353800" y="5778500"/>
            <a:ext cx="4686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2a47814ba0b_0_35"/>
          <p:cNvPicPr/>
          <p:nvPr/>
        </p:nvPicPr>
        <p:blipFill rotWithShape="1">
          <a:blip r:embed="rId15">
            <a:alphaModFix/>
          </a:blip>
          <a:srcRect/>
          <a:stretch>
            <a:fillRect/>
          </a:stretch>
        </p:blipFill>
        <p:spPr>
          <a:xfrm>
            <a:off x="10401300" y="73406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2a47814ba0b_0_35"/>
          <p:cNvPicPr/>
          <p:nvPr/>
        </p:nvPicPr>
        <p:blipFill rotWithShape="1">
          <a:blip r:embed="rId16">
            <a:alphaModFix/>
          </a:blip>
          <a:srcRect/>
          <a:stretch>
            <a:fillRect/>
          </a:stretch>
        </p:blipFill>
        <p:spPr>
          <a:xfrm>
            <a:off x="11353800" y="8280400"/>
            <a:ext cx="46863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2a47814ba0b_0_35"/>
          <p:cNvSpPr txBox="1"/>
          <p:nvPr/>
        </p:nvSpPr>
        <p:spPr>
          <a:xfrm>
            <a:off x="10363200" y="24765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06" name="Google Shape;206;g2a47814ba0b_0_35"/>
          <p:cNvSpPr txBox="1"/>
          <p:nvPr/>
        </p:nvSpPr>
        <p:spPr>
          <a:xfrm>
            <a:off x="11582400" y="2476500"/>
            <a:ext cx="4064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및 UI/UX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07" name="Google Shape;207;g2a47814ba0b_0_35"/>
          <p:cNvSpPr txBox="1"/>
          <p:nvPr/>
        </p:nvSpPr>
        <p:spPr>
          <a:xfrm>
            <a:off x="11582400" y="3505200"/>
            <a:ext cx="4407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latin typeface="Pretendard JP Variable"/>
                <a:ea typeface="Pretendard JP Variable"/>
                <a:cs typeface="Calibri"/>
                <a:sym typeface="Calibri"/>
              </a:rPr>
              <a:t>포트폴리오 최적화를 위한 ESG 가치관 설문</a:t>
            </a:r>
            <a:endParaRPr lang="en-US" sz="18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latin typeface="Pretendard JP Variable"/>
                <a:ea typeface="Pretendard JP Variable"/>
                <a:cs typeface="Calibri"/>
                <a:sym typeface="Calibri"/>
              </a:rPr>
              <a:t>설문 결과로 포트폴리오를 제공하는 UI/UX</a:t>
            </a:r>
            <a:endParaRPr sz="18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08" name="Google Shape;208;g2a47814ba0b_0_35"/>
          <p:cNvSpPr txBox="1"/>
          <p:nvPr/>
        </p:nvSpPr>
        <p:spPr>
          <a:xfrm>
            <a:off x="10363200" y="49657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05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09" name="Google Shape;209;g2a47814ba0b_0_35"/>
          <p:cNvSpPr txBox="1"/>
          <p:nvPr/>
        </p:nvSpPr>
        <p:spPr>
          <a:xfrm>
            <a:off x="11582400" y="4978400"/>
            <a:ext cx="4064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향후 계획</a:t>
            </a:r>
            <a:endParaRPr lang="ko-KR" altLang="en-US"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10" name="Google Shape;210;g2a47814ba0b_0_35"/>
          <p:cNvSpPr txBox="1"/>
          <p:nvPr/>
        </p:nvSpPr>
        <p:spPr>
          <a:xfrm>
            <a:off x="11582400" y="6007100"/>
            <a:ext cx="4407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1800">
                <a:latin typeface="Pretendard JP Variable"/>
                <a:ea typeface="Pretendard JP Variable"/>
                <a:cs typeface="Calibri"/>
                <a:sym typeface="Calibri"/>
              </a:rPr>
              <a:t>전문가 및 사용성 평가 피드백</a:t>
            </a:r>
            <a:endParaRPr lang="ko-KR" altLang="en-US" sz="18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1800">
                <a:latin typeface="Pretendard JP Variable"/>
                <a:ea typeface="Pretendard JP Variable"/>
                <a:cs typeface="Calibri"/>
                <a:sym typeface="Calibri"/>
              </a:rPr>
              <a:t>개선 완료 및 향후 계획</a:t>
            </a:r>
            <a:endParaRPr lang="ko-KR" altLang="en-US" sz="18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11" name="Google Shape;211;g2a47814ba0b_0_35"/>
          <p:cNvSpPr txBox="1"/>
          <p:nvPr/>
        </p:nvSpPr>
        <p:spPr>
          <a:xfrm>
            <a:off x="10363200" y="74676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06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12" name="Google Shape;212;g2a47814ba0b_0_35"/>
          <p:cNvSpPr txBox="1"/>
          <p:nvPr/>
        </p:nvSpPr>
        <p:spPr>
          <a:xfrm>
            <a:off x="11582400" y="7467600"/>
            <a:ext cx="52959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성과 및 기대효과</a:t>
            </a:r>
            <a:endParaRPr lang="ko-KR" altLang="en-US"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13" name="Google Shape;213;g2a47814ba0b_0_35"/>
          <p:cNvSpPr txBox="1"/>
          <p:nvPr/>
        </p:nvSpPr>
        <p:spPr>
          <a:xfrm>
            <a:off x="11582400" y="8496300"/>
            <a:ext cx="4407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1800">
                <a:latin typeface="Pretendard JP Variable"/>
                <a:ea typeface="Pretendard JP Variable"/>
                <a:cs typeface="Calibri"/>
                <a:sym typeface="Calibri"/>
              </a:rPr>
              <a:t>프로젝트의 주요 성과</a:t>
            </a:r>
            <a:endParaRPr lang="ko-KR" altLang="en-US" sz="18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1800">
                <a:latin typeface="Pretendard JP Variable"/>
                <a:ea typeface="Pretendard JP Variable"/>
                <a:cs typeface="Calibri"/>
                <a:sym typeface="Calibri"/>
              </a:rPr>
              <a:t>활용 및 </a:t>
            </a:r>
            <a:r>
              <a:rPr lang="en-US" sz="1800">
                <a:latin typeface="Pretendard JP Variable"/>
                <a:ea typeface="Pretendard JP Variable"/>
                <a:cs typeface="Calibri"/>
                <a:sym typeface="Calibri"/>
              </a:rPr>
              <a:t>기대효과</a:t>
            </a:r>
            <a:endParaRPr lang="en-US" sz="18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14" name="Google Shape;214;g2a47814ba0b_0_35"/>
          <p:cNvSpPr txBox="1"/>
          <p:nvPr/>
        </p:nvSpPr>
        <p:spPr>
          <a:xfrm>
            <a:off x="7137400" y="520700"/>
            <a:ext cx="4013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목차</a:t>
            </a:r>
            <a:endParaRPr>
              <a:latin typeface="Pretendard JP Variable"/>
              <a:ea typeface="Pretendard JP Variab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g2a47814ba0b_0_281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2a47814ba0b_0_281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59562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2a47814ba0b_0_281"/>
          <p:cNvSpPr txBox="1"/>
          <p:nvPr/>
        </p:nvSpPr>
        <p:spPr>
          <a:xfrm>
            <a:off x="829974" y="7365900"/>
            <a:ext cx="12727800" cy="265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3f5378"/>
              </a:buClr>
              <a:buSzPct val="25000"/>
              <a:buFont typeface="Calibri"/>
              <a:buNone/>
              <a:defRPr>
                <a:latin typeface="Pretendard Variable"/>
                <a:ea typeface="Pretendard Variable"/>
              </a:defRPr>
            </a:pPr>
            <a:r>
              <a:rPr lang="en-US" altLang="ko-KR" sz="120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1.</a:t>
            </a:r>
            <a:r>
              <a:rPr lang="ko-KR" altLang="en-US" sz="120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</a:t>
            </a:r>
            <a:r>
              <a:rPr lang="en-US" sz="120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프로젝트 소개</a:t>
            </a:r>
            <a:endParaRPr lang="en-US" sz="12000" b="1">
              <a:solidFill>
                <a:srgbClr val="3f537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2a47814ba0b_0_1084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2a47814ba0b_0_1084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2a47814ba0b_0_1084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2a47814ba0b_0_1084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1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30" name="Google Shape;230;g2a47814ba0b_0_1084"/>
          <p:cNvSpPr txBox="1"/>
          <p:nvPr/>
        </p:nvSpPr>
        <p:spPr>
          <a:xfrm>
            <a:off x="1473200" y="355600"/>
            <a:ext cx="3086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프로젝트 소개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231" name="Google Shape;231;g2a47814ba0b_0_1084"/>
          <p:cNvPicPr/>
          <p:nvPr/>
        </p:nvPicPr>
        <p:blipFill rotWithShape="1">
          <a:blip r:embed="rId6">
            <a:alphaModFix/>
          </a:blip>
          <a:srcRect l="2360" t="3630" r="2430" b="3900"/>
          <a:stretch>
            <a:fillRect/>
          </a:stretch>
        </p:blipFill>
        <p:spPr>
          <a:xfrm>
            <a:off x="2781299" y="1631150"/>
            <a:ext cx="12774965" cy="793260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2a47814ba0b_0_1084"/>
          <p:cNvSpPr txBox="1"/>
          <p:nvPr/>
        </p:nvSpPr>
        <p:spPr>
          <a:xfrm>
            <a:off x="1306200" y="1478125"/>
            <a:ext cx="20739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"/>
                <a:ea typeface="Pretendard JP Variable"/>
                <a:cs typeface="Calibri"/>
                <a:sym typeface="Calibri"/>
              </a:rPr>
              <a:t>ESG란</a:t>
            </a:r>
            <a:r>
              <a:rPr lang="en-US" altLang="ko-KR" sz="3700" b="1">
                <a:latin typeface="Pretendard JP Variable"/>
                <a:ea typeface="Pretendard JP Variable"/>
                <a:cs typeface="Calibri"/>
                <a:sym typeface="Calibri"/>
              </a:rPr>
              <a:t>?</a:t>
            </a:r>
            <a:endParaRPr lang="en-US" altLang="ko-KR" sz="3700" b="1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2a47814ba0b_0_76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2a47814ba0b_0_766"/>
          <p:cNvSpPr txBox="1"/>
          <p:nvPr/>
        </p:nvSpPr>
        <p:spPr>
          <a:xfrm>
            <a:off x="2501900" y="6172200"/>
            <a:ext cx="5460900" cy="31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latin typeface="Pretendard JP Variable"/>
                <a:ea typeface="Pretendard JP Variable"/>
                <a:cs typeface="Calibri"/>
                <a:sym typeface="Calibri"/>
              </a:rPr>
              <a:t>ESG 관련 ETF 및 상장 펀드 증가세 (2023년까지)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39" name="Google Shape;239;g2a47814ba0b_0_766"/>
          <p:cNvSpPr txBox="1"/>
          <p:nvPr/>
        </p:nvSpPr>
        <p:spPr>
          <a:xfrm>
            <a:off x="9937425" y="6194475"/>
            <a:ext cx="5295900" cy="31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latin typeface="Pretendard JP Variable"/>
                <a:ea typeface="Pretendard JP Variable"/>
                <a:cs typeface="Calibri"/>
                <a:sym typeface="Calibri"/>
              </a:rPr>
              <a:t>정기주주총회에서 ESG가 언급된 횟수 급증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240" name="Google Shape;240;g2a47814ba0b_0_76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2a47814ba0b_0_766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2a47814ba0b_0_766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1473200" y="7547025"/>
            <a:ext cx="15303502" cy="192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2a47814ba0b_0_766"/>
          <p:cNvSpPr txBox="1"/>
          <p:nvPr/>
        </p:nvSpPr>
        <p:spPr>
          <a:xfrm>
            <a:off x="2082800" y="7874000"/>
            <a:ext cx="14122500" cy="128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-40005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ESG는 기업의 장기적 지속 가능성과 안정성을 평가하는 척도로, 중요도는 해마다 증가</a:t>
            </a:r>
            <a:endParaRPr lang="en-US" sz="27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40005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관련 금융상품 및 주주총회에서 언급 사례 급증 등, 투자판단 에서도 중요한 가치로 위치</a:t>
            </a:r>
            <a:endParaRPr sz="26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44" name="Google Shape;244;g2a47814ba0b_0_76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01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45" name="Google Shape;245;g2a47814ba0b_0_766"/>
          <p:cNvSpPr txBox="1"/>
          <p:nvPr/>
        </p:nvSpPr>
        <p:spPr>
          <a:xfrm>
            <a:off x="1473200" y="355600"/>
            <a:ext cx="3086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프로젝트 소개</a:t>
            </a:r>
            <a:endParaRPr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246" name="Google Shape;246;g2a47814ba0b_0_766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5257800" y="6819900"/>
            <a:ext cx="7785099" cy="952500"/>
          </a:xfrm>
          <a:prstGeom prst="rect">
            <a:avLst/>
          </a:prstGeom>
          <a:noFill/>
          <a:ln>
            <a:noFill/>
          </a:ln>
          <a:effectLst>
            <a:outerShdw dist="146538" dir="2700000">
              <a:srgbClr val="000000">
                <a:alpha val="32940"/>
              </a:srgbClr>
            </a:outerShdw>
          </a:effectLst>
        </p:spPr>
      </p:pic>
      <p:sp>
        <p:nvSpPr>
          <p:cNvPr id="247" name="Google Shape;247;g2a47814ba0b_0_766"/>
          <p:cNvSpPr txBox="1"/>
          <p:nvPr/>
        </p:nvSpPr>
        <p:spPr>
          <a:xfrm>
            <a:off x="6261100" y="6946900"/>
            <a:ext cx="58674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900">
                <a:latin typeface="Pretendard JP Variable"/>
                <a:ea typeface="Pretendard JP Variable"/>
              </a:rPr>
              <a:t>증권시장에서의 ESG의 가치 주목 </a:t>
            </a:r>
            <a:endParaRPr sz="2900">
              <a:latin typeface="Pretendard JP Variable"/>
              <a:ea typeface="Pretendard JP Variable"/>
            </a:endParaRPr>
          </a:p>
        </p:txBody>
      </p:sp>
      <p:pic>
        <p:nvPicPr>
          <p:cNvPr id="248" name="Google Shape;248;g2a47814ba0b_0_766"/>
          <p:cNvPicPr/>
          <p:nvPr/>
        </p:nvPicPr>
        <p:blipFill rotWithShape="1">
          <a:blip r:embed="rId8">
            <a:alphaModFix/>
          </a:blip>
          <a:srcRect t="14490" b="4680"/>
          <a:stretch>
            <a:fillRect/>
          </a:stretch>
        </p:blipFill>
        <p:spPr>
          <a:xfrm>
            <a:off x="1473200" y="2511375"/>
            <a:ext cx="7255896" cy="32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2a47814ba0b_0_766"/>
          <p:cNvPicPr/>
          <p:nvPr/>
        </p:nvPicPr>
        <p:blipFill rotWithShape="1">
          <a:blip r:embed="rId9">
            <a:alphaModFix/>
          </a:blip>
          <a:srcRect t="12380"/>
          <a:stretch>
            <a:fillRect/>
          </a:stretch>
        </p:blipFill>
        <p:spPr>
          <a:xfrm>
            <a:off x="9074325" y="2312764"/>
            <a:ext cx="7022100" cy="364988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2a47814ba0b_0_766"/>
          <p:cNvSpPr txBox="1"/>
          <p:nvPr/>
        </p:nvSpPr>
        <p:spPr>
          <a:xfrm>
            <a:off x="1306200" y="1478125"/>
            <a:ext cx="56388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"/>
                <a:ea typeface="Pretendard JP Variable"/>
                <a:cs typeface="Calibri"/>
                <a:sym typeface="Calibri"/>
              </a:rPr>
              <a:t>ESG의 중요성</a:t>
            </a:r>
            <a:endParaRPr b="1">
              <a:latin typeface="Pretendard JP Variable"/>
              <a:ea typeface="Pretendard JP Variab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g2a47814ba0b_0_1008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2a47814ba0b_0_1008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2a47814ba0b_0_1008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2a47814ba0b_0_1008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01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59" name="Google Shape;259;g2a47814ba0b_0_1008"/>
          <p:cNvSpPr txBox="1"/>
          <p:nvPr/>
        </p:nvSpPr>
        <p:spPr>
          <a:xfrm>
            <a:off x="1473200" y="355600"/>
            <a:ext cx="112413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프로젝트 소개</a:t>
            </a:r>
            <a:endParaRPr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260" name="Google Shape;260;g2a47814ba0b_0_1008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8216000" y="1623775"/>
            <a:ext cx="3340100" cy="33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2a47814ba0b_0_1008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11149700" y="1623775"/>
            <a:ext cx="3340100" cy="33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2a47814ba0b_0_1008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14121500" y="1623775"/>
            <a:ext cx="3340100" cy="33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2a47814ba0b_0_1008"/>
          <p:cNvPicPr/>
          <p:nvPr/>
        </p:nvPicPr>
        <p:blipFill rotWithShape="1">
          <a:blip r:embed="rId9">
            <a:alphaModFix/>
          </a:blip>
          <a:srcRect/>
          <a:stretch>
            <a:fillRect/>
          </a:stretch>
        </p:blipFill>
        <p:spPr>
          <a:xfrm rot="16200000">
            <a:off x="9333600" y="4951175"/>
            <a:ext cx="1155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2a47814ba0b_0_1008"/>
          <p:cNvPicPr/>
          <p:nvPr/>
        </p:nvPicPr>
        <p:blipFill rotWithShape="1">
          <a:blip r:embed="rId10">
            <a:alphaModFix/>
          </a:blip>
          <a:srcRect/>
          <a:stretch>
            <a:fillRect/>
          </a:stretch>
        </p:blipFill>
        <p:spPr>
          <a:xfrm rot="16200000">
            <a:off x="12229200" y="4951175"/>
            <a:ext cx="1155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2a47814ba0b_0_1008"/>
          <p:cNvPicPr/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 rot="16200000">
            <a:off x="15315300" y="4951175"/>
            <a:ext cx="1155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2a47814ba0b_0_1008"/>
          <p:cNvPicPr/>
          <p:nvPr/>
        </p:nvPicPr>
        <p:blipFill rotWithShape="1">
          <a:blip r:embed="rId12">
            <a:alphaModFix/>
          </a:blip>
          <a:srcRect/>
          <a:stretch>
            <a:fillRect/>
          </a:stretch>
        </p:blipFill>
        <p:spPr>
          <a:xfrm rot="16200000">
            <a:off x="9308200" y="7491175"/>
            <a:ext cx="1155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2a47814ba0b_0_1008"/>
          <p:cNvPicPr/>
          <p:nvPr/>
        </p:nvPicPr>
        <p:blipFill rotWithShape="1">
          <a:blip r:embed="rId13">
            <a:alphaModFix/>
          </a:blip>
          <a:srcRect/>
          <a:stretch>
            <a:fillRect/>
          </a:stretch>
        </p:blipFill>
        <p:spPr>
          <a:xfrm rot="16200000">
            <a:off x="12203800" y="7491175"/>
            <a:ext cx="11557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2a47814ba0b_0_1008"/>
          <p:cNvPicPr/>
          <p:nvPr/>
        </p:nvPicPr>
        <p:blipFill rotWithShape="1">
          <a:blip r:embed="rId14">
            <a:alphaModFix/>
          </a:blip>
          <a:srcRect/>
          <a:stretch>
            <a:fillRect/>
          </a:stretch>
        </p:blipFill>
        <p:spPr>
          <a:xfrm rot="16200000">
            <a:off x="15289900" y="7491175"/>
            <a:ext cx="11557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2a47814ba0b_0_1008"/>
          <p:cNvSpPr txBox="1"/>
          <p:nvPr/>
        </p:nvSpPr>
        <p:spPr>
          <a:xfrm>
            <a:off x="8851000" y="3071575"/>
            <a:ext cx="20193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200" b="1">
                <a:solidFill>
                  <a:srgbClr val="8392a3"/>
                </a:solidFill>
                <a:latin typeface="Pretendard JP Variable"/>
                <a:ea typeface="Pretendard JP Variable"/>
              </a:rPr>
              <a:t>기관별 </a:t>
            </a:r>
            <a:endParaRPr lang="en-US" sz="3200" b="1">
              <a:solidFill>
                <a:srgbClr val="8392a3"/>
              </a:solidFill>
              <a:latin typeface="Pretendard JP Variable"/>
              <a:ea typeface="Pretendard JP Variable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200" b="1">
                <a:solidFill>
                  <a:srgbClr val="8392a3"/>
                </a:solidFill>
                <a:latin typeface="Pretendard JP Variable"/>
                <a:ea typeface="Pretendard JP Variable"/>
              </a:rPr>
              <a:t>평가 상이</a:t>
            </a:r>
            <a:endParaRPr b="1">
              <a:solidFill>
                <a:srgbClr val="8392a3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270" name="Google Shape;270;g2a47814ba0b_0_1008"/>
          <p:cNvSpPr txBox="1"/>
          <p:nvPr/>
        </p:nvSpPr>
        <p:spPr>
          <a:xfrm>
            <a:off x="11835500" y="3071575"/>
            <a:ext cx="20193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3200" b="1">
                <a:solidFill>
                  <a:srgbClr val="8392a3"/>
                </a:solidFill>
                <a:latin typeface="Pretendard JP Variable"/>
                <a:ea typeface="Pretendard JP Variable"/>
              </a:rPr>
              <a:t>평가 기준 </a:t>
            </a:r>
            <a:endParaRPr lang="en-US" sz="3200" b="1">
              <a:solidFill>
                <a:srgbClr val="8392a3"/>
              </a:solidFill>
              <a:latin typeface="Pretendard JP Variable"/>
              <a:ea typeface="Pretendard JP Variable"/>
            </a:endParaRPr>
          </a:p>
          <a:p>
            <a:pPr marL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3200" b="1">
                <a:solidFill>
                  <a:srgbClr val="8392a3"/>
                </a:solidFill>
                <a:latin typeface="Pretendard JP Variable"/>
                <a:ea typeface="Pretendard JP Variable"/>
              </a:rPr>
              <a:t>주관적</a:t>
            </a:r>
            <a:endParaRPr b="1">
              <a:solidFill>
                <a:srgbClr val="8392a3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271" name="Google Shape;271;g2a47814ba0b_0_1008"/>
          <p:cNvSpPr txBox="1"/>
          <p:nvPr/>
        </p:nvSpPr>
        <p:spPr>
          <a:xfrm>
            <a:off x="14845400" y="3071575"/>
            <a:ext cx="20193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200" b="1">
                <a:solidFill>
                  <a:srgbClr val="8392a3"/>
                </a:solidFill>
                <a:latin typeface="Pretendard JP Variable"/>
                <a:ea typeface="Pretendard JP Variable"/>
              </a:rPr>
              <a:t>접근성 제한</a:t>
            </a:r>
            <a:endParaRPr b="1">
              <a:solidFill>
                <a:srgbClr val="8392a3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272" name="Google Shape;272;g2a47814ba0b_0_1008"/>
          <p:cNvSpPr txBox="1"/>
          <p:nvPr/>
        </p:nvSpPr>
        <p:spPr>
          <a:xfrm>
            <a:off x="8876400" y="2487375"/>
            <a:ext cx="1993800" cy="35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000" b="0" i="0" u="none" strike="noStrike" cap="none">
                <a:solidFill>
                  <a:srgbClr val="000000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01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73" name="Google Shape;273;g2a47814ba0b_0_1008"/>
          <p:cNvSpPr txBox="1"/>
          <p:nvPr/>
        </p:nvSpPr>
        <p:spPr>
          <a:xfrm>
            <a:off x="11848200" y="2487375"/>
            <a:ext cx="1993800" cy="35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000" b="0" i="0" u="none" strike="noStrike" cap="none">
                <a:solidFill>
                  <a:srgbClr val="000000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02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74" name="Google Shape;274;g2a47814ba0b_0_1008"/>
          <p:cNvSpPr txBox="1"/>
          <p:nvPr/>
        </p:nvSpPr>
        <p:spPr>
          <a:xfrm>
            <a:off x="14870800" y="2487375"/>
            <a:ext cx="1993800" cy="35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000" b="0" i="0" u="none" strike="noStrike" cap="none">
                <a:solidFill>
                  <a:srgbClr val="000000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03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75" name="Google Shape;275;g2a47814ba0b_0_1008"/>
          <p:cNvSpPr txBox="1"/>
          <p:nvPr/>
        </p:nvSpPr>
        <p:spPr>
          <a:xfrm>
            <a:off x="9041450" y="7821375"/>
            <a:ext cx="76074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3500">
                <a:solidFill>
                  <a:schemeClr val="lt1"/>
                </a:solidFill>
                <a:latin typeface="Pretendard JP Variable"/>
                <a:ea typeface="Pretendard JP Variable"/>
                <a:cs typeface="Montserrat"/>
                <a:sym typeface="Montserrat"/>
              </a:rPr>
              <a:t>ESG 중심 개인 투자 포트폴리오 최적화 서비스의 필요성</a:t>
            </a:r>
            <a:endParaRPr sz="2400">
              <a:solidFill>
                <a:srgbClr val="ffffff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76" name="Google Shape;276;g2a47814ba0b_0_1008"/>
          <p:cNvSpPr txBox="1"/>
          <p:nvPr/>
        </p:nvSpPr>
        <p:spPr>
          <a:xfrm>
            <a:off x="8584300" y="5713175"/>
            <a:ext cx="2755800" cy="10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000">
                <a:latin typeface="Pretendard JP Variable"/>
                <a:ea typeface="Pretendard JP Variable"/>
                <a:cs typeface="Calibri"/>
                <a:sym typeface="Calibri"/>
              </a:rPr>
              <a:t>기관별 평가를 아우르는 </a:t>
            </a:r>
            <a:endParaRPr lang="en-US" sz="20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000">
                <a:latin typeface="Pretendard JP Variable"/>
                <a:ea typeface="Pretendard JP Variable"/>
                <a:cs typeface="Calibri"/>
                <a:sym typeface="Calibri"/>
              </a:rPr>
              <a:t>평가 지표 개발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77" name="Google Shape;277;g2a47814ba0b_0_1008"/>
          <p:cNvSpPr txBox="1"/>
          <p:nvPr/>
        </p:nvSpPr>
        <p:spPr>
          <a:xfrm>
            <a:off x="11530700" y="5713175"/>
            <a:ext cx="2616300" cy="10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000">
                <a:latin typeface="Pretendard JP Variable"/>
                <a:ea typeface="Pretendard JP Variable"/>
                <a:cs typeface="Calibri"/>
                <a:sym typeface="Calibri"/>
              </a:rPr>
              <a:t>텍스트를 중심으로 </a:t>
            </a:r>
            <a:endParaRPr lang="en-US" sz="20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000">
                <a:latin typeface="Pretendard JP Variable"/>
                <a:ea typeface="Pretendard JP Variable"/>
                <a:cs typeface="Calibri"/>
                <a:sym typeface="Calibri"/>
              </a:rPr>
              <a:t>근거있는 결과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78" name="Google Shape;278;g2a47814ba0b_0_1008"/>
          <p:cNvSpPr txBox="1"/>
          <p:nvPr/>
        </p:nvSpPr>
        <p:spPr>
          <a:xfrm>
            <a:off x="14642200" y="5713175"/>
            <a:ext cx="2552700" cy="10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000">
                <a:latin typeface="Pretendard JP Variable"/>
                <a:ea typeface="Pretendard JP Variable"/>
                <a:cs typeface="Calibri"/>
                <a:sym typeface="Calibri"/>
              </a:rPr>
              <a:t>설문 형식으로 </a:t>
            </a:r>
            <a:endParaRPr lang="en-US" sz="20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000">
                <a:latin typeface="Pretendard JP Variable"/>
                <a:ea typeface="Pretendard JP Variable"/>
                <a:cs typeface="Calibri"/>
                <a:sym typeface="Calibri"/>
              </a:rPr>
              <a:t>손쉬운 접근성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279" name="Google Shape;279;g2a47814ba0b_0_1008"/>
          <p:cNvPicPr/>
          <p:nvPr/>
        </p:nvPicPr>
        <p:blipFill rotWithShape="1">
          <a:blip r:embed="rId15">
            <a:alphaModFix/>
          </a:blip>
          <a:stretch>
            <a:fillRect/>
          </a:stretch>
        </p:blipFill>
        <p:spPr>
          <a:xfrm>
            <a:off x="1071550" y="2590325"/>
            <a:ext cx="64294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2a47814ba0b_0_1008"/>
          <p:cNvPicPr/>
          <p:nvPr/>
        </p:nvPicPr>
        <p:blipFill rotWithShape="1">
          <a:blip r:embed="rId16">
            <a:alphaModFix/>
          </a:blip>
          <a:srcRect/>
          <a:stretch>
            <a:fillRect/>
          </a:stretch>
        </p:blipFill>
        <p:spPr>
          <a:xfrm>
            <a:off x="974275" y="7976800"/>
            <a:ext cx="6623951" cy="15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2a47814ba0b_0_1008"/>
          <p:cNvSpPr txBox="1"/>
          <p:nvPr/>
        </p:nvSpPr>
        <p:spPr>
          <a:xfrm>
            <a:off x="1229859" y="8185729"/>
            <a:ext cx="6112800" cy="114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-40005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대중 친화적이지 않은 평가기관</a:t>
            </a:r>
            <a:endParaRPr lang="en-US" sz="27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40005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관련 서비스 또한 부실함</a:t>
            </a:r>
            <a:endParaRPr sz="26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82" name="Google Shape;282;g2a47814ba0b_0_1008"/>
          <p:cNvSpPr txBox="1"/>
          <p:nvPr/>
        </p:nvSpPr>
        <p:spPr>
          <a:xfrm>
            <a:off x="1306200" y="1478125"/>
            <a:ext cx="56388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"/>
                <a:ea typeface="Pretendard JP Variable"/>
                <a:cs typeface="Calibri"/>
                <a:sym typeface="Calibri"/>
              </a:rPr>
              <a:t>그러나…</a:t>
            </a:r>
            <a:endParaRPr b="1">
              <a:latin typeface="Pretendard JP Variable"/>
              <a:ea typeface="Pretendard JP Variable"/>
            </a:endParaRPr>
          </a:p>
        </p:txBody>
      </p:sp>
      <p:sp>
        <p:nvSpPr>
          <p:cNvPr id="283" name="Google Shape;283;g2a47814ba0b_0_1008"/>
          <p:cNvSpPr/>
          <p:nvPr/>
        </p:nvSpPr>
        <p:spPr>
          <a:xfrm>
            <a:off x="9375350" y="8029163"/>
            <a:ext cx="6939600" cy="14616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84" name="Google Shape;284;g2a47814ba0b_0_1008"/>
          <p:cNvSpPr txBox="1"/>
          <p:nvPr/>
        </p:nvSpPr>
        <p:spPr>
          <a:xfrm>
            <a:off x="9593100" y="8021913"/>
            <a:ext cx="6410700" cy="146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3500">
                <a:solidFill>
                  <a:schemeClr val="lt1"/>
                </a:solidFill>
                <a:latin typeface="Pretendard JP Variable"/>
                <a:ea typeface="Pretendard JP Variable"/>
                <a:cs typeface="Montserrat"/>
                <a:sym typeface="Montserrat"/>
              </a:rPr>
              <a:t>ESG 중심 개인 투자 </a:t>
            </a:r>
            <a:endParaRPr lang="en-US" sz="3500">
              <a:solidFill>
                <a:schemeClr val="lt1"/>
              </a:solidFill>
              <a:latin typeface="Pretendard JP Variable"/>
              <a:ea typeface="Pretendard JP Variable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3500">
                <a:solidFill>
                  <a:schemeClr val="lt1"/>
                </a:solidFill>
                <a:latin typeface="Pretendard JP Variable"/>
                <a:ea typeface="Pretendard JP Variable"/>
                <a:cs typeface="Montserrat"/>
                <a:sym typeface="Montserrat"/>
              </a:rPr>
              <a:t>포트폴리오 최적화 서비스의 필요성</a:t>
            </a:r>
            <a:endParaRPr sz="2400">
              <a:solidFill>
                <a:srgbClr val="ffffff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g2a47814ba0b_0_1127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a47814ba0b_0_1127"/>
          <p:cNvSpPr/>
          <p:nvPr/>
        </p:nvSpPr>
        <p:spPr>
          <a:xfrm>
            <a:off x="1670383" y="2306434"/>
            <a:ext cx="6939600" cy="14616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91" name="Google Shape;291;g2a47814ba0b_0_1127"/>
          <p:cNvSpPr/>
          <p:nvPr/>
        </p:nvSpPr>
        <p:spPr>
          <a:xfrm rot="10800000">
            <a:off x="7565501" y="3976823"/>
            <a:ext cx="2689100" cy="1932300"/>
          </a:xfrm>
          <a:prstGeom prst="leftArrow">
            <a:avLst>
              <a:gd name="adj1" fmla="val 50000"/>
              <a:gd name="adj2" fmla="val 39791"/>
            </a:avLst>
          </a:prstGeom>
          <a:solidFill>
            <a:srgbClr val="c9daf8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292" name="Google Shape;292;g2a47814ba0b_0_1127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2a47814ba0b_0_1127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2a47814ba0b_0_1127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01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295" name="Google Shape;295;g2a47814ba0b_0_1127"/>
          <p:cNvSpPr txBox="1"/>
          <p:nvPr/>
        </p:nvSpPr>
        <p:spPr>
          <a:xfrm>
            <a:off x="1473200" y="355600"/>
            <a:ext cx="112413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프로젝트 소개</a:t>
            </a:r>
            <a:endParaRPr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96" name="Google Shape;296;g2a47814ba0b_0_1127"/>
          <p:cNvSpPr txBox="1"/>
          <p:nvPr/>
        </p:nvSpPr>
        <p:spPr>
          <a:xfrm>
            <a:off x="1888133" y="2299184"/>
            <a:ext cx="6410700" cy="146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3500">
                <a:solidFill>
                  <a:schemeClr val="lt1"/>
                </a:solidFill>
                <a:latin typeface="Pretendard JP Variable"/>
                <a:ea typeface="Pretendard JP Variable"/>
                <a:cs typeface="Montserrat"/>
                <a:sym typeface="Montserrat"/>
              </a:rPr>
              <a:t>ESG 중심 개인 투자 </a:t>
            </a:r>
            <a:endParaRPr lang="en-US" sz="3500">
              <a:solidFill>
                <a:schemeClr val="lt1"/>
              </a:solidFill>
              <a:latin typeface="Pretendard JP Variable"/>
              <a:ea typeface="Pretendard JP Variable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3500">
                <a:solidFill>
                  <a:schemeClr val="lt1"/>
                </a:solidFill>
                <a:latin typeface="Pretendard JP Variable"/>
                <a:ea typeface="Pretendard JP Variable"/>
                <a:cs typeface="Montserrat"/>
                <a:sym typeface="Montserrat"/>
              </a:rPr>
              <a:t>포트폴리오 최적화 서비스의 필요성</a:t>
            </a:r>
            <a:endParaRPr sz="2400">
              <a:solidFill>
                <a:srgbClr val="ffffff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97" name="Google Shape;297;g2a47814ba0b_0_1127"/>
          <p:cNvSpPr/>
          <p:nvPr/>
        </p:nvSpPr>
        <p:spPr>
          <a:xfrm>
            <a:off x="4247516" y="4177350"/>
            <a:ext cx="1959300" cy="1932300"/>
          </a:xfrm>
          <a:prstGeom prst="mathPlus">
            <a:avLst>
              <a:gd name="adj1" fmla="val 23520"/>
            </a:avLst>
          </a:prstGeom>
          <a:solidFill>
            <a:srgbClr val="86abd6"/>
          </a:solidFill>
          <a:ln w="9525" cap="flat" cmpd="sng">
            <a:solidFill>
              <a:srgbClr val="86abd6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solidFill>
                <a:srgbClr val="86abd6"/>
              </a:solidFill>
              <a:highlight>
                <a:srgbClr val="86abd6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298" name="Google Shape;298;g2a47814ba0b_0_1127"/>
          <p:cNvSpPr txBox="1"/>
          <p:nvPr/>
        </p:nvSpPr>
        <p:spPr>
          <a:xfrm>
            <a:off x="11030854" y="3622841"/>
            <a:ext cx="6939601" cy="386516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32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여러 평가기관의 평가 경향성 수렴</a:t>
            </a:r>
            <a:endParaRPr lang="en-US" sz="32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32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인공지능으로 객관화된 평가 기준</a:t>
            </a:r>
            <a:endParaRPr lang="en-US" sz="32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32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투명한 점수 산출 과정과 방법</a:t>
            </a:r>
            <a:endParaRPr lang="en-US" sz="32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 sz="32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800" b="1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기존 ESG 평가</a:t>
            </a:r>
            <a:r>
              <a:rPr lang="ko-KR" altLang="en-US" sz="3800" b="1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체계의 한계 보완</a:t>
            </a:r>
            <a:endParaRPr lang="ko-KR" altLang="en-US" sz="3800" b="1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altLang="ko-KR" sz="3800" b="1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+</a:t>
            </a:r>
            <a:r>
              <a:rPr lang="ko-KR" altLang="en-US" sz="3800" b="1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수요와 공급은 있으나</a:t>
            </a:r>
            <a:endParaRPr lang="ko-KR" altLang="en-US" sz="3800" b="1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800" b="1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플랫폼이 없는 문제 해결</a:t>
            </a:r>
            <a:endParaRPr lang="ko-KR" altLang="en-US" sz="3800" b="1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299" name="Google Shape;299;g2a47814ba0b_0_1127"/>
          <p:cNvPicPr/>
          <p:nvPr/>
        </p:nvPicPr>
        <p:blipFill rotWithShape="1">
          <a:blip r:embed="rId6">
            <a:alphaModFix/>
          </a:blip>
          <a:stretch>
            <a:fillRect/>
          </a:stretch>
        </p:blipFill>
        <p:spPr>
          <a:xfrm>
            <a:off x="665533" y="6289750"/>
            <a:ext cx="9927611" cy="346575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282;g2a47814ba0b_0_1008"/>
          <p:cNvSpPr txBox="1"/>
          <p:nvPr/>
        </p:nvSpPr>
        <p:spPr>
          <a:xfrm>
            <a:off x="1306200" y="1478125"/>
            <a:ext cx="9097879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700" b="1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그렇다면</a:t>
            </a:r>
            <a:r>
              <a:rPr xmlns:mc="http://schemas.openxmlformats.org/markup-compatibility/2006" xmlns:hp="http://schemas.haansoft.com/office/presentation/8.0" kumimoji="0" lang="en-US" altLang="ko-KR" sz="3700" b="1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...</a:t>
            </a:r>
            <a:endParaRPr xmlns:mc="http://schemas.openxmlformats.org/markup-compatibility/2006" xmlns:hp="http://schemas.haansoft.com/office/presentation/8.0" kumimoji="0" lang="en-US" altLang="ko-KR" sz="3700" b="1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Google Shape;304;g2a47814ba0b_0_1302"/>
          <p:cNvGraphicFramePr/>
          <p:nvPr/>
        </p:nvGraphicFramePr>
        <p:xfrm>
          <a:off x="952500" y="1330425"/>
          <a:ext cx="15920400" cy="8376150"/>
        </p:xfrm>
        <a:graphic>
          <a:graphicData uri="http://schemas.openxmlformats.org/drawingml/2006/table">
            <a:tbl>
              <a:tblPr>
                <a:noFill/>
                <a:tableStyleId>{E9F744B0-D843-454C-9B98-A4A9B6157D21}</a:tableStyleId>
              </a:tblPr>
              <a:tblGrid>
                <a:gridCol w="1990050"/>
                <a:gridCol w="1990050"/>
                <a:gridCol w="1990050"/>
                <a:gridCol w="1990050"/>
                <a:gridCol w="1990050"/>
                <a:gridCol w="1990050"/>
                <a:gridCol w="1990050"/>
                <a:gridCol w="1990050"/>
              </a:tblGrid>
              <a:tr h="1218675"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2주차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3주차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4주차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5주차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6주차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7주차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8주차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9주차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</a:tr>
              <a:tr h="7157475"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305" name="Google Shape;305;g2a47814ba0b_0_1302"/>
          <p:cNvSpPr/>
          <p:nvPr/>
        </p:nvSpPr>
        <p:spPr>
          <a:xfrm>
            <a:off x="952500" y="6703454"/>
            <a:ext cx="3964800" cy="55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텍스트 전처리 함수 정교화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06" name="Google Shape;306;g2a47814ba0b_0_1302"/>
          <p:cNvSpPr/>
          <p:nvPr/>
        </p:nvSpPr>
        <p:spPr>
          <a:xfrm>
            <a:off x="6922650" y="6598300"/>
            <a:ext cx="4953600" cy="55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ESG 평가기관 점수 예측 모델링 (B1)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07" name="Google Shape;307;g2a47814ba0b_0_1302"/>
          <p:cNvSpPr/>
          <p:nvPr/>
        </p:nvSpPr>
        <p:spPr>
          <a:xfrm>
            <a:off x="9422362" y="7343873"/>
            <a:ext cx="4953600" cy="55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B1로 예측한 결과 포함해 B2 모델링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08" name="Google Shape;308;g2a47814ba0b_0_1302"/>
          <p:cNvSpPr/>
          <p:nvPr/>
        </p:nvSpPr>
        <p:spPr>
          <a:xfrm>
            <a:off x="4929511" y="3724931"/>
            <a:ext cx="5965800" cy="557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여러 ESG 평가기관들의  점수(등급)를 수집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09" name="Google Shape;309;g2a47814ba0b_0_1302"/>
          <p:cNvSpPr/>
          <p:nvPr/>
        </p:nvSpPr>
        <p:spPr>
          <a:xfrm>
            <a:off x="4255818" y="8383799"/>
            <a:ext cx="4360500" cy="55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ESG관련도 라벨러(A2) 모델링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10" name="Google Shape;310;g2a47814ba0b_0_1302"/>
          <p:cNvSpPr/>
          <p:nvPr/>
        </p:nvSpPr>
        <p:spPr>
          <a:xfrm>
            <a:off x="2155375" y="7479250"/>
            <a:ext cx="4360500" cy="55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기업적합도 라벨러(A1) 모델링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11" name="Google Shape;311;g2a47814ba0b_0_1302"/>
          <p:cNvSpPr/>
          <p:nvPr/>
        </p:nvSpPr>
        <p:spPr>
          <a:xfrm>
            <a:off x="6449550" y="9148925"/>
            <a:ext cx="4577700" cy="55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ESG긍부정도 라벨러(A3) 모델링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12" name="Google Shape;312;g2a47814ba0b_0_1302"/>
          <p:cNvSpPr/>
          <p:nvPr/>
        </p:nvSpPr>
        <p:spPr>
          <a:xfrm>
            <a:off x="952500" y="2786750"/>
            <a:ext cx="15908100" cy="557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텍스트 데이터 수집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13" name="Google Shape;313;g2a47814ba0b_0_1302"/>
          <p:cNvSpPr/>
          <p:nvPr/>
        </p:nvSpPr>
        <p:spPr>
          <a:xfrm>
            <a:off x="2940998" y="5534450"/>
            <a:ext cx="8086200" cy="557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도메인 정보(재무적 지표, 영역별 지표) 및 피쳐 수집 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14" name="Google Shape;314;g2a47814ba0b_0_1302"/>
          <p:cNvSpPr/>
          <p:nvPr/>
        </p:nvSpPr>
        <p:spPr>
          <a:xfrm>
            <a:off x="11906836" y="8045500"/>
            <a:ext cx="4953600" cy="55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ESG 영역별 기사발생도 모델링 (C1) 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15" name="Google Shape;315;g2a47814ba0b_0_1302"/>
          <p:cNvSpPr/>
          <p:nvPr/>
        </p:nvSpPr>
        <p:spPr>
          <a:xfrm>
            <a:off x="9095025" y="4692525"/>
            <a:ext cx="7778100" cy="5574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여러 평가기관 점수로 객관성 향상 방법론 조사 및 적용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16" name="Google Shape;316;g2a47814ba0b_0_1302"/>
          <p:cNvSpPr/>
          <p:nvPr/>
        </p:nvSpPr>
        <p:spPr>
          <a:xfrm>
            <a:off x="11442051" y="9148951"/>
            <a:ext cx="5418600" cy="55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데이터셋 라벨 적절성 검증평가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17" name="Google Shape;317;g2a47814ba0b_0_1302"/>
          <p:cNvSpPr/>
          <p:nvPr/>
        </p:nvSpPr>
        <p:spPr>
          <a:xfrm>
            <a:off x="9095025" y="377425"/>
            <a:ext cx="2917800" cy="416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latin typeface="Pretendard JP Variable"/>
                <a:ea typeface="Pretendard JP Variable"/>
                <a:cs typeface="Lato"/>
                <a:sym typeface="Lato"/>
              </a:rPr>
              <a:t>데이터셋</a:t>
            </a:r>
            <a:endParaRPr sz="2400" b="1"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18" name="Google Shape;318;g2a47814ba0b_0_1302"/>
          <p:cNvSpPr/>
          <p:nvPr/>
        </p:nvSpPr>
        <p:spPr>
          <a:xfrm>
            <a:off x="12159275" y="377389"/>
            <a:ext cx="2917800" cy="41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latin typeface="Pretendard JP Variable"/>
                <a:ea typeface="Pretendard JP Variable"/>
                <a:cs typeface="Lato"/>
                <a:sym typeface="Lato"/>
              </a:rPr>
              <a:t>평가 모델링</a:t>
            </a:r>
            <a:endParaRPr sz="2400" b="1"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19" name="Google Shape;319;g2a47814ba0b_0_1302"/>
          <p:cNvSpPr/>
          <p:nvPr/>
        </p:nvSpPr>
        <p:spPr>
          <a:xfrm>
            <a:off x="15223525" y="377402"/>
            <a:ext cx="2917800" cy="416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d9ead3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latin typeface="Pretendard JP Variable"/>
                <a:ea typeface="Pretendard JP Variable"/>
                <a:cs typeface="Lato"/>
                <a:sym typeface="Lato"/>
              </a:rPr>
              <a:t>UI 및 작업 통합</a:t>
            </a:r>
            <a:endParaRPr sz="2400" b="1"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pic>
        <p:nvPicPr>
          <p:cNvPr id="320" name="Google Shape;320;g2a47814ba0b_0_1302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2a47814ba0b_0_1302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01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322" name="Google Shape;322;g2a47814ba0b_0_1302"/>
          <p:cNvSpPr txBox="1"/>
          <p:nvPr/>
        </p:nvSpPr>
        <p:spPr>
          <a:xfrm>
            <a:off x="1473200" y="355600"/>
            <a:ext cx="112413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프로젝트 일정</a:t>
            </a:r>
            <a:endParaRPr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" name="Google Shape;327;g2a47814ba0b_0_1270"/>
          <p:cNvGraphicFramePr/>
          <p:nvPr/>
        </p:nvGraphicFramePr>
        <p:xfrm>
          <a:off x="1028700" y="1368525"/>
          <a:ext cx="16294800" cy="8675525"/>
        </p:xfrm>
        <a:graphic>
          <a:graphicData uri="http://schemas.openxmlformats.org/drawingml/2006/table">
            <a:tbl>
              <a:tblPr>
                <a:noFill/>
                <a:tableStyleId>{E9F744B0-D843-454C-9B98-A4A9B6157D21}</a:tableStyleId>
              </a:tblPr>
              <a:tblGrid>
                <a:gridCol w="2036850"/>
                <a:gridCol w="2036850"/>
                <a:gridCol w="2036850"/>
                <a:gridCol w="2036850"/>
                <a:gridCol w="2036850"/>
                <a:gridCol w="2036850"/>
                <a:gridCol w="2036850"/>
                <a:gridCol w="2036850"/>
              </a:tblGrid>
              <a:tr h="1262225"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10주차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11주차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12주차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13주차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14주차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15주차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3600">
                          <a:solidFill>
                            <a:schemeClr val="dk1"/>
                          </a:solidFill>
                          <a:latin typeface="Pretendard JP Variable"/>
                          <a:ea typeface="Pretendard JP Variable"/>
                        </a:rPr>
                        <a:t>이후</a:t>
                      </a: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lIns="91425" tIns="91425" rIns="91425" bIns="91425" anchor="ctr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 sz="36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 anchor="ctr"/>
                </a:tc>
              </a:tr>
              <a:tr h="7413300"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 sz="20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 sz="20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 sz="20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 sz="20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 sz="20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 sz="20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 sz="20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5" tIns="91425" rIns="91425" bIns="91425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 sz="2000">
                        <a:solidFill>
                          <a:schemeClr val="dk1"/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328" name="Google Shape;328;g2a47814ba0b_0_1270"/>
          <p:cNvSpPr/>
          <p:nvPr/>
        </p:nvSpPr>
        <p:spPr>
          <a:xfrm>
            <a:off x="11225422" y="5514561"/>
            <a:ext cx="6104700" cy="6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ead3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서비스 통합 유지보수 파이프라인 구축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29" name="Google Shape;329;g2a47814ba0b_0_1270"/>
          <p:cNvSpPr/>
          <p:nvPr/>
        </p:nvSpPr>
        <p:spPr>
          <a:xfrm>
            <a:off x="7145473" y="3559675"/>
            <a:ext cx="5102100" cy="6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ead3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도메인 피쳐 등 처리 방법 정교화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30" name="Google Shape;330;g2a47814ba0b_0_1270"/>
          <p:cNvSpPr/>
          <p:nvPr/>
        </p:nvSpPr>
        <p:spPr>
          <a:xfrm>
            <a:off x="2961889" y="4488586"/>
            <a:ext cx="4061100" cy="6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ead3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A1~A3 하이퍼파라미터 튜닝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31" name="Google Shape;331;g2a47814ba0b_0_1270"/>
          <p:cNvSpPr/>
          <p:nvPr/>
        </p:nvSpPr>
        <p:spPr>
          <a:xfrm>
            <a:off x="1028700" y="6465390"/>
            <a:ext cx="4061100" cy="619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UI 와이어프레임 기획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32" name="Google Shape;332;g2a47814ba0b_0_1270"/>
          <p:cNvSpPr/>
          <p:nvPr/>
        </p:nvSpPr>
        <p:spPr>
          <a:xfrm>
            <a:off x="4980002" y="5455075"/>
            <a:ext cx="5448600" cy="6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ead3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B2 추가 텍스트로 일반화 성능 향상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33" name="Google Shape;333;g2a47814ba0b_0_1270"/>
          <p:cNvSpPr/>
          <p:nvPr/>
        </p:nvSpPr>
        <p:spPr>
          <a:xfrm>
            <a:off x="1028700" y="3589399"/>
            <a:ext cx="4061100" cy="6195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도메인 정보 및 피쳐 수집 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34" name="Google Shape;334;g2a47814ba0b_0_1270"/>
          <p:cNvSpPr/>
          <p:nvPr/>
        </p:nvSpPr>
        <p:spPr>
          <a:xfrm>
            <a:off x="9680826" y="4488552"/>
            <a:ext cx="5102100" cy="6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ead3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향상된 모델 적용 및 UI와 통합 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35" name="Google Shape;335;g2a47814ba0b_0_1270"/>
          <p:cNvSpPr/>
          <p:nvPr/>
        </p:nvSpPr>
        <p:spPr>
          <a:xfrm>
            <a:off x="1028700" y="2630750"/>
            <a:ext cx="16294800" cy="6195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텍스트 데이터 수집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36" name="Google Shape;336;g2a47814ba0b_0_1270"/>
          <p:cNvSpPr/>
          <p:nvPr/>
        </p:nvSpPr>
        <p:spPr>
          <a:xfrm>
            <a:off x="3084285" y="7394340"/>
            <a:ext cx="6104700" cy="619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UI 프로토타입 구현(Streamlit)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37" name="Google Shape;337;g2a47814ba0b_0_1270"/>
          <p:cNvSpPr/>
          <p:nvPr/>
        </p:nvSpPr>
        <p:spPr>
          <a:xfrm>
            <a:off x="5102391" y="8323258"/>
            <a:ext cx="6104700" cy="619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포트폴리오 제공 라이브러리 보완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38" name="Google Shape;338;g2a47814ba0b_0_1270"/>
          <p:cNvSpPr/>
          <p:nvPr/>
        </p:nvSpPr>
        <p:spPr>
          <a:xfrm>
            <a:off x="7145484" y="9252176"/>
            <a:ext cx="6104700" cy="619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사용자 선택별 워드 클라우드 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39" name="Google Shape;339;g2a47814ba0b_0_1270"/>
          <p:cNvSpPr/>
          <p:nvPr/>
        </p:nvSpPr>
        <p:spPr>
          <a:xfrm>
            <a:off x="11206682" y="6774704"/>
            <a:ext cx="6021000" cy="619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디테일 개선 및  문서화 작업 진행</a:t>
            </a:r>
            <a:endParaRPr sz="2400" b="1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40" name="Google Shape;340;g2a47814ba0b_0_1270"/>
          <p:cNvSpPr/>
          <p:nvPr/>
        </p:nvSpPr>
        <p:spPr>
          <a:xfrm>
            <a:off x="9095025" y="377425"/>
            <a:ext cx="2917800" cy="4161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latin typeface="Pretendard JP Variable"/>
                <a:ea typeface="Pretendard JP Variable"/>
                <a:cs typeface="Lato"/>
                <a:sym typeface="Lato"/>
              </a:rPr>
              <a:t>데이터셋</a:t>
            </a:r>
            <a:endParaRPr sz="2400" b="1"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41" name="Google Shape;341;g2a47814ba0b_0_1270"/>
          <p:cNvSpPr/>
          <p:nvPr/>
        </p:nvSpPr>
        <p:spPr>
          <a:xfrm>
            <a:off x="12159275" y="377389"/>
            <a:ext cx="2917800" cy="41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latin typeface="Pretendard JP Variable"/>
                <a:ea typeface="Pretendard JP Variable"/>
                <a:cs typeface="Lato"/>
                <a:sym typeface="Lato"/>
              </a:rPr>
              <a:t>평가 모델링</a:t>
            </a:r>
            <a:endParaRPr sz="2400" b="1"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342" name="Google Shape;342;g2a47814ba0b_0_1270"/>
          <p:cNvSpPr/>
          <p:nvPr/>
        </p:nvSpPr>
        <p:spPr>
          <a:xfrm>
            <a:off x="15223525" y="377402"/>
            <a:ext cx="2917800" cy="416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d9ead3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latin typeface="Pretendard JP Variable"/>
                <a:ea typeface="Pretendard JP Variable"/>
                <a:cs typeface="Lato"/>
                <a:sym typeface="Lato"/>
              </a:rPr>
              <a:t>UI 및 작업 통합</a:t>
            </a:r>
            <a:endParaRPr sz="2400" b="1"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pic>
        <p:nvPicPr>
          <p:cNvPr id="343" name="Google Shape;343;g2a47814ba0b_0_1270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2a47814ba0b_0_1270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01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345" name="Google Shape;345;g2a47814ba0b_0_1270"/>
          <p:cNvSpPr txBox="1"/>
          <p:nvPr/>
        </p:nvSpPr>
        <p:spPr>
          <a:xfrm>
            <a:off x="1473200" y="387400"/>
            <a:ext cx="112413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프로젝트 일정</a:t>
            </a:r>
            <a:endParaRPr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43;g2a47814ba0b_0_1270"/>
          <p:cNvPicPr/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44;g2a47814ba0b_0_1270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ctr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en-US" sz="3700" b="0" i="0" u="none" strike="noStrike" kern="0" cap="none" spc="0" normalizeH="0" baseline="0" mc:Ignorable="hp" hp:hslEmbossed="0">
                <a:solidFill>
                  <a:srgbClr val="ffffff"/>
                </a:solidFill>
                <a:latin typeface="Pretendard JP Variable"/>
                <a:ea typeface="Pretendard JP Variable"/>
              </a:rPr>
              <a:t>01</a:t>
            </a:r>
            <a:endParaRPr xmlns:mc="http://schemas.openxmlformats.org/markup-compatibility/2006" xmlns:hp="http://schemas.haansoft.com/office/presentation/8.0" kumimoji="0" sz="14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6" name="Google Shape;345;g2a47814ba0b_0_1270"/>
          <p:cNvSpPr txBox="1"/>
          <p:nvPr/>
        </p:nvSpPr>
        <p:spPr>
          <a:xfrm>
            <a:off x="1473200" y="387400"/>
            <a:ext cx="112413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en-US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프로젝</a:t>
            </a:r>
            <a:r>
              <a: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트 팀원</a:t>
            </a:r>
            <a:r>
              <a:rPr xmlns:mc="http://schemas.openxmlformats.org/markup-compatibility/2006" xmlns:hp="http://schemas.haansoft.com/office/presentation/8.0" kumimoji="0" lang="en-US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담당업무 </a:t>
            </a:r>
            <a:r>
              <a:rPr xmlns:mc="http://schemas.openxmlformats.org/markup-compatibility/2006" xmlns:hp="http://schemas.haansoft.com/office/presentation/8.0" kumimoji="0" lang="en-US" altLang="ko-KR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(RnR)</a:t>
            </a:r>
            <a:endParaRPr xmlns:mc="http://schemas.openxmlformats.org/markup-compatibility/2006" xmlns:hp="http://schemas.haansoft.com/office/presentation/8.0" kumimoji="0" lang="en-US" altLang="ko-KR" sz="37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87666" y="2470150"/>
          <a:ext cx="14912668" cy="6646546"/>
        </p:xfrm>
        <a:graphic>
          <a:graphicData uri="http://schemas.openxmlformats.org/drawingml/2006/table">
            <a:tbl>
              <a:tblPr firstRow="1" bandRow="1"/>
              <a:tblGrid>
                <a:gridCol w="2337763"/>
                <a:gridCol w="12574905"/>
              </a:tblGrid>
              <a:tr h="2215515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 algn="ctr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sz="3600" b="1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 Black"/>
                          <a:ea typeface="Pretendard JP Variable Black"/>
                        </a:rPr>
                        <a:t>백지헌</a:t>
                      </a:r>
                      <a:endParaRPr xmlns:mc="http://schemas.openxmlformats.org/markup-compatibility/2006" xmlns:hp="http://schemas.haansoft.com/office/presentation/8.0" sz="3600" b="1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Pretendard JP Variable Black"/>
                        <a:ea typeface="Pretendard JP Variable Black"/>
                      </a:endParaRPr>
                    </a:p>
                    <a:p>
                      <a:pPr marL="0" lvl="0" indent="0" algn="ctr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3600" b="1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 Black"/>
                          <a:ea typeface="Pretendard JP Variable Black"/>
                        </a:rPr>
                        <a:t>(PM)</a:t>
                      </a:r>
                      <a:endParaRPr xmlns:mc="http://schemas.openxmlformats.org/markup-compatibility/2006" xmlns:hp="http://schemas.haansoft.com/office/presentation/8.0" lang="en-US" altLang="ko-KR" sz="3600" b="1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Pretendard JP Variable Black"/>
                        <a:ea typeface="Pretendard JP Variable Black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 algn="ctr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 텍스트 전처리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,</a:t>
                      </a:r>
                      <a:r>
                        <a:rPr xmlns:mc="http://schemas.openxmlformats.org/markup-compatibility/2006" xmlns:hp="http://schemas.haansoft.com/office/presentation/8.0" lang="ko-KR" altLang="en-US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LLM</a:t>
                      </a:r>
                      <a:r>
                        <a:rPr xmlns:mc="http://schemas.openxmlformats.org/markup-compatibility/2006" xmlns:hp="http://schemas.haansoft.com/office/presentation/8.0" lang="ko-KR" altLang="en-US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 프롬프트 엔지니어링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, </a:t>
                      </a: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워드클라우드</a:t>
                      </a:r>
                      <a:endParaRPr xmlns:mc="http://schemas.openxmlformats.org/markup-compatibility/2006" xmlns:hp="http://schemas.haansoft.com/office/presentation/8.0" lang="en-US" altLang="ko-KR" sz="36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Pretendard JP Variable"/>
                        <a:ea typeface="Pretendard JP Variable"/>
                      </a:endParaRPr>
                    </a:p>
                    <a:p>
                      <a:pPr marL="0" lvl="0" indent="0" algn="ctr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모델(A0,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B2,</a:t>
                      </a: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C) 파인튜닝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, </a:t>
                      </a: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최적화 알고리즘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,</a:t>
                      </a:r>
                      <a:r>
                        <a:rPr xmlns:mc="http://schemas.openxmlformats.org/markup-compatibility/2006" xmlns:hp="http://schemas.haansoft.com/office/presentation/8.0" lang="ko-KR" altLang="en-US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 발표</a:t>
                      </a:r>
                      <a:endParaRPr xmlns:mc="http://schemas.openxmlformats.org/markup-compatibility/2006" xmlns:hp="http://schemas.haansoft.com/office/presentation/8.0" lang="ko-KR" altLang="en-US" sz="36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40" marR="91440" anchor="ctr"/>
                </a:tc>
              </a:tr>
              <a:tr h="2215515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 algn="ctr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sz="3600" b="1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 Black"/>
                          <a:ea typeface="Pretendard JP Variable Black"/>
                        </a:rPr>
                        <a:t>김나연</a:t>
                      </a:r>
                      <a:endParaRPr lang="en-US" altLang="ko-KR" sz="3600" b="1">
                        <a:latin typeface="Pretendard JP Variable Black"/>
                        <a:ea typeface="Pretendard JP Variable Black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 algn="ctr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선행연구 조사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,</a:t>
                      </a:r>
                      <a:r>
                        <a:rPr xmlns:mc="http://schemas.openxmlformats.org/markup-compatibility/2006" xmlns:hp="http://schemas.haansoft.com/office/presentation/8.0" lang="ko-KR" altLang="en-US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텍스트 수집(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Selenium</a:t>
                      </a: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) 파이프라인,</a:t>
                      </a:r>
                      <a:endParaRPr xmlns:mc="http://schemas.openxmlformats.org/markup-compatibility/2006" xmlns:hp="http://schemas.haansoft.com/office/presentation/8.0" sz="36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Pretendard JP Variable"/>
                        <a:ea typeface="Pretendard JP Variable"/>
                      </a:endParaRPr>
                    </a:p>
                    <a:p>
                      <a:pPr marL="0" lvl="0" indent="0" algn="ctr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도메인 데이터 수</a:t>
                      </a:r>
                      <a:r>
                        <a:rPr xmlns:mc="http://schemas.openxmlformats.org/markup-compatibility/2006" xmlns:hp="http://schemas.haansoft.com/office/presentation/8.0" lang="ko-KR" altLang="en-US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집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,</a:t>
                      </a:r>
                      <a:r>
                        <a:rPr xmlns:mc="http://schemas.openxmlformats.org/markup-compatibility/2006" xmlns:hp="http://schemas.haansoft.com/office/presentation/8.0" lang="ko-KR" altLang="en-US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UX/UI</a:t>
                      </a:r>
                      <a:r>
                        <a:rPr xmlns:mc="http://schemas.openxmlformats.org/markup-compatibility/2006" xmlns:hp="http://schemas.haansoft.com/office/presentation/8.0" lang="ko-KR" altLang="en-US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 구현</a:t>
                      </a: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(Streamlit),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회계</a:t>
                      </a:r>
                      <a:endParaRPr xmlns:mc="http://schemas.openxmlformats.org/markup-compatibility/2006" xmlns:hp="http://schemas.haansoft.com/office/presentation/8.0" sz="36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40" marR="91440" anchor="ctr"/>
                </a:tc>
              </a:tr>
              <a:tr h="2215515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 algn="ctr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sz="3600" b="1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 Black"/>
                          <a:ea typeface="Pretendard JP Variable Black"/>
                        </a:rPr>
                        <a:t>장한재</a:t>
                      </a:r>
                      <a:endParaRPr lang="en-US" altLang="ko-KR" sz="3600" b="1">
                        <a:latin typeface="Pretendard JP Variable Black"/>
                        <a:ea typeface="Pretendard JP Variable Black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 algn="ctr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텍스트 라벨링(OpenAI API) 파이프라인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,</a:t>
                      </a:r>
                      <a:endParaRPr xmlns:mc="http://schemas.openxmlformats.org/markup-compatibility/2006" xmlns:hp="http://schemas.haansoft.com/office/presentation/8.0" lang="en-US" altLang="ko-KR" sz="36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Pretendard JP Variable"/>
                        <a:ea typeface="Pretendard JP Variable"/>
                      </a:endParaRPr>
                    </a:p>
                    <a:p>
                      <a:pPr marL="0" lvl="0" indent="0" algn="ctr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모델(A2,A3,B1) 파인튜닝</a:t>
                      </a:r>
                      <a:r>
                        <a:rPr xmlns:mc="http://schemas.openxmlformats.org/markup-compatibility/2006" xmlns:hp="http://schemas.haansoft.com/office/presentation/8.0" lang="en-US" altLang="ko-KR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,</a:t>
                      </a:r>
                      <a:r>
                        <a:rPr xmlns:mc="http://schemas.openxmlformats.org/markup-compatibility/2006" xmlns:hp="http://schemas.haansoft.com/office/presentation/8.0" lang="ko-KR" altLang="en-US" sz="36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retendard JP Variable"/>
                          <a:ea typeface="Pretendard JP Variable"/>
                        </a:rPr>
                        <a:t> 사용성 평가</a:t>
                      </a:r>
                      <a:endParaRPr xmlns:mc="http://schemas.openxmlformats.org/markup-compatibility/2006" xmlns:hp="http://schemas.haansoft.com/office/presentation/8.0" lang="ko-KR" altLang="en-US" sz="36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Pretendard JP Variable"/>
                        <a:ea typeface="Pretendard JP Variable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g2a47814ba0b_0_300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2a47814ba0b_0_300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595629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2a47814ba0b_0_300"/>
          <p:cNvSpPr txBox="1"/>
          <p:nvPr/>
        </p:nvSpPr>
        <p:spPr>
          <a:xfrm>
            <a:off x="353725" y="7404000"/>
            <a:ext cx="17090248" cy="265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20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2. 데이터 수집</a:t>
            </a:r>
            <a:r>
              <a:rPr lang="en-US" altLang="ko-KR" sz="120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</a:t>
            </a:r>
            <a:r>
              <a:rPr lang="ko-KR" altLang="en-US" sz="120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및 전처리</a:t>
            </a:r>
            <a:endParaRPr lang="ko-KR" altLang="en-US" sz="12000" b="1">
              <a:solidFill>
                <a:srgbClr val="3f537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g2a47814ba0b_0_807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2a47814ba0b_0_807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73050" y="243057"/>
            <a:ext cx="17741900" cy="980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2a47814ba0b_0_807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2a47814ba0b_0_807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</a:endParaRPr>
          </a:p>
        </p:txBody>
      </p:sp>
      <p:grpSp>
        <p:nvGrpSpPr>
          <p:cNvPr id="361" name="Google Shape;361;g2a47814ba0b_0_807"/>
          <p:cNvGrpSpPr/>
          <p:nvPr/>
        </p:nvGrpSpPr>
        <p:grpSpPr>
          <a:xfrm rot="0">
            <a:off x="2329335" y="1997607"/>
            <a:ext cx="13987897" cy="7797936"/>
            <a:chOff x="1431225" y="1359000"/>
            <a:chExt cx="15425559" cy="8599400"/>
          </a:xfrm>
        </p:grpSpPr>
        <p:pic>
          <p:nvPicPr>
            <p:cNvPr id="362" name="Google Shape;362;g2a47814ba0b_0_807"/>
            <p:cNvPicPr/>
            <p:nvPr/>
          </p:nvPicPr>
          <p:blipFill rotWithShape="1">
            <a:blip r:embed="rId6">
              <a:alphaModFix/>
            </a:blip>
            <a:srcRect/>
            <a:stretch>
              <a:fillRect/>
            </a:stretch>
          </p:blipFill>
          <p:spPr>
            <a:xfrm>
              <a:off x="1431225" y="1359000"/>
              <a:ext cx="15425559" cy="859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g2a47814ba0b_0_807"/>
            <p:cNvPicPr/>
            <p:nvPr/>
          </p:nvPicPr>
          <p:blipFill rotWithShape="1">
            <a:blip r:embed="rId7">
              <a:alphaModFix/>
            </a:blip>
            <a:srcRect t="33670" b="33170"/>
            <a:stretch>
              <a:fillRect/>
            </a:stretch>
          </p:blipFill>
          <p:spPr>
            <a:xfrm>
              <a:off x="2183852" y="5716336"/>
              <a:ext cx="1299974" cy="44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g2a47814ba0b_0_807"/>
            <p:cNvPicPr/>
            <p:nvPr/>
          </p:nvPicPr>
          <p:blipFill rotWithShape="1">
            <a:blip r:embed="rId8">
              <a:alphaModFix/>
            </a:blip>
            <a:srcRect/>
            <a:stretch>
              <a:fillRect/>
            </a:stretch>
          </p:blipFill>
          <p:spPr>
            <a:xfrm>
              <a:off x="3649901" y="5678796"/>
              <a:ext cx="428370" cy="44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g2a47814ba0b_0_807"/>
            <p:cNvPicPr/>
            <p:nvPr/>
          </p:nvPicPr>
          <p:blipFill rotWithShape="1">
            <a:blip r:embed="rId9">
              <a:alphaModFix/>
            </a:blip>
            <a:srcRect/>
            <a:stretch>
              <a:fillRect/>
            </a:stretch>
          </p:blipFill>
          <p:spPr>
            <a:xfrm>
              <a:off x="3462343" y="3935409"/>
              <a:ext cx="1109667" cy="44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g2a47814ba0b_0_807"/>
            <p:cNvPicPr/>
            <p:nvPr/>
          </p:nvPicPr>
          <p:blipFill rotWithShape="1">
            <a:blip r:embed="rId10">
              <a:alphaModFix/>
            </a:blip>
            <a:srcRect/>
            <a:stretch>
              <a:fillRect/>
            </a:stretch>
          </p:blipFill>
          <p:spPr>
            <a:xfrm>
              <a:off x="2183850" y="2302225"/>
              <a:ext cx="428376" cy="464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g2a47814ba0b_0_807"/>
            <p:cNvPicPr/>
            <p:nvPr/>
          </p:nvPicPr>
          <p:blipFill rotWithShape="1">
            <a:blip r:embed="rId11">
              <a:alphaModFix/>
            </a:blip>
            <a:srcRect/>
            <a:stretch>
              <a:fillRect/>
            </a:stretch>
          </p:blipFill>
          <p:spPr>
            <a:xfrm>
              <a:off x="3462350" y="2377313"/>
              <a:ext cx="1109650" cy="314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g2a47814ba0b_0_807"/>
            <p:cNvPicPr/>
            <p:nvPr/>
          </p:nvPicPr>
          <p:blipFill rotWithShape="1">
            <a:blip r:embed="rId12">
              <a:alphaModFix/>
            </a:blip>
            <a:srcRect/>
            <a:stretch>
              <a:fillRect/>
            </a:stretch>
          </p:blipFill>
          <p:spPr>
            <a:xfrm>
              <a:off x="12786574" y="9377567"/>
              <a:ext cx="952499" cy="5808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g2a47814ba0b_0_807"/>
            <p:cNvPicPr/>
            <p:nvPr/>
          </p:nvPicPr>
          <p:blipFill rotWithShape="1">
            <a:blip r:embed="rId13">
              <a:alphaModFix/>
            </a:blip>
            <a:srcRect t="33670" b="33170"/>
            <a:stretch>
              <a:fillRect/>
            </a:stretch>
          </p:blipFill>
          <p:spPr>
            <a:xfrm>
              <a:off x="5193727" y="5716336"/>
              <a:ext cx="1299974" cy="44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g2a47814ba0b_0_807"/>
            <p:cNvPicPr/>
            <p:nvPr/>
          </p:nvPicPr>
          <p:blipFill rotWithShape="1">
            <a:blip r:embed="rId14">
              <a:alphaModFix/>
            </a:blip>
            <a:srcRect t="33670" b="33170"/>
            <a:stretch>
              <a:fillRect/>
            </a:stretch>
          </p:blipFill>
          <p:spPr>
            <a:xfrm>
              <a:off x="11693452" y="4249598"/>
              <a:ext cx="1299974" cy="44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g2a47814ba0b_0_807"/>
            <p:cNvPicPr/>
            <p:nvPr/>
          </p:nvPicPr>
          <p:blipFill rotWithShape="1">
            <a:blip r:embed="rId15">
              <a:alphaModFix/>
            </a:blip>
            <a:srcRect/>
            <a:stretch>
              <a:fillRect/>
            </a:stretch>
          </p:blipFill>
          <p:spPr>
            <a:xfrm>
              <a:off x="6624951" y="5678808"/>
              <a:ext cx="428370" cy="44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g2a47814ba0b_0_807"/>
            <p:cNvPicPr/>
            <p:nvPr/>
          </p:nvPicPr>
          <p:blipFill rotWithShape="1">
            <a:blip r:embed="rId16">
              <a:alphaModFix/>
            </a:blip>
            <a:srcRect/>
            <a:stretch>
              <a:fillRect/>
            </a:stretch>
          </p:blipFill>
          <p:spPr>
            <a:xfrm>
              <a:off x="13091726" y="4249596"/>
              <a:ext cx="428370" cy="44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g2a47814ba0b_0_807"/>
            <p:cNvPicPr/>
            <p:nvPr/>
          </p:nvPicPr>
          <p:blipFill rotWithShape="1">
            <a:blip r:embed="rId17">
              <a:alphaModFix/>
            </a:blip>
            <a:srcRect/>
            <a:stretch>
              <a:fillRect/>
            </a:stretch>
          </p:blipFill>
          <p:spPr>
            <a:xfrm>
              <a:off x="5194425" y="2302225"/>
              <a:ext cx="428375" cy="464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g2a47814ba0b_0_807"/>
            <p:cNvPicPr/>
            <p:nvPr/>
          </p:nvPicPr>
          <p:blipFill rotWithShape="1">
            <a:blip r:embed="rId18">
              <a:alphaModFix/>
            </a:blip>
            <a:srcRect/>
            <a:stretch>
              <a:fillRect/>
            </a:stretch>
          </p:blipFill>
          <p:spPr>
            <a:xfrm>
              <a:off x="8273050" y="2302225"/>
              <a:ext cx="428376" cy="464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g2a47814ba0b_0_807"/>
            <p:cNvPicPr/>
            <p:nvPr/>
          </p:nvPicPr>
          <p:blipFill rotWithShape="1">
            <a:blip r:embed="rId19">
              <a:alphaModFix/>
            </a:blip>
            <a:srcRect/>
            <a:stretch>
              <a:fillRect/>
            </a:stretch>
          </p:blipFill>
          <p:spPr>
            <a:xfrm>
              <a:off x="14362250" y="2227125"/>
              <a:ext cx="428376" cy="464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g2a47814ba0b_0_807"/>
            <p:cNvPicPr/>
            <p:nvPr/>
          </p:nvPicPr>
          <p:blipFill rotWithShape="1">
            <a:blip r:embed="rId20">
              <a:alphaModFix/>
            </a:blip>
            <a:srcRect/>
            <a:stretch>
              <a:fillRect/>
            </a:stretch>
          </p:blipFill>
          <p:spPr>
            <a:xfrm>
              <a:off x="9460968" y="7370534"/>
              <a:ext cx="1109667" cy="44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g2a47814ba0b_0_807"/>
            <p:cNvPicPr/>
            <p:nvPr/>
          </p:nvPicPr>
          <p:blipFill rotWithShape="1">
            <a:blip r:embed="rId21">
              <a:alphaModFix/>
            </a:blip>
            <a:stretch>
              <a:fillRect/>
            </a:stretch>
          </p:blipFill>
          <p:spPr>
            <a:xfrm>
              <a:off x="11478450" y="7370513"/>
              <a:ext cx="854756" cy="314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g2a47814ba0b_0_807"/>
            <p:cNvPicPr/>
            <p:nvPr/>
          </p:nvPicPr>
          <p:blipFill rotWithShape="1">
            <a:blip r:embed="rId22">
              <a:alphaModFix/>
            </a:blip>
            <a:stretch>
              <a:fillRect/>
            </a:stretch>
          </p:blipFill>
          <p:spPr>
            <a:xfrm>
              <a:off x="12786575" y="7370537"/>
              <a:ext cx="1182025" cy="761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g2a47814ba0b_0_807"/>
            <p:cNvPicPr/>
            <p:nvPr/>
          </p:nvPicPr>
          <p:blipFill rotWithShape="1">
            <a:blip r:embed="rId23">
              <a:alphaModFix/>
            </a:blip>
            <a:srcRect/>
            <a:stretch>
              <a:fillRect/>
            </a:stretch>
          </p:blipFill>
          <p:spPr>
            <a:xfrm>
              <a:off x="9365468" y="9114784"/>
              <a:ext cx="1109667" cy="44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" name="Google Shape;380;g2a47814ba0b_0_807"/>
            <p:cNvPicPr/>
            <p:nvPr/>
          </p:nvPicPr>
          <p:blipFill rotWithShape="1">
            <a:blip r:embed="rId24">
              <a:alphaModFix/>
            </a:blip>
            <a:srcRect/>
            <a:stretch>
              <a:fillRect/>
            </a:stretch>
          </p:blipFill>
          <p:spPr>
            <a:xfrm>
              <a:off x="3497506" y="9114784"/>
              <a:ext cx="1109667" cy="44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g2a47814ba0b_0_807"/>
            <p:cNvPicPr/>
            <p:nvPr/>
          </p:nvPicPr>
          <p:blipFill rotWithShape="1">
            <a:blip r:embed="rId25">
              <a:alphaModFix/>
            </a:blip>
            <a:stretch>
              <a:fillRect/>
            </a:stretch>
          </p:blipFill>
          <p:spPr>
            <a:xfrm>
              <a:off x="1917123" y="3951608"/>
              <a:ext cx="1299524" cy="4615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g2a47814ba0b_0_807"/>
            <p:cNvPicPr/>
            <p:nvPr/>
          </p:nvPicPr>
          <p:blipFill rotWithShape="1">
            <a:blip r:embed="rId26">
              <a:alphaModFix/>
            </a:blip>
            <a:stretch>
              <a:fillRect/>
            </a:stretch>
          </p:blipFill>
          <p:spPr>
            <a:xfrm>
              <a:off x="2107648" y="9108533"/>
              <a:ext cx="1299524" cy="4615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g2a47814ba0b_0_807"/>
            <p:cNvPicPr/>
            <p:nvPr/>
          </p:nvPicPr>
          <p:blipFill rotWithShape="1">
            <a:blip r:embed="rId27">
              <a:alphaModFix/>
            </a:blip>
            <a:srcRect/>
            <a:stretch>
              <a:fillRect/>
            </a:stretch>
          </p:blipFill>
          <p:spPr>
            <a:xfrm>
              <a:off x="8189925" y="9182026"/>
              <a:ext cx="1109650" cy="314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g2a47814ba0b_0_807"/>
            <p:cNvPicPr/>
            <p:nvPr/>
          </p:nvPicPr>
          <p:blipFill rotWithShape="1">
            <a:blip r:embed="rId28">
              <a:alphaModFix/>
            </a:blip>
            <a:srcRect/>
            <a:stretch>
              <a:fillRect/>
            </a:stretch>
          </p:blipFill>
          <p:spPr>
            <a:xfrm>
              <a:off x="8273049" y="7251513"/>
              <a:ext cx="1054200" cy="552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g2a47814ba0b_0_807"/>
            <p:cNvPicPr/>
            <p:nvPr/>
          </p:nvPicPr>
          <p:blipFill rotWithShape="1">
            <a:blip r:embed="rId29">
              <a:alphaModFix/>
            </a:blip>
            <a:srcRect t="33670" b="33170"/>
            <a:stretch>
              <a:fillRect/>
            </a:stretch>
          </p:blipFill>
          <p:spPr>
            <a:xfrm>
              <a:off x="7942365" y="5626273"/>
              <a:ext cx="1299974" cy="44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g2a47814ba0b_0_807"/>
            <p:cNvPicPr/>
            <p:nvPr/>
          </p:nvPicPr>
          <p:blipFill rotWithShape="1">
            <a:blip r:embed="rId30">
              <a:alphaModFix/>
            </a:blip>
            <a:srcRect/>
            <a:stretch>
              <a:fillRect/>
            </a:stretch>
          </p:blipFill>
          <p:spPr>
            <a:xfrm>
              <a:off x="9475913" y="5626271"/>
              <a:ext cx="428370" cy="449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g2a47814ba0b_0_807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2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388" name="Google Shape;388;g2a47814ba0b_0_807"/>
          <p:cNvSpPr txBox="1"/>
          <p:nvPr/>
        </p:nvSpPr>
        <p:spPr>
          <a:xfrm>
            <a:off x="1473200" y="355600"/>
            <a:ext cx="6143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데이터 수집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389" name="Google Shape;282;g2a47814ba0b_0_1008"/>
          <p:cNvSpPr txBox="1"/>
          <p:nvPr/>
        </p:nvSpPr>
        <p:spPr>
          <a:xfrm>
            <a:off x="1122384" y="1244177"/>
            <a:ext cx="9097879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700" b="1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전체 파이프라인</a:t>
            </a:r>
            <a:endParaRPr xmlns:mc="http://schemas.openxmlformats.org/markup-compatibility/2006" xmlns:hp="http://schemas.haansoft.com/office/presentation/8.0" kumimoji="0" lang="ko-KR" altLang="en-US" sz="3700" b="1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g2a47814ba0b_0_33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2a47814ba0b_0_33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2a47814ba0b_0_336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2971800" y="1917700"/>
            <a:ext cx="12331699" cy="1905000"/>
          </a:xfrm>
          <a:prstGeom prst="rect">
            <a:avLst/>
          </a:prstGeom>
          <a:noFill/>
          <a:ln>
            <a:noFill/>
          </a:ln>
          <a:effectLst>
            <a:outerShdw dist="190500" dir="2700000">
              <a:srgbClr val="000000">
                <a:alpha val="32940"/>
              </a:srgbClr>
            </a:outerShdw>
          </a:effectLst>
        </p:spPr>
      </p:pic>
      <p:pic>
        <p:nvPicPr>
          <p:cNvPr id="396" name="Google Shape;396;g2a47814ba0b_0_336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2a47814ba0b_0_33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2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398" name="Google Shape;398;g2a47814ba0b_0_336"/>
          <p:cNvSpPr txBox="1"/>
          <p:nvPr/>
        </p:nvSpPr>
        <p:spPr>
          <a:xfrm>
            <a:off x="1473200" y="355600"/>
            <a:ext cx="6143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데이터 수집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399" name="Google Shape;399;g2a47814ba0b_0_336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3365500" y="7747000"/>
            <a:ext cx="11569701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g2a47814ba0b_0_336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6553200" y="4495800"/>
            <a:ext cx="5181600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2a47814ba0b_0_336"/>
          <p:cNvPicPr/>
          <p:nvPr/>
        </p:nvPicPr>
        <p:blipFill rotWithShape="1">
          <a:blip r:embed="rId9">
            <a:alphaModFix/>
          </a:blip>
          <a:srcRect/>
          <a:stretch>
            <a:fillRect/>
          </a:stretch>
        </p:blipFill>
        <p:spPr>
          <a:xfrm>
            <a:off x="1498600" y="6248400"/>
            <a:ext cx="4864100" cy="29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2a47814ba0b_0_336"/>
          <p:cNvPicPr/>
          <p:nvPr/>
        </p:nvPicPr>
        <p:blipFill rotWithShape="1">
          <a:blip r:embed="rId10">
            <a:alphaModFix/>
          </a:blip>
          <a:srcRect/>
          <a:stretch>
            <a:fillRect/>
          </a:stretch>
        </p:blipFill>
        <p:spPr>
          <a:xfrm rot="5400000">
            <a:off x="8636000" y="6350000"/>
            <a:ext cx="10287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2a47814ba0b_0_336"/>
          <p:cNvSpPr txBox="1"/>
          <p:nvPr/>
        </p:nvSpPr>
        <p:spPr>
          <a:xfrm>
            <a:off x="7616375" y="4660900"/>
            <a:ext cx="3813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200" b="1">
                <a:latin typeface="Pretendard JP Variable"/>
                <a:ea typeface="Pretendard JP Variable"/>
                <a:cs typeface="Calibri"/>
                <a:sym typeface="Calibri"/>
              </a:rPr>
              <a:t>텍스트 데이터 수집</a:t>
            </a:r>
            <a:endParaRPr sz="900" b="1">
              <a:latin typeface="Pretendard JP Variable"/>
              <a:ea typeface="Pretendard JP Variable"/>
            </a:endParaRPr>
          </a:p>
        </p:txBody>
      </p:sp>
      <p:pic>
        <p:nvPicPr>
          <p:cNvPr id="404" name="Google Shape;404;g2a47814ba0b_0_336"/>
          <p:cNvPicPr/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6718300" y="6248400"/>
            <a:ext cx="4851401" cy="29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2a47814ba0b_0_336"/>
          <p:cNvPicPr/>
          <p:nvPr/>
        </p:nvPicPr>
        <p:blipFill rotWithShape="1">
          <a:blip r:embed="rId12">
            <a:alphaModFix/>
          </a:blip>
          <a:srcRect/>
          <a:stretch>
            <a:fillRect/>
          </a:stretch>
        </p:blipFill>
        <p:spPr>
          <a:xfrm>
            <a:off x="11938000" y="6248400"/>
            <a:ext cx="4864100" cy="29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2a47814ba0b_0_336"/>
          <p:cNvSpPr txBox="1"/>
          <p:nvPr/>
        </p:nvSpPr>
        <p:spPr>
          <a:xfrm>
            <a:off x="1816100" y="8063450"/>
            <a:ext cx="4216500" cy="72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342900" marR="0" lvl="0" indent="-34290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100">
                <a:latin typeface="Pretendard JP Variable"/>
                <a:ea typeface="Pretendard JP Variable"/>
                <a:cs typeface="Calibri"/>
                <a:sym typeface="Calibri"/>
              </a:rPr>
              <a:t>네이버뉴스에서 각 기업 별 </a:t>
            </a:r>
            <a:endParaRPr lang="en-US" sz="21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100">
                <a:latin typeface="Pretendard JP Variable"/>
                <a:ea typeface="Pretendard JP Variable"/>
                <a:cs typeface="Calibri"/>
                <a:sym typeface="Calibri"/>
              </a:rPr>
              <a:t>법인명을 키워드로 하여 크롤링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407" name="Google Shape;407;g2a47814ba0b_0_336"/>
          <p:cNvSpPr txBox="1"/>
          <p:nvPr/>
        </p:nvSpPr>
        <p:spPr>
          <a:xfrm>
            <a:off x="7035800" y="6718300"/>
            <a:ext cx="4216500" cy="16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342900" marR="0" lvl="0" indent="-34290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100">
                <a:latin typeface="Pretendard JP Variable"/>
                <a:ea typeface="Pretendard JP Variable"/>
                <a:cs typeface="Calibri"/>
                <a:sym typeface="Calibri"/>
              </a:rPr>
              <a:t>각 기업에서 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408" name="Google Shape;408;g2a47814ba0b_0_336"/>
          <p:cNvSpPr txBox="1"/>
          <p:nvPr/>
        </p:nvSpPr>
        <p:spPr>
          <a:xfrm>
            <a:off x="3378200" y="2197100"/>
            <a:ext cx="11518800" cy="13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205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각 기업의 ESG 이슈 관련 기사 수집</a:t>
            </a:r>
            <a:endParaRPr lang="en-US" sz="37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900">
                <a:solidFill>
                  <a:schemeClr val="dk1"/>
                </a:solidFill>
                <a:latin typeface="Pretendard JP Variable"/>
                <a:ea typeface="Pretendard JP Variable"/>
              </a:rPr>
              <a:t>KOSPI 각 산업군별 시총 상위 4~5개사 (총 68개사)의 5개년 기사</a:t>
            </a:r>
            <a:endParaRPr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409" name="Google Shape;409;g2a47814ba0b_0_336"/>
          <p:cNvSpPr txBox="1"/>
          <p:nvPr/>
        </p:nvSpPr>
        <p:spPr>
          <a:xfrm>
            <a:off x="7331600" y="5334000"/>
            <a:ext cx="4047600" cy="3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100">
                <a:latin typeface="Pretendard JP Variable"/>
                <a:ea typeface="Pretendard JP Variable"/>
                <a:cs typeface="Calibri"/>
                <a:sym typeface="Calibri"/>
              </a:rPr>
              <a:t>Selenium 라이브러리 활용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410" name="Google Shape;410;g2a47814ba0b_0_336"/>
          <p:cNvSpPr txBox="1"/>
          <p:nvPr/>
        </p:nvSpPr>
        <p:spPr>
          <a:xfrm>
            <a:off x="12255400" y="7834550"/>
            <a:ext cx="4216500" cy="12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342900" marR="0" lvl="0" indent="-34290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100">
                <a:latin typeface="Pretendard JP Variable"/>
                <a:ea typeface="Pretendard JP Variable"/>
                <a:cs typeface="Calibri"/>
                <a:sym typeface="Calibri"/>
              </a:rPr>
              <a:t>수집 완료된 텍스트 데이터를</a:t>
            </a:r>
            <a:endParaRPr lang="en-US" sz="21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100">
                <a:latin typeface="Pretendard JP Variable"/>
                <a:ea typeface="Pretendard JP Variable"/>
                <a:cs typeface="Calibri"/>
                <a:sym typeface="Calibri"/>
              </a:rPr>
              <a:t>전처리 후 Mongo DB에 적재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411" name="Google Shape;411;g2a47814ba0b_0_336"/>
          <p:cNvPicPr/>
          <p:nvPr/>
        </p:nvPicPr>
        <p:blipFill rotWithShape="1">
          <a:blip r:embed="rId13">
            <a:alphaModFix/>
          </a:blip>
          <a:srcRect/>
          <a:stretch>
            <a:fillRect/>
          </a:stretch>
        </p:blipFill>
        <p:spPr>
          <a:xfrm>
            <a:off x="6794500" y="4665862"/>
            <a:ext cx="821884" cy="891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2a47814ba0b_0_336"/>
          <p:cNvPicPr/>
          <p:nvPr/>
        </p:nvPicPr>
        <p:blipFill rotWithShape="1">
          <a:blip r:embed="rId14">
            <a:alphaModFix/>
          </a:blip>
          <a:srcRect/>
          <a:stretch>
            <a:fillRect/>
          </a:stretch>
        </p:blipFill>
        <p:spPr>
          <a:xfrm>
            <a:off x="12331600" y="6705510"/>
            <a:ext cx="4216499" cy="1195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2a47814ba0b_0_336"/>
          <p:cNvPicPr/>
          <p:nvPr/>
        </p:nvPicPr>
        <p:blipFill rotWithShape="1">
          <a:blip r:embed="rId15">
            <a:alphaModFix/>
          </a:blip>
          <a:stretch>
            <a:fillRect/>
          </a:stretch>
        </p:blipFill>
        <p:spPr>
          <a:xfrm>
            <a:off x="2059172" y="6794500"/>
            <a:ext cx="3813600" cy="72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2a47814ba0b_0_336"/>
          <p:cNvPicPr/>
          <p:nvPr/>
        </p:nvPicPr>
        <p:blipFill rotWithShape="1">
          <a:blip r:embed="rId16">
            <a:alphaModFix/>
          </a:blip>
          <a:srcRect t="33590" b="32560"/>
          <a:stretch>
            <a:fillRect/>
          </a:stretch>
        </p:blipFill>
        <p:spPr>
          <a:xfrm>
            <a:off x="6950574" y="6476900"/>
            <a:ext cx="4352425" cy="1473388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2a47814ba0b_0_336"/>
          <p:cNvSpPr txBox="1"/>
          <p:nvPr/>
        </p:nvSpPr>
        <p:spPr>
          <a:xfrm>
            <a:off x="6877050" y="8086250"/>
            <a:ext cx="4552800" cy="72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342900" marR="0" lvl="0" indent="-34290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100">
                <a:latin typeface="Pretendard JP Variable"/>
                <a:ea typeface="Pretendard JP Variable"/>
                <a:cs typeface="Calibri"/>
                <a:sym typeface="Calibri"/>
              </a:rPr>
              <a:t>각 기업별 전자공시의 ESG 정보와</a:t>
            </a:r>
            <a:endParaRPr lang="en-US" sz="21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100">
                <a:latin typeface="Pretendard JP Variable"/>
                <a:ea typeface="Pretendard JP Variable"/>
                <a:cs typeface="Calibri"/>
                <a:sym typeface="Calibri"/>
              </a:rPr>
              <a:t>기업별 ESG 연간 보고서 자료 수집</a:t>
            </a:r>
            <a:endParaRPr>
              <a:latin typeface="Pretendard JP Variable"/>
              <a:ea typeface="Pretendard JP Variab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g2a47814ba0b_0_1350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2a47814ba0b_0_1350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2a47814ba0b_0_1350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2a47814ba0b_0_1350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2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424" name="Google Shape;424;g2a47814ba0b_0_1350"/>
          <p:cNvSpPr txBox="1"/>
          <p:nvPr/>
        </p:nvSpPr>
        <p:spPr>
          <a:xfrm>
            <a:off x="1473200" y="355600"/>
            <a:ext cx="6143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데이터 전처리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425" name="Google Shape;425;g2a47814ba0b_0_1350"/>
          <p:cNvSpPr txBox="1"/>
          <p:nvPr/>
        </p:nvSpPr>
        <p:spPr>
          <a:xfrm>
            <a:off x="1219200" y="2231600"/>
            <a:ext cx="15599100" cy="5818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457200" lvl="0" indent="-419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 Black"/>
                <a:ea typeface="Pretendard JP Variable Black"/>
                <a:cs typeface="굴림"/>
                <a:sym typeface="굴림"/>
              </a:rPr>
              <a:t> 기사내용 텍스트 전처리</a:t>
            </a:r>
            <a:endParaRPr lang="en-US" sz="3000">
              <a:solidFill>
                <a:schemeClr val="dk1"/>
              </a:solidFill>
              <a:latin typeface="Pretendard JP Variable Black"/>
              <a:ea typeface="Pretendard JP Variable Black"/>
              <a:cs typeface="굴림"/>
              <a:sym typeface="굴림"/>
            </a:endParaRPr>
          </a:p>
          <a:p>
            <a:pPr marL="914400" lvl="1" indent="-419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Variable"/>
                <a:ea typeface="Pretendard Variable"/>
                <a:cs typeface="굴림"/>
                <a:sym typeface="굴림"/>
              </a:rPr>
              <a:t>메타 정보 제거 (기자의 이름, 이메일, 언론사명, 언론사 홍보 문구 등)</a:t>
            </a:r>
            <a:endParaRPr lang="en-US" sz="3000">
              <a:solidFill>
                <a:schemeClr val="dk1"/>
              </a:solidFill>
              <a:latin typeface="Pretendard Variable"/>
              <a:ea typeface="Pretendard Variable"/>
              <a:cs typeface="굴림"/>
              <a:sym typeface="굴림"/>
            </a:endParaRPr>
          </a:p>
          <a:p>
            <a:pPr marL="914400" lvl="1" indent="-419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Variable"/>
                <a:ea typeface="Pretendard Variable"/>
                <a:cs typeface="굴림"/>
                <a:sym typeface="굴림"/>
              </a:rPr>
              <a:t>수집한 기사에서 NLP 도구로 불필요한 기사 텍스트 제거</a:t>
            </a:r>
            <a:endParaRPr lang="en-US" sz="3000">
              <a:solidFill>
                <a:schemeClr val="dk1"/>
              </a:solidFill>
              <a:latin typeface="Pretendard Variable"/>
              <a:ea typeface="Pretendard Variable"/>
              <a:cs typeface="굴림"/>
              <a:sym typeface="굴림"/>
            </a:endParaRPr>
          </a:p>
          <a:p>
            <a:pPr marL="91440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 sz="3000">
              <a:solidFill>
                <a:schemeClr val="dk1"/>
              </a:solidFill>
              <a:latin typeface="Pretendard Variable"/>
              <a:ea typeface="Pretendard Variable"/>
              <a:cs typeface="굴림"/>
              <a:sym typeface="굴림"/>
            </a:endParaRPr>
          </a:p>
          <a:p>
            <a:pPr marL="457200" lvl="0" indent="-419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 Black"/>
                <a:ea typeface="Pretendard JP Variable Black"/>
                <a:cs typeface="굴림"/>
                <a:sym typeface="굴림"/>
              </a:rPr>
              <a:t> 기업명 텍스트 전처리</a:t>
            </a:r>
            <a:endParaRPr lang="en-US" sz="3000">
              <a:solidFill>
                <a:schemeClr val="dk1"/>
              </a:solidFill>
              <a:latin typeface="Pretendard JP Variable Black"/>
              <a:ea typeface="Pretendard JP Variable Black"/>
              <a:cs typeface="굴림"/>
              <a:sym typeface="굴림"/>
            </a:endParaRPr>
          </a:p>
          <a:p>
            <a:pPr marL="914400" lvl="1" indent="-419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Variable"/>
                <a:ea typeface="Pretendard Variable"/>
                <a:cs typeface="굴림"/>
                <a:sym typeface="굴림"/>
              </a:rPr>
              <a:t>상장사명 기준 단일화 (’에스케이하이닉스’,’SK하닉’ -&gt; ‘SK하이닉스’)</a:t>
            </a:r>
            <a:endParaRPr lang="en-US" sz="3000">
              <a:solidFill>
                <a:schemeClr val="dk1"/>
              </a:solidFill>
              <a:latin typeface="Pretendard Variable"/>
              <a:ea typeface="Pretendard Variable"/>
              <a:cs typeface="굴림"/>
              <a:sym typeface="굴림"/>
            </a:endParaRPr>
          </a:p>
          <a:p>
            <a:pPr marL="914400" lvl="1" indent="-419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Variable"/>
                <a:ea typeface="Pretendard Variable"/>
                <a:cs typeface="굴림"/>
                <a:sym typeface="굴림"/>
              </a:rPr>
              <a:t>기업명 임베딩이 평가에 편향을 주지 않도록 기업명 익명화 (X사, Y사...)</a:t>
            </a:r>
            <a:r>
              <a:rPr lang="en-US" sz="3000">
                <a:solidFill>
                  <a:schemeClr val="dk1"/>
                </a:solidFill>
                <a:latin typeface="Pretendard Variable"/>
                <a:ea typeface="Pretendard Variable"/>
                <a:cs typeface="굴림"/>
                <a:sym typeface="굴림"/>
              </a:rPr>
              <a:t>	</a:t>
            </a:r>
            <a:endParaRPr lang="en-US" sz="3000">
              <a:solidFill>
                <a:schemeClr val="dk1"/>
              </a:solidFill>
              <a:latin typeface="Pretendard Variable"/>
              <a:ea typeface="Pretendard Variable"/>
              <a:cs typeface="굴림"/>
              <a:sym typeface="굴림"/>
            </a:endParaRPr>
          </a:p>
          <a:p>
            <a:pPr marL="914400" lvl="1" indent="-419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Variable"/>
                <a:ea typeface="Pretendard Variable"/>
                <a:cs typeface="굴림"/>
                <a:sym typeface="굴림"/>
              </a:rPr>
              <a:t>기업명 언급 빈도를 바탕으로 해당 기업을 다루지 않는 부적합한 기사를 필터링 </a:t>
            </a:r>
            <a:endParaRPr sz="3000">
              <a:latin typeface="Pretendard Variable"/>
              <a:ea typeface="Pretendard Variab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g2a47814ba0b_0_782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g2a47814ba0b_0_782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2a47814ba0b_0_782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2a47814ba0b_0_782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2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434" name="Google Shape;434;g2a47814ba0b_0_782"/>
          <p:cNvSpPr txBox="1"/>
          <p:nvPr/>
        </p:nvSpPr>
        <p:spPr>
          <a:xfrm>
            <a:off x="1473200" y="355600"/>
            <a:ext cx="61530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수집완료된 데이터셋</a:t>
            </a:r>
            <a:endParaRPr>
              <a:latin typeface="Pretendard JP Variable"/>
              <a:ea typeface="Pretendard JP Variable"/>
            </a:endParaRPr>
          </a:p>
        </p:txBody>
      </p:sp>
      <p:grpSp>
        <p:nvGrpSpPr>
          <p:cNvPr id="435" name="Google Shape;435;g2a47814ba0b_0_782"/>
          <p:cNvGrpSpPr/>
          <p:nvPr/>
        </p:nvGrpSpPr>
        <p:grpSpPr>
          <a:xfrm rot="0">
            <a:off x="1482368" y="1736839"/>
            <a:ext cx="15323278" cy="2542382"/>
            <a:chOff x="19475680" y="8444900"/>
            <a:chExt cx="10644862" cy="1758947"/>
          </a:xfrm>
        </p:grpSpPr>
        <p:pic>
          <p:nvPicPr>
            <p:cNvPr id="436" name="Google Shape;436;g2a47814ba0b_0_782"/>
            <p:cNvPicPr/>
            <p:nvPr/>
          </p:nvPicPr>
          <p:blipFill rotWithShape="1">
            <a:blip r:embed="rId6">
              <a:alphaModFix/>
            </a:blip>
            <a:srcRect t="55110" b="11080"/>
            <a:stretch>
              <a:fillRect/>
            </a:stretch>
          </p:blipFill>
          <p:spPr>
            <a:xfrm>
              <a:off x="19475680" y="8860028"/>
              <a:ext cx="10644860" cy="13438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g2a47814ba0b_0_782"/>
            <p:cNvPicPr/>
            <p:nvPr/>
          </p:nvPicPr>
          <p:blipFill rotWithShape="1">
            <a:blip r:embed="rId7">
              <a:alphaModFix/>
            </a:blip>
            <a:srcRect b="89560"/>
            <a:stretch>
              <a:fillRect/>
            </a:stretch>
          </p:blipFill>
          <p:spPr>
            <a:xfrm>
              <a:off x="19475682" y="8444900"/>
              <a:ext cx="10644860" cy="4151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8" name="Google Shape;438;g2a47814ba0b_0_782"/>
          <p:cNvSpPr txBox="1"/>
          <p:nvPr/>
        </p:nvSpPr>
        <p:spPr>
          <a:xfrm>
            <a:off x="1482375" y="4659000"/>
            <a:ext cx="14220300" cy="5067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914400" lvl="0" indent="-3937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6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데이터셋 사이즈: </a:t>
            </a:r>
            <a:r>
              <a:rPr lang="en-US" sz="2600" b="1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1,383,707 건 </a:t>
            </a:r>
            <a:r>
              <a:rPr lang="en-US" sz="26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(B1 기준, 추후 2천만 건으로 확장 예정)</a:t>
            </a:r>
            <a:endParaRPr lang="en-US" sz="26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1371600" lvl="1" indent="-3937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26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데이터셋 (A0 - 주제 필터링 후) : </a:t>
            </a:r>
            <a:r>
              <a:rPr lang="en-US" sz="2600" b="1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784,902 건</a:t>
            </a:r>
            <a:endParaRPr lang="en-US" sz="2600" b="1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1371600" lvl="1" indent="-3937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26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데이터셋 (A1 - 기업명 전처리 후) : A0과 같음</a:t>
            </a:r>
            <a:endParaRPr lang="en-US" sz="26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1371600" lvl="1" indent="-3937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26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데이터셋 (A2 - ESG 관련도 필터링 후) : </a:t>
            </a:r>
            <a:r>
              <a:rPr lang="en-US" sz="2600" b="1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422,340 건</a:t>
            </a:r>
            <a:endParaRPr lang="en-US" sz="2600" b="1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1371600" lvl="1" indent="-3937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26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데이터셋 (A3 - ESG 긍부정도 라벨링 후:) : A2와 같음</a:t>
            </a:r>
            <a:endParaRPr lang="en-US" sz="26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1371600" lvl="1" indent="-3937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26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데이터셋 (B1 - ESG 스코어 예측) : </a:t>
            </a:r>
            <a:r>
              <a:rPr lang="en-US" sz="2600" b="1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340 건</a:t>
            </a:r>
            <a:r>
              <a:rPr lang="en-US" sz="26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(68개사 * 5개년)</a:t>
            </a:r>
            <a:endParaRPr lang="en-US" sz="26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1371600" lvl="1" indent="-3937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굴림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26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데이터셋 (B2 - ESG 스코어 테이블 확장) : </a:t>
            </a:r>
            <a:r>
              <a:rPr lang="en-US" sz="2600" b="1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5,000건</a:t>
            </a:r>
            <a:r>
              <a:rPr lang="en-US" sz="26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(1,000개사 * 5개년, 예정)</a:t>
            </a:r>
            <a:endParaRPr lang="en-US" sz="26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1371600" lvl="1" indent="-3937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○"/>
              <a:defRPr>
                <a:latin typeface="Pretendard Variable"/>
                <a:ea typeface="Pretendard Variable"/>
              </a:defRPr>
            </a:pPr>
            <a:r>
              <a:rPr lang="en-US" sz="26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데이터셋 (C - ESG 영역별 기사발행빈도 라벨링 후) : A2와 같음</a:t>
            </a:r>
            <a:endParaRPr sz="26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g2a47814ba0b_0_30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2a47814ba0b_0_30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595629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g2a47814ba0b_0_306"/>
          <p:cNvSpPr txBox="1"/>
          <p:nvPr/>
        </p:nvSpPr>
        <p:spPr>
          <a:xfrm>
            <a:off x="353725" y="7404000"/>
            <a:ext cx="15483600" cy="265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20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3. NLP 모델 파인튜닝</a:t>
            </a:r>
            <a:endParaRPr sz="12000" b="1">
              <a:solidFill>
                <a:srgbClr val="3f537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g2a47814ba0b_0_932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2a47814ba0b_0_932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2a47814ba0b_0_932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2971800" y="2251075"/>
            <a:ext cx="12331699" cy="1905000"/>
          </a:xfrm>
          <a:prstGeom prst="rect">
            <a:avLst/>
          </a:prstGeom>
          <a:noFill/>
          <a:ln>
            <a:noFill/>
          </a:ln>
          <a:effectLst>
            <a:outerShdw dist="190500" dir="2700000">
              <a:srgbClr val="000000">
                <a:alpha val="32940"/>
              </a:srgbClr>
            </a:outerShdw>
          </a:effectLst>
        </p:spPr>
      </p:pic>
      <p:pic>
        <p:nvPicPr>
          <p:cNvPr id="453" name="Google Shape;453;g2a47814ba0b_0_932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2a47814ba0b_0_932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03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455" name="Google Shape;455;g2a47814ba0b_0_932"/>
          <p:cNvSpPr txBox="1"/>
          <p:nvPr/>
        </p:nvSpPr>
        <p:spPr>
          <a:xfrm>
            <a:off x="1473200" y="355600"/>
            <a:ext cx="6143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NLP모델 파인튜닝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456" name="Google Shape;456;g2a47814ba0b_0_932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3365500" y="8080375"/>
            <a:ext cx="11569701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g2a47814ba0b_0_932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6553200" y="4829175"/>
            <a:ext cx="5181600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2a47814ba0b_0_932"/>
          <p:cNvPicPr/>
          <p:nvPr/>
        </p:nvPicPr>
        <p:blipFill rotWithShape="1">
          <a:blip r:embed="rId9">
            <a:alphaModFix/>
          </a:blip>
          <a:srcRect/>
          <a:stretch>
            <a:fillRect/>
          </a:stretch>
        </p:blipFill>
        <p:spPr>
          <a:xfrm>
            <a:off x="1498600" y="6581775"/>
            <a:ext cx="4864100" cy="29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2a47814ba0b_0_932"/>
          <p:cNvPicPr/>
          <p:nvPr/>
        </p:nvPicPr>
        <p:blipFill rotWithShape="1">
          <a:blip r:embed="rId10">
            <a:alphaModFix/>
          </a:blip>
          <a:srcRect/>
          <a:stretch>
            <a:fillRect/>
          </a:stretch>
        </p:blipFill>
        <p:spPr>
          <a:xfrm rot="5400000">
            <a:off x="8636000" y="6683375"/>
            <a:ext cx="10287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2a47814ba0b_0_932"/>
          <p:cNvSpPr txBox="1"/>
          <p:nvPr/>
        </p:nvSpPr>
        <p:spPr>
          <a:xfrm>
            <a:off x="7707100" y="4962575"/>
            <a:ext cx="3813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200" b="1">
                <a:latin typeface="Pretendard JP Variable"/>
                <a:ea typeface="Pretendard JP Variable"/>
                <a:cs typeface="Calibri"/>
                <a:sym typeface="Calibri"/>
              </a:rPr>
              <a:t>사전 학습된 모델 </a:t>
            </a:r>
            <a:endParaRPr lang="en-US" sz="3200" b="1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200" b="1">
                <a:latin typeface="Pretendard JP Variable"/>
                <a:ea typeface="Pretendard JP Variable"/>
                <a:cs typeface="Calibri"/>
                <a:sym typeface="Calibri"/>
              </a:rPr>
              <a:t>파인튜닝</a:t>
            </a:r>
            <a:endParaRPr lang="en-US" sz="3200" b="1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461" name="Google Shape;461;g2a47814ba0b_0_932"/>
          <p:cNvPicPr/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6718300" y="6581775"/>
            <a:ext cx="4851401" cy="29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2a47814ba0b_0_932"/>
          <p:cNvPicPr/>
          <p:nvPr/>
        </p:nvPicPr>
        <p:blipFill rotWithShape="1">
          <a:blip r:embed="rId12">
            <a:alphaModFix/>
          </a:blip>
          <a:srcRect/>
          <a:stretch>
            <a:fillRect/>
          </a:stretch>
        </p:blipFill>
        <p:spPr>
          <a:xfrm>
            <a:off x="11938000" y="6581775"/>
            <a:ext cx="4864100" cy="29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g2a47814ba0b_0_932"/>
          <p:cNvSpPr txBox="1"/>
          <p:nvPr/>
        </p:nvSpPr>
        <p:spPr>
          <a:xfrm>
            <a:off x="1816100" y="7220225"/>
            <a:ext cx="4216500" cy="169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500">
                <a:latin typeface="Pretendard JP Variable"/>
                <a:ea typeface="Pretendard JP Variable"/>
                <a:cs typeface="Calibri"/>
                <a:sym typeface="Calibri"/>
              </a:rPr>
              <a:t>기업의 영업 활동과의 관련성</a:t>
            </a:r>
            <a:endParaRPr lang="en-US" sz="25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marR="0" lvl="0" indent="-36195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100">
                <a:latin typeface="Pretendard JP Variable"/>
                <a:ea typeface="Pretendard JP Variable"/>
                <a:cs typeface="Calibri"/>
                <a:sym typeface="Calibri"/>
              </a:rPr>
              <a:t>기업 임직원 부고장</a:t>
            </a:r>
            <a:endParaRPr lang="en-US" sz="21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marR="0" lvl="0" indent="-36195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100">
                <a:latin typeface="Pretendard JP Variable"/>
                <a:ea typeface="Pretendard JP Variable"/>
                <a:cs typeface="Calibri"/>
                <a:sym typeface="Calibri"/>
              </a:rPr>
              <a:t>기업 후원받는 스포츠팀 소식</a:t>
            </a:r>
            <a:endParaRPr lang="en-US" sz="21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marR="0" lvl="0" indent="-36195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100">
                <a:latin typeface="Pretendard JP Variable"/>
                <a:ea typeface="Pretendard JP Variable"/>
                <a:cs typeface="Calibri"/>
                <a:sym typeface="Calibri"/>
              </a:rPr>
              <a:t>기업명 단순 언급된 주식찌라시</a:t>
            </a:r>
            <a:endParaRPr sz="21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464" name="Google Shape;464;g2a47814ba0b_0_932"/>
          <p:cNvSpPr txBox="1"/>
          <p:nvPr/>
        </p:nvSpPr>
        <p:spPr>
          <a:xfrm>
            <a:off x="3378200" y="2530475"/>
            <a:ext cx="11518800" cy="13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수집된 텍스트를 목적에 맞게 라벨링 및 분류</a:t>
            </a:r>
            <a:endParaRPr lang="en-US" sz="37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465" name="Google Shape;465;g2a47814ba0b_0_932"/>
          <p:cNvSpPr txBox="1"/>
          <p:nvPr/>
        </p:nvSpPr>
        <p:spPr>
          <a:xfrm>
            <a:off x="12255400" y="7239000"/>
            <a:ext cx="4216500" cy="1514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500">
                <a:latin typeface="Pretendard JP Variable"/>
                <a:ea typeface="Pretendard JP Variable"/>
                <a:cs typeface="Calibri"/>
                <a:sym typeface="Calibri"/>
              </a:rPr>
              <a:t>기사가 ESG 관점에서</a:t>
            </a:r>
            <a:endParaRPr lang="en-US" sz="25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500">
                <a:latin typeface="Pretendard JP Variable"/>
                <a:ea typeface="Pretendard JP Variable"/>
                <a:cs typeface="Calibri"/>
                <a:sym typeface="Calibri"/>
              </a:rPr>
              <a:t>얼마나 긍정적 또는 부정적 </a:t>
            </a:r>
            <a:endParaRPr lang="en-US" sz="25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500">
                <a:latin typeface="Pretendard JP Variable"/>
                <a:ea typeface="Pretendard JP Variable"/>
                <a:cs typeface="Calibri"/>
                <a:sym typeface="Calibri"/>
              </a:rPr>
              <a:t>이슈인지 정량적인 평가</a:t>
            </a:r>
            <a:endParaRPr sz="25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466" name="Google Shape;466;g2a47814ba0b_0_932"/>
          <p:cNvSpPr txBox="1"/>
          <p:nvPr/>
        </p:nvSpPr>
        <p:spPr>
          <a:xfrm>
            <a:off x="6873950" y="7110600"/>
            <a:ext cx="4552800" cy="169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500">
                <a:latin typeface="Pretendard JP Variable"/>
                <a:ea typeface="Pretendard JP Variable"/>
                <a:cs typeface="Calibri"/>
                <a:sym typeface="Calibri"/>
              </a:rPr>
              <a:t>ESG 활동과의 관련성 평가</a:t>
            </a:r>
            <a:endParaRPr lang="en-US" sz="25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6195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1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기업의 ESG 정책 계획</a:t>
            </a:r>
            <a:endParaRPr lang="en-US" sz="21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6195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1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기업의 이슈에 대한 ESG 관련성</a:t>
            </a:r>
            <a:endParaRPr lang="en-US" sz="21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61950" algn="just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1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기업의 ESG 정책 시행 결과 평가 등</a:t>
            </a:r>
            <a:endParaRPr sz="21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467" name="Google Shape;467;g2a47814ba0b_0_932"/>
          <p:cNvPicPr/>
          <p:nvPr/>
        </p:nvPicPr>
        <p:blipFill rotWithShape="1">
          <a:blip r:embed="rId13">
            <a:alphaModFix/>
          </a:blip>
          <a:srcRect t="33670" b="33170"/>
          <a:stretch>
            <a:fillRect/>
          </a:stretch>
        </p:blipFill>
        <p:spPr>
          <a:xfrm>
            <a:off x="3414650" y="3219250"/>
            <a:ext cx="2188596" cy="75605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2a47814ba0b_0_932"/>
          <p:cNvSpPr/>
          <p:nvPr/>
        </p:nvSpPr>
        <p:spPr>
          <a:xfrm rot="5400000">
            <a:off x="8842909" y="4048216"/>
            <a:ext cx="615000" cy="66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469" name="Google Shape;469;g2a47814ba0b_0_932"/>
          <p:cNvPicPr/>
          <p:nvPr/>
        </p:nvPicPr>
        <p:blipFill rotWithShape="1">
          <a:blip r:embed="rId14">
            <a:alphaModFix/>
          </a:blip>
          <a:srcRect/>
          <a:stretch>
            <a:fillRect/>
          </a:stretch>
        </p:blipFill>
        <p:spPr>
          <a:xfrm>
            <a:off x="6724650" y="4981675"/>
            <a:ext cx="952499" cy="998533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2a47814ba0b_0_932"/>
          <p:cNvSpPr/>
          <p:nvPr/>
        </p:nvSpPr>
        <p:spPr>
          <a:xfrm>
            <a:off x="6286450" y="7664825"/>
            <a:ext cx="615000" cy="66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471" name="Google Shape;471;g2a47814ba0b_0_932"/>
          <p:cNvSpPr/>
          <p:nvPr/>
        </p:nvSpPr>
        <p:spPr>
          <a:xfrm>
            <a:off x="11533575" y="7756575"/>
            <a:ext cx="615000" cy="66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472" name="Google Shape;472;g2a47814ba0b_0_932"/>
          <p:cNvSpPr txBox="1"/>
          <p:nvPr/>
        </p:nvSpPr>
        <p:spPr>
          <a:xfrm>
            <a:off x="5727800" y="3267125"/>
            <a:ext cx="10274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200" b="1">
                <a:latin typeface="Pretendard JP Variable"/>
                <a:ea typeface="Pretendard JP Variable"/>
                <a:cs typeface="Calibri"/>
                <a:sym typeface="Calibri"/>
              </a:rPr>
              <a:t>API에 프롬프트 엔지니어링 적용하여 텍스트 라벨링</a:t>
            </a:r>
            <a:endParaRPr sz="900" b="1">
              <a:latin typeface="Pretendard JP Variable"/>
              <a:ea typeface="Pretendard JP Variable"/>
            </a:endParaRPr>
          </a:p>
        </p:txBody>
      </p:sp>
      <p:sp>
        <p:nvSpPr>
          <p:cNvPr id="473" name="Google Shape;282;g2a47814ba0b_0_1008"/>
          <p:cNvSpPr txBox="1"/>
          <p:nvPr/>
        </p:nvSpPr>
        <p:spPr>
          <a:xfrm>
            <a:off x="1122384" y="1410865"/>
            <a:ext cx="9097879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en-US" altLang="ko-KR" sz="3700" b="1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700" b="1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텍스트 필터링 및 관련성 검수 모델들</a:t>
            </a:r>
            <a:endParaRPr xmlns:mc="http://schemas.openxmlformats.org/markup-compatibility/2006" xmlns:hp="http://schemas.haansoft.com/office/presentation/8.0" kumimoji="0" lang="ko-KR" altLang="en-US" sz="3700" b="1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a47814ba0b_0_1181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g2a47814ba0b_0_1181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2a47814ba0b_0_1181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2a47814ba0b_0_1181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03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481" name="Google Shape;481;g2a47814ba0b_0_1181"/>
          <p:cNvSpPr txBox="1"/>
          <p:nvPr/>
        </p:nvSpPr>
        <p:spPr>
          <a:xfrm>
            <a:off x="1473200" y="355600"/>
            <a:ext cx="6143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NLP모델 파인튜닝</a:t>
            </a:r>
            <a:endParaRPr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482" name="Google Shape;482;g2a47814ba0b_0_1181"/>
          <p:cNvSpPr/>
          <p:nvPr/>
        </p:nvSpPr>
        <p:spPr>
          <a:xfrm>
            <a:off x="1059950" y="2837404"/>
            <a:ext cx="4614900" cy="594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 전처리된 텍스트 (기사)</a:t>
            </a:r>
            <a:endParaRPr sz="30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83" name="Google Shape;483;g2a47814ba0b_0_1181"/>
          <p:cNvSpPr/>
          <p:nvPr/>
        </p:nvSpPr>
        <p:spPr>
          <a:xfrm>
            <a:off x="992700" y="4655823"/>
            <a:ext cx="4614900" cy="594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텍스트의 ESG 긍부정도</a:t>
            </a:r>
            <a:endParaRPr sz="30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84" name="Google Shape;484;g2a47814ba0b_0_1181"/>
          <p:cNvSpPr/>
          <p:nvPr/>
        </p:nvSpPr>
        <p:spPr>
          <a:xfrm>
            <a:off x="1071765" y="7580514"/>
            <a:ext cx="4480200" cy="59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사외이사 비율 등 (G)</a:t>
            </a:r>
            <a:endParaRPr sz="30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85" name="Google Shape;485;g2a47814ba0b_0_1181"/>
          <p:cNvSpPr/>
          <p:nvPr/>
        </p:nvSpPr>
        <p:spPr>
          <a:xfrm>
            <a:off x="1071765" y="6230657"/>
            <a:ext cx="4480200" cy="59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온실가스 등 (E)</a:t>
            </a:r>
            <a:endParaRPr sz="30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86" name="Google Shape;486;g2a47814ba0b_0_1181"/>
          <p:cNvSpPr/>
          <p:nvPr/>
        </p:nvSpPr>
        <p:spPr>
          <a:xfrm>
            <a:off x="1071765" y="6905595"/>
            <a:ext cx="4480200" cy="59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잡플래닛 점수 등 (S)</a:t>
            </a:r>
            <a:endParaRPr sz="30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87" name="Google Shape;487;g2a47814ba0b_0_1181"/>
          <p:cNvSpPr/>
          <p:nvPr/>
        </p:nvSpPr>
        <p:spPr>
          <a:xfrm>
            <a:off x="8269150" y="5199250"/>
            <a:ext cx="3540600" cy="12273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ESG 평가기관 제공  기업별 ESG 스코어</a:t>
            </a:r>
            <a:endParaRPr sz="30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88" name="Google Shape;488;g2a47814ba0b_0_1181"/>
          <p:cNvSpPr/>
          <p:nvPr/>
        </p:nvSpPr>
        <p:spPr>
          <a:xfrm>
            <a:off x="1071765" y="8255441"/>
            <a:ext cx="4480200" cy="59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재무제표상의 각종지표</a:t>
            </a:r>
            <a:endParaRPr sz="30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89" name="Google Shape;489;g2a47814ba0b_0_1181"/>
          <p:cNvSpPr/>
          <p:nvPr/>
        </p:nvSpPr>
        <p:spPr>
          <a:xfrm>
            <a:off x="6645824" y="5352375"/>
            <a:ext cx="1170900" cy="897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ce5cd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예측</a:t>
            </a:r>
            <a:endParaRPr sz="30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90" name="Google Shape;490;g2a47814ba0b_0_1181"/>
          <p:cNvSpPr txBox="1"/>
          <p:nvPr/>
        </p:nvSpPr>
        <p:spPr>
          <a:xfrm>
            <a:off x="1969405" y="8930390"/>
            <a:ext cx="3681000" cy="63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9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도메인 피쳐 수집</a:t>
            </a:r>
            <a:endParaRPr sz="29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91" name="Google Shape;491;g2a47814ba0b_0_1181"/>
          <p:cNvSpPr txBox="1"/>
          <p:nvPr/>
        </p:nvSpPr>
        <p:spPr>
          <a:xfrm>
            <a:off x="7816050" y="6674313"/>
            <a:ext cx="6346200" cy="106568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9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사전 학습된 모델에 파인튜닝하여</a:t>
            </a:r>
            <a:endParaRPr lang="en-US" sz="29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29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각 평가기관별 </a:t>
            </a:r>
            <a:r>
              <a:rPr lang="en-US" sz="29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일반화된 평가 모델 구축</a:t>
            </a:r>
            <a:endParaRPr lang="en-US" sz="29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92" name="Google Shape;492;g2a47814ba0b_0_1181"/>
          <p:cNvSpPr txBox="1"/>
          <p:nvPr/>
        </p:nvSpPr>
        <p:spPr>
          <a:xfrm>
            <a:off x="1454928" y="5296928"/>
            <a:ext cx="3681000" cy="63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9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텍스트 데이터 라벨링</a:t>
            </a:r>
            <a:endParaRPr sz="29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93" name="Google Shape;493;g2a47814ba0b_0_1181"/>
          <p:cNvSpPr/>
          <p:nvPr/>
        </p:nvSpPr>
        <p:spPr>
          <a:xfrm>
            <a:off x="12277962" y="5352366"/>
            <a:ext cx="1519223" cy="897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ce5cd"/>
          </a:solidFill>
          <a:ln w="9525" cap="flat" cmpd="sng">
            <a:solidFill>
              <a:srgbClr val="d9d9d9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0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일반화</a:t>
            </a:r>
            <a:endParaRPr lang="ko-KR" altLang="en-US" sz="30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94" name="Google Shape;494;g2a47814ba0b_0_1181"/>
          <p:cNvSpPr txBox="1"/>
          <p:nvPr/>
        </p:nvSpPr>
        <p:spPr>
          <a:xfrm>
            <a:off x="13902327" y="5077250"/>
            <a:ext cx="3988500" cy="1523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9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평가기관에서</a:t>
            </a:r>
            <a:endParaRPr lang="en-US" sz="29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9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다루지 않는</a:t>
            </a:r>
            <a:endParaRPr lang="en-US" sz="29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900">
                <a:solidFill>
                  <a:schemeClr val="dk1"/>
                </a:solidFill>
                <a:latin typeface="Pretendard JP Variable"/>
                <a:ea typeface="Pretendard JP Variable"/>
                <a:cs typeface="Lato"/>
                <a:sym typeface="Lato"/>
              </a:rPr>
              <a:t>기업의 점수 예측 가능</a:t>
            </a:r>
            <a:endParaRPr sz="2900">
              <a:solidFill>
                <a:schemeClr val="dk1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495" name="Google Shape;495;g2a47814ba0b_0_1181"/>
          <p:cNvSpPr txBox="1"/>
          <p:nvPr/>
        </p:nvSpPr>
        <p:spPr>
          <a:xfrm>
            <a:off x="8539450" y="2605750"/>
            <a:ext cx="3000000" cy="2253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Sustainalytics</a:t>
            </a:r>
            <a:endParaRPr lang="en-US" sz="24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MSCI</a:t>
            </a:r>
            <a:endParaRPr lang="en-US" sz="24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ISS</a:t>
            </a:r>
            <a:endParaRPr lang="en-US" sz="24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S&amp;P</a:t>
            </a:r>
            <a:endParaRPr lang="en-US" sz="24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ESG 기준원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496" name="Google Shape;496;g2a47814ba0b_0_1181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6645825" y="6568200"/>
            <a:ext cx="952499" cy="998533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2a47814ba0b_0_1181"/>
          <p:cNvSpPr/>
          <p:nvPr/>
        </p:nvSpPr>
        <p:spPr>
          <a:xfrm>
            <a:off x="1761310" y="3663318"/>
            <a:ext cx="2956842" cy="710431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noFill/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 sz="30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498" name="Google Shape;498;g2a47814ba0b_0_1181"/>
          <p:cNvSpPr/>
          <p:nvPr/>
        </p:nvSpPr>
        <p:spPr>
          <a:xfrm>
            <a:off x="-1055925" y="2807150"/>
            <a:ext cx="7701600" cy="5987100"/>
          </a:xfrm>
          <a:prstGeom prst="bracePair">
            <a:avLst>
              <a:gd name="adj" fmla="val 8333"/>
            </a:avLst>
          </a:prstGeom>
          <a:noFill/>
          <a:ln w="7620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499" name="Google Shape;467;g2a47814ba0b_0_932"/>
          <p:cNvPicPr/>
          <p:nvPr/>
        </p:nvPicPr>
        <p:blipFill rotWithShape="1">
          <a:blip r:embed="rId7">
            <a:alphaModFix/>
          </a:blip>
          <a:srcRect t="33670" b="33170"/>
          <a:stretch>
            <a:fillRect/>
          </a:stretch>
        </p:blipFill>
        <p:spPr>
          <a:xfrm>
            <a:off x="2579123" y="3722236"/>
            <a:ext cx="1286227" cy="42183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282;g2a47814ba0b_0_1008"/>
          <p:cNvSpPr txBox="1"/>
          <p:nvPr/>
        </p:nvSpPr>
        <p:spPr>
          <a:xfrm>
            <a:off x="1122384" y="1410865"/>
            <a:ext cx="9097879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en-US" altLang="ko-KR" sz="3700" b="1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700" b="1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텍스트의</a:t>
            </a:r>
            <a:r>
              <a:rPr xmlns:mc="http://schemas.openxmlformats.org/markup-compatibility/2006" xmlns:hp="http://schemas.haansoft.com/office/presentation/8.0" kumimoji="0" lang="en-US" altLang="ko-KR" sz="3700" b="1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ESG</a:t>
            </a:r>
            <a:r>
              <a:rPr xmlns:mc="http://schemas.openxmlformats.org/markup-compatibility/2006" xmlns:hp="http://schemas.haansoft.com/office/presentation/8.0" kumimoji="0" lang="ko-KR" altLang="en-US" sz="3700" b="1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스코어 예측 모델</a:t>
            </a:r>
            <a:endParaRPr xmlns:mc="http://schemas.openxmlformats.org/markup-compatibility/2006" xmlns:hp="http://schemas.haansoft.com/office/presentation/8.0" kumimoji="0" lang="ko-KR" altLang="en-US" sz="3700" b="1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g2a47814ba0b_0_892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g2a47814ba0b_0_892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g2a47814ba0b_0_892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g2a47814ba0b_0_892"/>
          <p:cNvSpPr txBox="1"/>
          <p:nvPr/>
        </p:nvSpPr>
        <p:spPr>
          <a:xfrm>
            <a:off x="1473200" y="355600"/>
            <a:ext cx="150534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</a:rPr>
              <a:t>작업단계별 모델 성능</a:t>
            </a:r>
            <a:endParaRPr sz="3000">
              <a:solidFill>
                <a:schemeClr val="dk1"/>
              </a:solidFill>
              <a:latin typeface="Pretendard JP Variable"/>
              <a:ea typeface="Pretendard JP Variable"/>
            </a:endParaRPr>
          </a:p>
        </p:txBody>
      </p:sp>
      <p:graphicFrame>
        <p:nvGraphicFramePr>
          <p:cNvPr id="507" name="Google Shape;507;g2a47814ba0b_0_892"/>
          <p:cNvGraphicFramePr/>
          <p:nvPr/>
        </p:nvGraphicFramePr>
        <p:xfrm>
          <a:off x="914393" y="2425121"/>
          <a:ext cx="16459200" cy="7047525"/>
        </p:xfrm>
        <a:graphic>
          <a:graphicData uri="http://schemas.openxmlformats.org/drawingml/2006/table">
            <a:tbl>
              <a:tblPr>
                <a:noFill/>
                <a:tableStyleId>{D9D3C1CF-7342-4FA5-8EDC-F3BB6EE9B88B}</a:tableStyleId>
              </a:tblPr>
              <a:tblGrid>
                <a:gridCol w="1105925"/>
                <a:gridCol w="3959600"/>
                <a:gridCol w="3360800"/>
                <a:gridCol w="2007625"/>
                <a:gridCol w="2007625"/>
                <a:gridCol w="2004125"/>
                <a:gridCol w="2013500"/>
              </a:tblGrid>
              <a:tr h="932125"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모델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모델이 수행하는 작업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예측 대상 라벨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Accuracy</a:t>
                      </a:r>
                      <a:endParaRPr lang="en-US"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MSE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Precision</a:t>
                      </a:r>
                      <a:endParaRPr lang="en-US"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RMSE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Recall</a:t>
                      </a:r>
                      <a:endParaRPr lang="en-US"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MAE 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F1-Score</a:t>
                      </a:r>
                      <a:endParaRPr lang="en-US"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R²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764425"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A0 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Classification (0,1)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기사의 제거대상여부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0.6889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0.8653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0.4725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0.6121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764425"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A2 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Classification(0,1)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기사의 ESG관련여부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0.7630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0.7933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0.7630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0.7709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764425"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A3 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Classification(-1,0,1)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기사의 ESG긍부정도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0.7345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0.7012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0.6823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0.6917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764425"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B1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Regression(+0.0~+7.0)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종목의 ESG스코어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1.8732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0.9821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1.3684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0.6925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764425"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B2 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Regression(+0.0~+7.0)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종목의 ESG스코어</a:t>
                      </a:r>
                      <a:endParaRPr sz="2400" b="0" i="0" u="none" strike="noStrike" cap="none">
                        <a:solidFill>
                          <a:srgbClr val="0000ff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 gridSpan="4"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b2b2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b2b2b2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(확장 모델로, 현재 데이터 수집 중)</a:t>
                      </a:r>
                      <a:endParaRPr sz="2400" b="0" i="0" u="none" strike="noStrike" cap="none">
                        <a:solidFill>
                          <a:srgbClr val="b2b2b2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>
                          <a:latin typeface="Pretendard Variable"/>
                          <a:ea typeface="Pretendard Variable"/>
                        </a:defRPr>
                      </a:pPr>
                      <a:endParaRPr lang="ko-KR" altLang="en-US">
                        <a:latin typeface="Pretendard Variable"/>
                        <a:ea typeface="Pretendard Variable"/>
                      </a:endParaRPr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>
                          <a:latin typeface="Pretendard Variable"/>
                          <a:ea typeface="Pretendard Variable"/>
                        </a:defRPr>
                      </a:pPr>
                      <a:endParaRPr lang="ko-KR" altLang="en-US">
                        <a:latin typeface="Pretendard Variable"/>
                        <a:ea typeface="Pretendard Variable"/>
                      </a:endParaRPr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>
                          <a:latin typeface="Pretendard Variable"/>
                          <a:ea typeface="Pretendard Variable"/>
                        </a:defRPr>
                      </a:pPr>
                      <a:endParaRPr lang="ko-KR" altLang="en-US">
                        <a:latin typeface="Pretendard Variable"/>
                        <a:ea typeface="Pretendard Variable"/>
                      </a:endParaRPr>
                    </a:p>
                  </a:txBody>
                  <a:tcPr marL="91440" marR="91440"/>
                </a:tc>
              </a:tr>
              <a:tr h="764425">
                <a:tc rowSpan="3"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C 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 rowSpan="3"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Classification(0,1)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기사의 E 관련유무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 rowSpan="3"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0.8267</a:t>
                      </a:r>
                      <a:endParaRPr lang="en-US"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(Overall)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0.7865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0.7589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0.7725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764425">
                <a:tc vMerge="1">
                  <a:txBody>
                    <a:bodyPr wrap="square">
                      <a:spAutoFit/>
                    </a:bodyPr>
                    <a:p>
                      <a:pPr lvl="0">
                        <a:defRPr>
                          <a:latin typeface="Pretendard Variable"/>
                          <a:ea typeface="Pretendard Variable"/>
                        </a:defRPr>
                      </a:pPr>
                      <a:endParaRPr lang="ko-KR" altLang="en-US">
                        <a:latin typeface="Pretendard Variable"/>
                        <a:ea typeface="Pretendard Variable"/>
                      </a:endParaRPr>
                    </a:p>
                  </a:txBody>
                  <a:tcPr marL="91440" marR="91440"/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>
                          <a:latin typeface="Pretendard Variable"/>
                          <a:ea typeface="Pretendard Variable"/>
                        </a:defRPr>
                      </a:pPr>
                      <a:endParaRPr lang="ko-KR" altLang="en-US">
                        <a:latin typeface="Pretendard Variable"/>
                        <a:ea typeface="Pretendard Variable"/>
                      </a:endParaRPr>
                    </a:p>
                  </a:txBody>
                  <a:tcPr marL="91440" marR="91440"/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기사의 S 관련유무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>
                          <a:latin typeface="Pretendard Variable"/>
                          <a:ea typeface="Pretendard Variable"/>
                        </a:defRPr>
                      </a:pPr>
                      <a:endParaRPr lang="ko-KR" altLang="en-US">
                        <a:latin typeface="Pretendard Variable"/>
                        <a:ea typeface="Pretendard Variable"/>
                      </a:endParaRPr>
                    </a:p>
                  </a:txBody>
                  <a:tcPr marL="91440" marR="91440"/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0.8452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0.8054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0.8248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764425">
                <a:tc vMerge="1">
                  <a:txBody>
                    <a:bodyPr wrap="square">
                      <a:spAutoFit/>
                    </a:bodyPr>
                    <a:p>
                      <a:pPr lvl="0">
                        <a:defRPr>
                          <a:latin typeface="Pretendard Variable"/>
                          <a:ea typeface="Pretendard Variable"/>
                        </a:defRPr>
                      </a:pPr>
                      <a:endParaRPr lang="ko-KR" altLang="en-US">
                        <a:latin typeface="Pretendard Variable"/>
                        <a:ea typeface="Pretendard Variable"/>
                      </a:endParaRPr>
                    </a:p>
                  </a:txBody>
                  <a:tcPr marL="91440" marR="91440"/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>
                          <a:latin typeface="Pretendard Variable"/>
                          <a:ea typeface="Pretendard Variable"/>
                        </a:defRPr>
                      </a:pPr>
                      <a:endParaRPr lang="ko-KR" altLang="en-US">
                        <a:latin typeface="Pretendard Variable"/>
                        <a:ea typeface="Pretendard Variable"/>
                      </a:endParaRPr>
                    </a:p>
                  </a:txBody>
                  <a:tcPr marL="91440" marR="91440"/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기사의 G 관련유무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>
                          <a:latin typeface="Pretendard Variable"/>
                          <a:ea typeface="Pretendard Variable"/>
                        </a:defRPr>
                      </a:pPr>
                      <a:endParaRPr lang="ko-KR" altLang="en-US">
                        <a:latin typeface="Pretendard Variable"/>
                        <a:ea typeface="Pretendard Variable"/>
                      </a:endParaRPr>
                    </a:p>
                  </a:txBody>
                  <a:tcPr marL="91440" marR="91440"/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0.8184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0.7750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137175" tIns="68600" rIns="137175" bIns="68600" anchor="ctr" anchorCtr="0"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Pretendard JP Variable"/>
                          <a:ea typeface="Pretendard JP Variable"/>
                          <a:cs typeface="Arial"/>
                          <a:sym typeface="Arial"/>
                        </a:rPr>
                        <a:t>0.7961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Pretendard JP Variable"/>
                        <a:ea typeface="Pretendard JP Variable"/>
                        <a:cs typeface="Arial"/>
                        <a:sym typeface="Arial"/>
                      </a:endParaRPr>
                    </a:p>
                  </a:txBody>
                  <a:tcPr marL="137175" marR="137175" marT="68600" marB="686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</a:tbl>
          </a:graphicData>
        </a:graphic>
      </p:graphicFrame>
      <p:sp>
        <p:nvSpPr>
          <p:cNvPr id="508" name="Google Shape;508;g2a47814ba0b_0_892"/>
          <p:cNvSpPr txBox="1"/>
          <p:nvPr/>
        </p:nvSpPr>
        <p:spPr>
          <a:xfrm>
            <a:off x="914400" y="1486225"/>
            <a:ext cx="12918000" cy="646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</a:rPr>
              <a:t>KoELECTRA에 OpenAI API로 라벨링된 데이터를 파인튜닝하여 일반화</a:t>
            </a:r>
            <a:endParaRPr sz="37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509" name="Google Shape;509;g2a47814ba0b_0_892"/>
          <p:cNvPicPr/>
          <p:nvPr/>
        </p:nvPicPr>
        <p:blipFill rotWithShape="1">
          <a:blip r:embed="rId6">
            <a:alphaModFix/>
          </a:blip>
          <a:srcRect t="33670" b="33170"/>
          <a:stretch>
            <a:fillRect/>
          </a:stretch>
        </p:blipFill>
        <p:spPr>
          <a:xfrm>
            <a:off x="15360102" y="1603698"/>
            <a:ext cx="1299974" cy="44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g2a47814ba0b_0_892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16826152" y="1566158"/>
            <a:ext cx="428370" cy="4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g2a47814ba0b_0_892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03</a:t>
            </a:r>
            <a:endParaRPr>
              <a:latin typeface="Pretendard JP Variable"/>
              <a:ea typeface="Pretendard JP Variab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g2a47814ba0b_0_918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2a47814ba0b_0_918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g2a47814ba0b_0_918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2a47814ba0b_0_918"/>
          <p:cNvSpPr txBox="1"/>
          <p:nvPr/>
        </p:nvSpPr>
        <p:spPr>
          <a:xfrm>
            <a:off x="1473200" y="355600"/>
            <a:ext cx="150534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</a:rPr>
              <a:t>작업단계별 모델별 최적화된 하이퍼파라미터</a:t>
            </a:r>
            <a:endParaRPr sz="3000">
              <a:solidFill>
                <a:schemeClr val="dk1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520" name="Google Shape;520;g2a47814ba0b_0_918"/>
          <p:cNvSpPr txBox="1"/>
          <p:nvPr/>
        </p:nvSpPr>
        <p:spPr>
          <a:xfrm>
            <a:off x="914400" y="1486225"/>
            <a:ext cx="12918000" cy="646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>
                <a:solidFill>
                  <a:schemeClr val="dk1"/>
                </a:solidFill>
                <a:latin typeface="Pretendard JP Variable"/>
                <a:ea typeface="Pretendard JP Variable"/>
              </a:rPr>
              <a:t>Grid Search 방식으로 하이퍼파라미터를 최적화</a:t>
            </a:r>
            <a:endParaRPr sz="37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graphicFrame>
        <p:nvGraphicFramePr>
          <p:cNvPr id="521" name="Google Shape;521;g2a47814ba0b_0_918"/>
          <p:cNvGraphicFramePr/>
          <p:nvPr/>
        </p:nvGraphicFramePr>
        <p:xfrm>
          <a:off x="1219200" y="2603050"/>
          <a:ext cx="15720750" cy="6667450"/>
        </p:xfrm>
        <a:graphic>
          <a:graphicData uri="http://schemas.openxmlformats.org/drawingml/2006/table">
            <a:tbl>
              <a:tblPr>
                <a:noFill/>
                <a:tableStyleId>{CBCF0A5E-367A-46EE-8DCE-7FBB6402D6BC}</a:tableStyleId>
              </a:tblPr>
              <a:tblGrid>
                <a:gridCol w="3321200"/>
                <a:gridCol w="2066525"/>
                <a:gridCol w="2066525"/>
                <a:gridCol w="2066525"/>
                <a:gridCol w="2066525"/>
                <a:gridCol w="2066525"/>
                <a:gridCol w="2066925"/>
              </a:tblGrid>
              <a:tr h="1367700"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endParaRPr sz="26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5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Learning Rate</a:t>
                      </a:r>
                      <a:endParaRPr sz="25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5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Batch Size</a:t>
                      </a:r>
                      <a:endParaRPr sz="25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0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Epochs</a:t>
                      </a:r>
                      <a:endParaRPr lang="en-US" sz="20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0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(Early </a:t>
                      </a:r>
                      <a:endParaRPr lang="en-US" sz="20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0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Stopping : 2)</a:t>
                      </a:r>
                      <a:endParaRPr sz="20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5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Weight Decay</a:t>
                      </a:r>
                      <a:endParaRPr sz="25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5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Dropout Rate</a:t>
                      </a:r>
                      <a:endParaRPr sz="25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5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Class Weights</a:t>
                      </a:r>
                      <a:endParaRPr sz="25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1059950"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6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A0 (KoELECTRA) </a:t>
                      </a:r>
                      <a:endParaRPr lang="en-US" sz="26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6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- 제거대상분류</a:t>
                      </a:r>
                      <a:endParaRPr sz="26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2.00E-05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32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5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0.01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0.3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1.2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1059950"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6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A2 (KoELECTRA) </a:t>
                      </a:r>
                      <a:endParaRPr lang="en-US" sz="26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6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- ESG관련성</a:t>
                      </a:r>
                      <a:endParaRPr sz="26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1.00E-05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16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5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0.01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0.2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1.2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1059950"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6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A3 (KoELECTRA) </a:t>
                      </a:r>
                      <a:endParaRPr lang="en-US" sz="26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6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- ESG긍부정도</a:t>
                      </a:r>
                      <a:endParaRPr sz="26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5.00E-05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64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5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0.01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0.4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1.2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1059950"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6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B1 (KoELECTRA) </a:t>
                      </a:r>
                      <a:endParaRPr lang="en-US" sz="2600" b="1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6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- ESG점수예측</a:t>
                      </a:r>
                      <a:endParaRPr sz="26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1.00E-04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32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10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0.001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0.1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0" tIns="25400" rIns="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None</a:t>
                      </a:r>
                      <a:endParaRPr lang="en-US" sz="24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4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(Regression)</a:t>
                      </a:r>
                      <a:endParaRPr sz="24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0" marR="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  <a:tr h="1059950"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600" b="1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C (KoELECTRA)</a:t>
                      </a:r>
                      <a:r>
                        <a:rPr lang="en-US" sz="26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- </a:t>
                      </a:r>
                      <a:endParaRPr lang="en-US" sz="26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6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E/S/G 관련유무</a:t>
                      </a:r>
                      <a:endParaRPr sz="26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2.00E-05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32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5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0.01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0.3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 vert="horz" lIns="25400" tIns="25400" rIns="25400" bIns="25400" anchor="b" anchorCtr="0"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Pretendard Variable"/>
                          <a:ea typeface="Pretendard Variable"/>
                        </a:defRPr>
                      </a:pPr>
                      <a:r>
                        <a:rPr lang="en-US" sz="2900">
                          <a:latin typeface="Pretendard JP Variable"/>
                          <a:ea typeface="Pretendard JP Variable"/>
                          <a:cs typeface="Calibri"/>
                          <a:sym typeface="Calibri"/>
                        </a:rPr>
                        <a:t>1.2</a:t>
                      </a:r>
                      <a:endParaRPr sz="2900">
                        <a:latin typeface="Pretendard JP Variable"/>
                        <a:ea typeface="Pretendard JP Variable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</a:tr>
            </a:tbl>
          </a:graphicData>
        </a:graphic>
      </p:graphicFrame>
      <p:sp>
        <p:nvSpPr>
          <p:cNvPr id="522" name="Google Shape;522;g2a47814ba0b_0_918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03</a:t>
            </a:r>
            <a:endParaRPr>
              <a:latin typeface="Pretendard JP Variable"/>
              <a:ea typeface="Pretendard JP Variab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g2a47814ba0b_0_318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2a47814ba0b_0_318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595629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2a47814ba0b_0_318"/>
          <p:cNvSpPr txBox="1"/>
          <p:nvPr/>
        </p:nvSpPr>
        <p:spPr>
          <a:xfrm>
            <a:off x="353725" y="7404000"/>
            <a:ext cx="12727800" cy="265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20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4. 최적화 및 UI/UX </a:t>
            </a:r>
            <a:endParaRPr sz="12000" b="1">
              <a:solidFill>
                <a:srgbClr val="3f537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g2a47814ba0b_1_8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g2a47814ba0b_1_8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g2a47814ba0b_1_86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2a47814ba0b_1_8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538" name="Google Shape;538;g2a47814ba0b_1_8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알고리즘</a:t>
            </a:r>
            <a:endParaRPr lang="ko-KR" altLang="en-US"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539" name="Google Shape;539;g2a47814ba0b_1_86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939800" y="3058875"/>
            <a:ext cx="4219725" cy="25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g2a47814ba0b_1_86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939800" y="4597400"/>
            <a:ext cx="4219725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g2a47814ba0b_1_86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6634975" y="3096875"/>
            <a:ext cx="3854400" cy="25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g2a47814ba0b_1_86"/>
          <p:cNvPicPr/>
          <p:nvPr/>
        </p:nvPicPr>
        <p:blipFill rotWithShape="1">
          <a:blip r:embed="rId9">
            <a:alphaModFix/>
          </a:blip>
          <a:srcRect/>
          <a:stretch>
            <a:fillRect/>
          </a:stretch>
        </p:blipFill>
        <p:spPr>
          <a:xfrm>
            <a:off x="6634975" y="4559200"/>
            <a:ext cx="38544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g2a47814ba0b_1_86"/>
          <p:cNvSpPr txBox="1"/>
          <p:nvPr/>
        </p:nvSpPr>
        <p:spPr>
          <a:xfrm>
            <a:off x="1143100" y="3556000"/>
            <a:ext cx="3854400" cy="6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주요 ESG </a:t>
            </a:r>
            <a:endParaRPr lang="en-US" sz="37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평가 기관</a:t>
            </a: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544" name="Google Shape;544;g2a47814ba0b_1_86"/>
          <p:cNvSpPr txBox="1"/>
          <p:nvPr/>
        </p:nvSpPr>
        <p:spPr>
          <a:xfrm>
            <a:off x="6768321" y="3486250"/>
            <a:ext cx="35877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주요 </a:t>
            </a:r>
            <a:endParaRPr lang="en-US" sz="3700">
              <a:solidFill>
                <a:srgbClr val="ffffff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평가 항목 추출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545" name="Google Shape;545;g2a47814ba0b_1_86"/>
          <p:cNvSpPr txBox="1"/>
          <p:nvPr/>
        </p:nvSpPr>
        <p:spPr>
          <a:xfrm>
            <a:off x="6960199" y="5105300"/>
            <a:ext cx="3395700" cy="293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342900" marR="0" lvl="0" indent="-36195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latin typeface="Pretendard JP Variable"/>
                <a:ea typeface="Pretendard JP Variable"/>
                <a:cs typeface="Calibri"/>
                <a:sym typeface="Calibri"/>
              </a:rPr>
              <a:t>E, S, G 각 섹터별 평가 기관에서 공통적으로 중요시하는 항목 도출</a:t>
            </a:r>
            <a:endParaRPr lang="en-US" sz="24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342900" marR="0" lvl="0" indent="-36195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latin typeface="Pretendard JP Variable"/>
                <a:ea typeface="Pretendard JP Variable"/>
                <a:cs typeface="Calibri"/>
                <a:sym typeface="Calibri"/>
              </a:rPr>
              <a:t>일관적인 기준 마련</a:t>
            </a:r>
            <a:endParaRPr sz="24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546" name="Google Shape;546;g2a47814ba0b_1_86"/>
          <p:cNvSpPr txBox="1"/>
          <p:nvPr/>
        </p:nvSpPr>
        <p:spPr>
          <a:xfrm>
            <a:off x="1306200" y="1478125"/>
            <a:ext cx="94869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"/>
                <a:ea typeface="Pretendard JP Variable"/>
                <a:cs typeface="Calibri"/>
                <a:sym typeface="Calibri"/>
              </a:rPr>
              <a:t>평가 항목</a:t>
            </a:r>
            <a:endParaRPr b="1">
              <a:latin typeface="Pretendard JP Variable"/>
              <a:ea typeface="Pretendard JP Variable"/>
            </a:endParaRPr>
          </a:p>
        </p:txBody>
      </p:sp>
      <p:sp>
        <p:nvSpPr>
          <p:cNvPr id="547" name="Google Shape;547;g2a47814ba0b_1_86"/>
          <p:cNvSpPr txBox="1"/>
          <p:nvPr/>
        </p:nvSpPr>
        <p:spPr>
          <a:xfrm>
            <a:off x="1301500" y="4841575"/>
            <a:ext cx="3696000" cy="35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latin typeface="Pretendard JP Variable"/>
                <a:ea typeface="Pretendard JP Variable"/>
                <a:cs typeface="Calibri"/>
                <a:sym typeface="Calibri"/>
              </a:rPr>
              <a:t>Sustainalytics</a:t>
            </a:r>
            <a:endParaRPr lang="en-US" sz="24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latin typeface="Pretendard JP Variable"/>
                <a:ea typeface="Pretendard JP Variable"/>
                <a:cs typeface="Calibri"/>
                <a:sym typeface="Calibri"/>
              </a:rPr>
              <a:t>MSCI</a:t>
            </a:r>
            <a:endParaRPr lang="en-US" sz="24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latin typeface="Pretendard JP Variable"/>
                <a:ea typeface="Pretendard JP Variable"/>
                <a:cs typeface="Calibri"/>
                <a:sym typeface="Calibri"/>
              </a:rPr>
              <a:t>ISS</a:t>
            </a:r>
            <a:endParaRPr lang="en-US" sz="24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latin typeface="Pretendard JP Variable"/>
                <a:ea typeface="Pretendard JP Variable"/>
                <a:cs typeface="Calibri"/>
                <a:sym typeface="Calibri"/>
              </a:rPr>
              <a:t>S&amp;P</a:t>
            </a:r>
            <a:endParaRPr lang="en-US" sz="24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latin typeface="Pretendard JP Variable"/>
                <a:ea typeface="Pretendard JP Variable"/>
                <a:cs typeface="Calibri"/>
                <a:sym typeface="Calibri"/>
              </a:rPr>
              <a:t>ESG 기준원</a:t>
            </a:r>
            <a:endParaRPr lang="en-US" sz="2400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4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평가 기관에서 제공하는 </a:t>
            </a:r>
            <a:endParaRPr lang="en-US" sz="24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ct val="25000"/>
              <a:buFont typeface="Calibri"/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24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    </a:t>
            </a:r>
            <a:r>
              <a:rPr lang="en-US" sz="24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평가 항목 조사</a:t>
            </a:r>
            <a:endParaRPr lang="en-US" sz="24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548" name="Google Shape;548;g2a47814ba0b_1_86"/>
          <p:cNvSpPr/>
          <p:nvPr/>
        </p:nvSpPr>
        <p:spPr>
          <a:xfrm>
            <a:off x="5421000" y="5588000"/>
            <a:ext cx="952500" cy="77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5378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666666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549" name="Google Shape;549;g2a47814ba0b_1_86"/>
          <p:cNvSpPr txBox="1"/>
          <p:nvPr/>
        </p:nvSpPr>
        <p:spPr>
          <a:xfrm>
            <a:off x="11217713" y="2768700"/>
            <a:ext cx="4911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500">
                <a:latin typeface="Pretendard JP Variable"/>
                <a:ea typeface="Pretendard JP Variable"/>
                <a:cs typeface="Calibri"/>
                <a:sym typeface="Calibri"/>
              </a:rPr>
              <a:t>예 : E 섹터 항목</a:t>
            </a:r>
            <a:endParaRPr sz="2500">
              <a:latin typeface="Pretendard JP Variable"/>
              <a:ea typeface="Pretendard JP Variable"/>
            </a:endParaRPr>
          </a:p>
        </p:txBody>
      </p:sp>
      <p:pic>
        <p:nvPicPr>
          <p:cNvPr id="550" name="Google Shape;550;g2a47814ba0b_1_86"/>
          <p:cNvPicPr/>
          <p:nvPr/>
        </p:nvPicPr>
        <p:blipFill rotWithShape="1">
          <a:blip r:embed="rId10">
            <a:alphaModFix/>
          </a:blip>
          <a:srcRect t="5880"/>
          <a:stretch>
            <a:fillRect/>
          </a:stretch>
        </p:blipFill>
        <p:spPr>
          <a:xfrm>
            <a:off x="11217725" y="3638650"/>
            <a:ext cx="6364850" cy="52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g2a47814ba0b_1_149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g2a47814ba0b_1_149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g2a47814ba0b_1_149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g2a47814ba0b_1_149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1473200" y="1929775"/>
            <a:ext cx="15303502" cy="7903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g2a47814ba0b_1_149"/>
          <p:cNvSpPr txBox="1"/>
          <p:nvPr/>
        </p:nvSpPr>
        <p:spPr>
          <a:xfrm>
            <a:off x="2412950" y="2730800"/>
            <a:ext cx="12382500" cy="664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38761d"/>
                </a:solidFill>
                <a:latin typeface="Pretendard JP Variable"/>
                <a:ea typeface="Pretendard JP Variable"/>
              </a:rPr>
              <a:t>1. 탄소 배출이나 오염물질 관리 등 자연을 보호하는 데 신경 쓰는지</a:t>
            </a:r>
            <a:endParaRPr lang="en-US" sz="2700" b="1">
              <a:solidFill>
                <a:srgbClr val="38761d"/>
              </a:solidFill>
              <a:latin typeface="Pretendard JP Variable"/>
              <a:ea typeface="Pretendard JP Variable"/>
            </a:endParaRPr>
          </a:p>
          <a:p>
            <a:pPr marL="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38761d"/>
                </a:solidFill>
                <a:latin typeface="Pretendard JP Variable"/>
                <a:ea typeface="Pretendard JP Variable"/>
              </a:rPr>
              <a:t>2. 환경 관리 시스템을 구축하는 등 기후 변화에 적극 대응하는지</a:t>
            </a:r>
            <a:endParaRPr lang="en-US" sz="2700" b="1">
              <a:solidFill>
                <a:srgbClr val="38761d"/>
              </a:solidFill>
              <a:latin typeface="Pretendard JP Variable"/>
              <a:ea typeface="Pretendard JP Variable"/>
            </a:endParaRPr>
          </a:p>
          <a:p>
            <a:pPr marL="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38761d"/>
                </a:solidFill>
                <a:latin typeface="Pretendard JP Variable"/>
                <a:ea typeface="Pretendard JP Variable"/>
              </a:rPr>
              <a:t>3. 생산 과정에서 친환경적으로 제품과 서비스를 제공하는지</a:t>
            </a:r>
            <a:endParaRPr lang="en-US" sz="2700" b="1">
              <a:solidFill>
                <a:srgbClr val="38761d"/>
              </a:solidFill>
              <a:latin typeface="Pretendard JP Variable"/>
              <a:ea typeface="Pretendard JP Variable"/>
            </a:endParaRPr>
          </a:p>
          <a:p>
            <a:pPr marL="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38761d"/>
                </a:solidFill>
                <a:latin typeface="Pretendard JP Variable"/>
                <a:ea typeface="Pretendard JP Variable"/>
              </a:rPr>
              <a:t>4. 자원을 효율적으로 사용하고 배출량을 줄이는지</a:t>
            </a:r>
            <a:endParaRPr lang="en-US" sz="2700" b="1">
              <a:solidFill>
                <a:srgbClr val="38761d"/>
              </a:solidFill>
              <a:latin typeface="Pretendard JP Variable"/>
              <a:ea typeface="Pretendard JP Variable"/>
            </a:endParaRPr>
          </a:p>
          <a:p>
            <a:pPr marL="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38761d"/>
                </a:solidFill>
                <a:latin typeface="Pretendard JP Variable"/>
                <a:ea typeface="Pretendard JP Variable"/>
              </a:rPr>
              <a:t>5. 신재생에너지를 활용하는 등 친환경적으로 활동하는지</a:t>
            </a:r>
            <a:endParaRPr lang="en-US" sz="2700" b="1">
              <a:solidFill>
                <a:srgbClr val="38761d"/>
              </a:solidFill>
              <a:latin typeface="Pretendard JP Variable"/>
              <a:ea typeface="Pretendard JP Variable"/>
            </a:endParaRPr>
          </a:p>
          <a:p>
            <a:pPr marL="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 sz="2700" b="1">
              <a:solidFill>
                <a:srgbClr val="bf9000"/>
              </a:solidFill>
              <a:latin typeface="Pretendard JP Variable"/>
              <a:ea typeface="Pretendard JP Variable"/>
            </a:endParaRPr>
          </a:p>
          <a:p>
            <a:pPr marL="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bf9000"/>
                </a:solidFill>
                <a:latin typeface="Pretendard JP Variable"/>
                <a:ea typeface="Pretendard JP Variable"/>
              </a:rPr>
              <a:t>6. 직원의 안전을 보장하고 소비자의 권리를 보호하는지 </a:t>
            </a:r>
            <a:endParaRPr lang="en-US" sz="2700" b="1">
              <a:solidFill>
                <a:srgbClr val="bf9000"/>
              </a:solidFill>
              <a:latin typeface="Pretendard JP Variable"/>
              <a:ea typeface="Pretendard JP Variable"/>
            </a:endParaRPr>
          </a:p>
          <a:p>
            <a:pPr marL="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bf9000"/>
                </a:solidFill>
                <a:latin typeface="Pretendard JP Variable"/>
                <a:ea typeface="Pretendard JP Variable"/>
              </a:rPr>
              <a:t>7. 지역사회와의 관계를 잘 유지하고 공정하게 운영하는지</a:t>
            </a:r>
            <a:endParaRPr lang="en-US" sz="2700" b="1">
              <a:solidFill>
                <a:srgbClr val="bf9000"/>
              </a:solidFill>
              <a:latin typeface="Pretendard JP Variable"/>
              <a:ea typeface="Pretendard JP Variable"/>
            </a:endParaRPr>
          </a:p>
          <a:p>
            <a:pPr marL="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bf9000"/>
                </a:solidFill>
                <a:latin typeface="Pretendard JP Variable"/>
                <a:ea typeface="Pretendard JP Variable"/>
              </a:rPr>
              <a:t>8. 건강과 사회에 미치는 부정적인 영향을 줄이는지</a:t>
            </a:r>
            <a:endParaRPr lang="en-US" sz="2700" b="1">
              <a:solidFill>
                <a:srgbClr val="bf9000"/>
              </a:solidFill>
              <a:latin typeface="Pretendard JP Variable"/>
              <a:ea typeface="Pretendard JP Variable"/>
            </a:endParaRPr>
          </a:p>
          <a:p>
            <a:pPr marL="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bf9000"/>
                </a:solidFill>
                <a:latin typeface="Pretendard JP Variable"/>
                <a:ea typeface="Pretendard JP Variable"/>
              </a:rPr>
              <a:t>9. 직원에게 차별 없이 워라벨을 지켜주고, 역량 개발을 지원하는지</a:t>
            </a:r>
            <a:endParaRPr lang="en-US" sz="2700" b="1">
              <a:solidFill>
                <a:srgbClr val="bf9000"/>
              </a:solidFill>
              <a:latin typeface="Pretendard JP Variable"/>
              <a:ea typeface="Pretendard JP Variable"/>
            </a:endParaRPr>
          </a:p>
          <a:p>
            <a:pPr marL="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bf9000"/>
                </a:solidFill>
                <a:latin typeface="Pretendard JP Variable"/>
                <a:ea typeface="Pretendard JP Variable"/>
              </a:rPr>
              <a:t>10. 사내 인권 보호, 직원 복지, 공정 거래 등 사회적 책임을 다하는지 </a:t>
            </a:r>
            <a:endParaRPr sz="2700" b="1">
              <a:solidFill>
                <a:srgbClr val="bf9000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560" name="Google Shape;560;g2a47814ba0b_1_149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561" name="Google Shape;561;g2a47814ba0b_1_149"/>
          <p:cNvSpPr txBox="1"/>
          <p:nvPr/>
        </p:nvSpPr>
        <p:spPr>
          <a:xfrm>
            <a:off x="1473200" y="355600"/>
            <a:ext cx="40008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알고리즘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562" name="Google Shape;562;g2a47814ba0b_1_149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5232400" y="1359000"/>
            <a:ext cx="7785099" cy="952500"/>
          </a:xfrm>
          <a:prstGeom prst="rect">
            <a:avLst/>
          </a:prstGeom>
          <a:noFill/>
          <a:ln>
            <a:noFill/>
          </a:ln>
          <a:effectLst>
            <a:outerShdw dist="146538" dir="2700000">
              <a:srgbClr val="000000">
                <a:alpha val="32940"/>
              </a:srgbClr>
            </a:outerShdw>
          </a:effectLst>
        </p:spPr>
      </p:pic>
      <p:sp>
        <p:nvSpPr>
          <p:cNvPr id="563" name="Google Shape;563;g2a47814ba0b_1_149"/>
          <p:cNvSpPr txBox="1"/>
          <p:nvPr/>
        </p:nvSpPr>
        <p:spPr>
          <a:xfrm>
            <a:off x="6235700" y="1486000"/>
            <a:ext cx="58674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사전설문 (총 16문항)</a:t>
            </a:r>
            <a:endParaRPr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564" name="Google Shape;564;g2a47814ba0b_1_149"/>
          <p:cNvSpPr/>
          <p:nvPr/>
        </p:nvSpPr>
        <p:spPr>
          <a:xfrm>
            <a:off x="1778000" y="2654600"/>
            <a:ext cx="12382500" cy="3075300"/>
          </a:xfrm>
          <a:prstGeom prst="bracePair">
            <a:avLst>
              <a:gd name="adj" fmla="val 8333"/>
            </a:avLst>
          </a:prstGeom>
          <a:noFill/>
          <a:ln w="114300" cap="flat" cmpd="sng">
            <a:solidFill>
              <a:srgbClr val="38761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565" name="Google Shape;565;g2a47814ba0b_1_149"/>
          <p:cNvSpPr/>
          <p:nvPr/>
        </p:nvSpPr>
        <p:spPr>
          <a:xfrm>
            <a:off x="1778000" y="6377800"/>
            <a:ext cx="12382500" cy="3075300"/>
          </a:xfrm>
          <a:prstGeom prst="bracePair">
            <a:avLst>
              <a:gd name="adj" fmla="val 8333"/>
            </a:avLst>
          </a:prstGeom>
          <a:noFill/>
          <a:ln w="114300" cap="flat" cmpd="sng">
            <a:solidFill>
              <a:srgbClr val="bf9000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566" name="Google Shape;566;g2a47814ba0b_1_149"/>
          <p:cNvSpPr txBox="1"/>
          <p:nvPr/>
        </p:nvSpPr>
        <p:spPr>
          <a:xfrm>
            <a:off x="14572625" y="3745900"/>
            <a:ext cx="4000800" cy="1223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38761d"/>
                </a:solidFill>
                <a:latin typeface="Pretendard JP Variable"/>
                <a:ea typeface="Pretendard JP Variable"/>
              </a:rPr>
              <a:t>E (환경)</a:t>
            </a:r>
            <a:endParaRPr lang="en-US" sz="2700" b="1">
              <a:solidFill>
                <a:srgbClr val="38761d"/>
              </a:solidFill>
              <a:latin typeface="Pretendard JP Variable"/>
              <a:ea typeface="Pretendard JP Variable"/>
            </a:endParaRPr>
          </a:p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38761d"/>
                </a:solidFill>
                <a:latin typeface="Pretendard JP Variable"/>
                <a:ea typeface="Pretendard JP Variable"/>
              </a:rPr>
              <a:t>관련 항목</a:t>
            </a:r>
            <a:endParaRPr sz="2700" b="1">
              <a:solidFill>
                <a:srgbClr val="38761d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567" name="Google Shape;567;g2a47814ba0b_1_149"/>
          <p:cNvSpPr txBox="1"/>
          <p:nvPr/>
        </p:nvSpPr>
        <p:spPr>
          <a:xfrm>
            <a:off x="14572625" y="7303600"/>
            <a:ext cx="4000800" cy="1223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bf9000"/>
                </a:solidFill>
                <a:latin typeface="Pretendard JP Variable"/>
                <a:ea typeface="Pretendard JP Variable"/>
              </a:rPr>
              <a:t>S (사회)</a:t>
            </a:r>
            <a:endParaRPr lang="en-US" sz="2700" b="1">
              <a:solidFill>
                <a:srgbClr val="bf9000"/>
              </a:solidFill>
              <a:latin typeface="Pretendard JP Variable"/>
              <a:ea typeface="Pretendard JP Variable"/>
            </a:endParaRPr>
          </a:p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bf9000"/>
                </a:solidFill>
                <a:latin typeface="Pretendard JP Variable"/>
                <a:ea typeface="Pretendard JP Variable"/>
              </a:rPr>
              <a:t>관련 항목</a:t>
            </a:r>
            <a:endParaRPr sz="2700" b="1">
              <a:solidFill>
                <a:srgbClr val="bf9000"/>
              </a:solidFill>
              <a:latin typeface="Pretendard JP Variable"/>
              <a:ea typeface="Pretendard JP Variab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g2a47814ba0b_1_133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g2a47814ba0b_1_133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2a47814ba0b_1_133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2a47814ba0b_1_133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1473200" y="1929775"/>
            <a:ext cx="15303502" cy="786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2a47814ba0b_1_133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5251450" y="1359000"/>
            <a:ext cx="7785099" cy="952500"/>
          </a:xfrm>
          <a:prstGeom prst="rect">
            <a:avLst/>
          </a:prstGeom>
          <a:noFill/>
          <a:ln>
            <a:noFill/>
          </a:ln>
          <a:effectLst>
            <a:outerShdw dist="146538" dir="2700000">
              <a:srgbClr val="000000">
                <a:alpha val="32940"/>
              </a:srgbClr>
            </a:outerShdw>
          </a:effectLst>
        </p:spPr>
      </p:pic>
      <p:sp>
        <p:nvSpPr>
          <p:cNvPr id="577" name="Google Shape;577;g2a47814ba0b_1_133"/>
          <p:cNvSpPr txBox="1"/>
          <p:nvPr/>
        </p:nvSpPr>
        <p:spPr>
          <a:xfrm>
            <a:off x="2108150" y="2800350"/>
            <a:ext cx="14122500" cy="4933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990000"/>
                </a:solidFill>
                <a:latin typeface="Pretendard JP Variable"/>
                <a:ea typeface="Pretendard JP Variable"/>
              </a:rPr>
              <a:t>11. 개인정보 보호 등 사이버 보안을 잘 관리하는지 </a:t>
            </a:r>
            <a:endParaRPr lang="en-US" sz="2700" b="1">
              <a:solidFill>
                <a:srgbClr val="990000"/>
              </a:solidFill>
              <a:latin typeface="Pretendard JP Variable"/>
              <a:ea typeface="Pretendard JP Variable"/>
            </a:endParaRPr>
          </a:p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990000"/>
                </a:solidFill>
                <a:latin typeface="Pretendard JP Variable"/>
                <a:ea typeface="Pretendard JP Variable"/>
              </a:rPr>
              <a:t>12. 경영 구조를 유지하기 위해 이사회의 독립성과 전문성을 높이려는지</a:t>
            </a:r>
            <a:endParaRPr lang="en-US" sz="2700" b="1">
              <a:solidFill>
                <a:srgbClr val="990000"/>
              </a:solidFill>
              <a:latin typeface="Pretendard JP Variable"/>
              <a:ea typeface="Pretendard JP Variable"/>
            </a:endParaRPr>
          </a:p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990000"/>
                </a:solidFill>
                <a:latin typeface="Pretendard JP Variable"/>
                <a:ea typeface="Pretendard JP Variable"/>
              </a:rPr>
              <a:t>13. 감사팀을 운영하고 회계 규정을 잘 지키는지</a:t>
            </a:r>
            <a:endParaRPr lang="en-US" sz="2700" b="1">
              <a:solidFill>
                <a:srgbClr val="990000"/>
              </a:solidFill>
              <a:latin typeface="Pretendard JP Variable"/>
              <a:ea typeface="Pretendard JP Variable"/>
            </a:endParaRPr>
          </a:p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990000"/>
                </a:solidFill>
                <a:latin typeface="Pretendard JP Variable"/>
                <a:ea typeface="Pretendard JP Variable"/>
              </a:rPr>
              <a:t>14. 주주의 권리를 보호하고 이익을 돌려주는지</a:t>
            </a:r>
            <a:endParaRPr lang="en-US" sz="2700" b="1">
              <a:solidFill>
                <a:srgbClr val="990000"/>
              </a:solidFill>
              <a:latin typeface="Pretendard JP Variable"/>
              <a:ea typeface="Pretendard JP Variable"/>
            </a:endParaRPr>
          </a:p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990000"/>
                </a:solidFill>
                <a:latin typeface="Pretendard JP Variable"/>
                <a:ea typeface="Pretendard JP Variable"/>
              </a:rPr>
              <a:t>15. 나라에 미치는 영향을 잘 관리하고, 개선된 경영 방식을 도입하는지</a:t>
            </a:r>
            <a:endParaRPr lang="en-US" sz="2700" b="1">
              <a:solidFill>
                <a:srgbClr val="990000"/>
              </a:solidFill>
              <a:latin typeface="Pretendard JP Variable"/>
              <a:ea typeface="Pretendard JP Variable"/>
            </a:endParaRPr>
          </a:p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endParaRPr sz="2700" b="1">
              <a:solidFill>
                <a:schemeClr val="dk1"/>
              </a:solidFill>
              <a:latin typeface="Pretendard JP Variable"/>
              <a:ea typeface="Pretendard JP Variable"/>
            </a:endParaRPr>
          </a:p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endParaRPr sz="2700" b="1">
              <a:solidFill>
                <a:schemeClr val="dk1"/>
              </a:solidFill>
              <a:latin typeface="Pretendard JP Variable"/>
              <a:ea typeface="Pretendard JP Variable"/>
            </a:endParaRPr>
          </a:p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1155cc"/>
                </a:solidFill>
                <a:latin typeface="Pretendard JP Variable"/>
                <a:ea typeface="Pretendard JP Variable"/>
              </a:rPr>
              <a:t>16. 귀하는 투자시 무엇을 고려하시나요? </a:t>
            </a:r>
            <a:r>
              <a:rPr lang="en-US" altLang="ko-KR" sz="2700" b="1">
                <a:solidFill>
                  <a:srgbClr val="1155cc"/>
                </a:solidFill>
                <a:latin typeface="Pretendard JP Variable"/>
                <a:ea typeface="Pretendard JP Variable"/>
              </a:rPr>
              <a:t>(</a:t>
            </a:r>
            <a:r>
              <a:rPr lang="ko-KR" altLang="en-US" sz="2700" b="1">
                <a:solidFill>
                  <a:srgbClr val="1155cc"/>
                </a:solidFill>
                <a:latin typeface="Pretendard JP Variable"/>
                <a:ea typeface="Pretendard JP Variable"/>
              </a:rPr>
              <a:t>선택지</a:t>
            </a:r>
            <a:r>
              <a:rPr lang="en-US" altLang="ko-KR" sz="2700" b="1">
                <a:solidFill>
                  <a:srgbClr val="1155cc"/>
                </a:solidFill>
                <a:latin typeface="Pretendard JP Variable"/>
                <a:ea typeface="Pretendard JP Variable"/>
              </a:rPr>
              <a:t>)</a:t>
            </a:r>
            <a:endParaRPr lang="en-US" altLang="ko-KR" sz="2700" b="1">
              <a:solidFill>
                <a:srgbClr val="1155cc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578" name="Google Shape;578;g2a47814ba0b_1_133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579" name="Google Shape;579;g2a47814ba0b_1_133"/>
          <p:cNvSpPr txBox="1"/>
          <p:nvPr/>
        </p:nvSpPr>
        <p:spPr>
          <a:xfrm>
            <a:off x="1473200" y="355600"/>
            <a:ext cx="40008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알고리즘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580" name="Google Shape;580;g2a47814ba0b_1_133"/>
          <p:cNvSpPr txBox="1"/>
          <p:nvPr/>
        </p:nvSpPr>
        <p:spPr>
          <a:xfrm>
            <a:off x="6235700" y="1559675"/>
            <a:ext cx="58674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사전설문 (총 16문항)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581" name="Google Shape;581;g2a47814ba0b_1_133"/>
          <p:cNvSpPr/>
          <p:nvPr/>
        </p:nvSpPr>
        <p:spPr>
          <a:xfrm>
            <a:off x="1930400" y="2807000"/>
            <a:ext cx="12144900" cy="3075300"/>
          </a:xfrm>
          <a:prstGeom prst="bracePair">
            <a:avLst>
              <a:gd name="adj" fmla="val 8333"/>
            </a:avLst>
          </a:prstGeom>
          <a:noFill/>
          <a:ln w="114300" cap="flat" cmpd="sng">
            <a:solidFill>
              <a:srgbClr val="990000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582" name="Google Shape;582;g2a47814ba0b_1_133"/>
          <p:cNvSpPr/>
          <p:nvPr/>
        </p:nvSpPr>
        <p:spPr>
          <a:xfrm>
            <a:off x="2082800" y="7062275"/>
            <a:ext cx="7218900" cy="660300"/>
          </a:xfrm>
          <a:prstGeom prst="bracePair">
            <a:avLst>
              <a:gd name="adj" fmla="val 8333"/>
            </a:avLst>
          </a:prstGeom>
          <a:noFill/>
          <a:ln w="114300" cap="flat" cmpd="sng">
            <a:solidFill>
              <a:srgbClr val="1155cc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583" name="Google Shape;583;g2a47814ba0b_1_133"/>
          <p:cNvSpPr txBox="1"/>
          <p:nvPr/>
        </p:nvSpPr>
        <p:spPr>
          <a:xfrm>
            <a:off x="9729050" y="6780575"/>
            <a:ext cx="6356648" cy="14166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1155cc"/>
                </a:solidFill>
                <a:latin typeface="Pretendard JP Variable"/>
                <a:ea typeface="Pretendard JP Variable"/>
              </a:rPr>
              <a:t>ESG가치와 재무적 가치의 </a:t>
            </a:r>
            <a:endParaRPr lang="en-US" sz="2700" b="1">
              <a:solidFill>
                <a:srgbClr val="1155cc"/>
              </a:solidFill>
              <a:latin typeface="Pretendard JP Variable"/>
              <a:ea typeface="Pretendard JP Variable"/>
            </a:endParaRPr>
          </a:p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1155cc"/>
                </a:solidFill>
                <a:latin typeface="Pretendard JP Variable"/>
                <a:ea typeface="Pretendard JP Variable"/>
              </a:rPr>
              <a:t>상대적 중요도 반영 항목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584" name="Google Shape;584;g2a47814ba0b_1_133"/>
          <p:cNvSpPr txBox="1"/>
          <p:nvPr/>
        </p:nvSpPr>
        <p:spPr>
          <a:xfrm>
            <a:off x="14075300" y="3732800"/>
            <a:ext cx="2966400" cy="1223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990000"/>
                </a:solidFill>
                <a:latin typeface="Pretendard JP Variable"/>
                <a:ea typeface="Pretendard JP Variable"/>
              </a:rPr>
              <a:t>G (지배구조)</a:t>
            </a:r>
            <a:endParaRPr lang="en-US" sz="2700" b="1">
              <a:solidFill>
                <a:srgbClr val="990000"/>
              </a:solidFill>
              <a:latin typeface="Pretendard JP Variable"/>
              <a:ea typeface="Pretendard JP Variable"/>
            </a:endParaRPr>
          </a:p>
          <a:p>
            <a:pPr marL="381000" marR="3810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 b="1">
                <a:solidFill>
                  <a:srgbClr val="990000"/>
                </a:solidFill>
                <a:latin typeface="Pretendard JP Variable"/>
                <a:ea typeface="Pretendard JP Variable"/>
              </a:rPr>
              <a:t>평가 항목</a:t>
            </a:r>
            <a:endParaRPr sz="2700" b="1">
              <a:solidFill>
                <a:srgbClr val="990000"/>
              </a:solidFill>
              <a:latin typeface="Pretendard JP Variable"/>
              <a:ea typeface="Pretendard JP Variab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g2a47814ba0b_1_161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g2a47814ba0b_1_161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g2a47814ba0b_1_161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g2a47814ba0b_1_161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593" name="Google Shape;593;g2a47814ba0b_1_161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</a:t>
            </a: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알고리즘</a:t>
            </a:r>
            <a:endParaRPr lang="ko-KR" altLang="en-US"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594" name="Google Shape;594;g2a47814ba0b_1_161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3149600" y="3365500"/>
            <a:ext cx="4219725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g2a47814ba0b_1_161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3149600" y="4411275"/>
            <a:ext cx="4219725" cy="203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g2a47814ba0b_1_161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10521175" y="3377850"/>
            <a:ext cx="5921624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g2a47814ba0b_1_161"/>
          <p:cNvPicPr/>
          <p:nvPr/>
        </p:nvPicPr>
        <p:blipFill rotWithShape="1">
          <a:blip r:embed="rId9">
            <a:alphaModFix/>
          </a:blip>
          <a:srcRect/>
          <a:stretch>
            <a:fillRect/>
          </a:stretch>
        </p:blipFill>
        <p:spPr>
          <a:xfrm>
            <a:off x="10521175" y="4533550"/>
            <a:ext cx="5921624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g2a47814ba0b_1_161"/>
          <p:cNvSpPr txBox="1"/>
          <p:nvPr/>
        </p:nvSpPr>
        <p:spPr>
          <a:xfrm>
            <a:off x="3352900" y="3632200"/>
            <a:ext cx="3854400" cy="6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사용자 답변</a:t>
            </a: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599" name="Google Shape;599;g2a47814ba0b_1_161"/>
          <p:cNvSpPr txBox="1"/>
          <p:nvPr/>
        </p:nvSpPr>
        <p:spPr>
          <a:xfrm>
            <a:off x="10726038" y="3613000"/>
            <a:ext cx="55119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결과 기반 선호도 분석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600" name="Google Shape;600;g2a47814ba0b_1_161"/>
          <p:cNvSpPr txBox="1"/>
          <p:nvPr/>
        </p:nvSpPr>
        <p:spPr>
          <a:xfrm>
            <a:off x="10726050" y="5079650"/>
            <a:ext cx="5511900" cy="293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5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답변에 따른 조합 결과를 블렌딩한 가중치를 최적화 파라미터로 반영</a:t>
            </a:r>
            <a:endParaRPr lang="en-US" sz="25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5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사용자 답변에 대한 결과를 블랙리터만 모델을 사용하여 연산</a:t>
            </a:r>
            <a:endParaRPr sz="25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01" name="Google Shape;601;g2a47814ba0b_1_161"/>
          <p:cNvSpPr txBox="1"/>
          <p:nvPr/>
        </p:nvSpPr>
        <p:spPr>
          <a:xfrm>
            <a:off x="1306200" y="1478125"/>
            <a:ext cx="94869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"/>
                <a:ea typeface="Pretendard JP Variable"/>
                <a:cs typeface="Calibri"/>
                <a:sym typeface="Calibri"/>
              </a:rPr>
              <a:t>최적화 방법</a:t>
            </a:r>
            <a:endParaRPr b="1">
              <a:latin typeface="Pretendard JP Variable"/>
              <a:ea typeface="Pretendard JP Variable"/>
            </a:endParaRPr>
          </a:p>
        </p:txBody>
      </p:sp>
      <p:sp>
        <p:nvSpPr>
          <p:cNvPr id="602" name="Google Shape;602;g2a47814ba0b_1_161"/>
          <p:cNvSpPr txBox="1"/>
          <p:nvPr/>
        </p:nvSpPr>
        <p:spPr>
          <a:xfrm>
            <a:off x="3253076" y="4715375"/>
            <a:ext cx="3854400" cy="16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Char char="●"/>
              <a:defRPr>
                <a:latin typeface="Pretendard Variable"/>
                <a:ea typeface="Pretendard Variable"/>
              </a:defRPr>
            </a:pPr>
            <a:r>
              <a:rPr lang="en-US" sz="21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E / S / G 항목에 대한 가중치 부여하여 사용자 선호도 분석</a:t>
            </a:r>
            <a:endParaRPr sz="21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03" name="Google Shape;603;g2a47814ba0b_1_161"/>
          <p:cNvSpPr/>
          <p:nvPr/>
        </p:nvSpPr>
        <p:spPr>
          <a:xfrm>
            <a:off x="8469000" y="5588000"/>
            <a:ext cx="952500" cy="77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5378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666666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04" name="Google Shape;604;g2a47814ba0b_1_161"/>
          <p:cNvSpPr txBox="1"/>
          <p:nvPr/>
        </p:nvSpPr>
        <p:spPr>
          <a:xfrm>
            <a:off x="1898800" y="9071025"/>
            <a:ext cx="8827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500">
                <a:latin typeface="Pretendard JP Variable"/>
                <a:ea typeface="Pretendard JP Variable"/>
                <a:cs typeface="Calibri"/>
                <a:sym typeface="Calibri"/>
              </a:rPr>
              <a:t>예 : E 섹터 첫 번째 질문 답변에 대한 가중치 적용 방법</a:t>
            </a:r>
            <a:endParaRPr sz="2500">
              <a:latin typeface="Pretendard JP Variable"/>
              <a:ea typeface="Pretendard JP Variable"/>
            </a:endParaRPr>
          </a:p>
        </p:txBody>
      </p:sp>
      <p:pic>
        <p:nvPicPr>
          <p:cNvPr id="605" name="Google Shape;605;g2a47814ba0b_1_161"/>
          <p:cNvPicPr/>
          <p:nvPr/>
        </p:nvPicPr>
        <p:blipFill rotWithShape="1">
          <a:blip r:embed="rId10">
            <a:alphaModFix/>
          </a:blip>
          <a:srcRect l="1410" t="25930" r="2730" b="6150"/>
          <a:stretch>
            <a:fillRect/>
          </a:stretch>
        </p:blipFill>
        <p:spPr>
          <a:xfrm>
            <a:off x="1700175" y="6741150"/>
            <a:ext cx="7478125" cy="203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g2a47814ba0b_1_183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g2a47814ba0b_1_183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g2a47814ba0b_1_183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2a47814ba0b_1_183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614" name="Google Shape;614;g2a47814ba0b_1_183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알고리즘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615" name="Google Shape;615;g2a47814ba0b_1_183"/>
          <p:cNvSpPr txBox="1"/>
          <p:nvPr/>
        </p:nvSpPr>
        <p:spPr>
          <a:xfrm>
            <a:off x="1306200" y="1478125"/>
            <a:ext cx="94869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 Black"/>
                <a:ea typeface="Pretendard JP Variable Black"/>
                <a:cs typeface="Calibri"/>
                <a:sym typeface="Calibri"/>
              </a:rPr>
              <a:t>최적화 알고리즘 작동 각 단계별 설명</a:t>
            </a:r>
            <a:endParaRPr lang="ko-KR" altLang="en-US" sz="3700">
              <a:latin typeface="Pretendard JP Variable Black"/>
              <a:ea typeface="Pretendard JP Variable Black"/>
              <a:cs typeface="Calibri"/>
              <a:sym typeface="Calibri"/>
            </a:endParaRPr>
          </a:p>
        </p:txBody>
      </p:sp>
      <p:pic>
        <p:nvPicPr>
          <p:cNvPr id="616" name="Google Shape;616;g2a47814ba0b_1_183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4289075" y="6804225"/>
            <a:ext cx="28194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g2a47814ba0b_1_183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10727975" y="6880425"/>
            <a:ext cx="3022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g2a47814ba0b_1_183"/>
          <p:cNvSpPr txBox="1"/>
          <p:nvPr/>
        </p:nvSpPr>
        <p:spPr>
          <a:xfrm>
            <a:off x="8067158" y="7403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fld id="{00000000-1234-1234-1234-123412341234}" type="slidenum">
              <a:rPr lang="en-US" sz="1000">
                <a:solidFill>
                  <a:srgbClr val="ffffff"/>
                </a:solidFill>
                <a:latin typeface="Pretendard JP Variable"/>
                <a:ea typeface="Pretendard JP Variable"/>
                <a:cs typeface="Lato"/>
                <a:sym typeface="La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Pretendard Variable"/>
                  <a:ea typeface="Pretendard Variable"/>
                </a:defRPr>
              </a:pPr>
              <a:t>25</a:t>
            </a:fld>
            <a:endParaRPr lang="en-US" sz="1000">
              <a:solidFill>
                <a:srgbClr val="ffffff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sp>
        <p:nvSpPr>
          <p:cNvPr id="619" name="Google Shape;619;g2a47814ba0b_1_183"/>
          <p:cNvSpPr/>
          <p:nvPr/>
        </p:nvSpPr>
        <p:spPr>
          <a:xfrm>
            <a:off x="4080600" y="4782375"/>
            <a:ext cx="2730600" cy="2827800"/>
          </a:xfrm>
          <a:prstGeom prst="ellipse">
            <a:avLst/>
          </a:prstGeom>
          <a:solidFill>
            <a:srgbClr val="3f5378"/>
          </a:solidFill>
          <a:ln w="9525" cap="flat" cmpd="sng">
            <a:solidFill>
              <a:schemeClr val="dk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20" name="Google Shape;620;g2a47814ba0b_1_183"/>
          <p:cNvSpPr/>
          <p:nvPr/>
        </p:nvSpPr>
        <p:spPr>
          <a:xfrm>
            <a:off x="4080600" y="3253438"/>
            <a:ext cx="2730600" cy="2827800"/>
          </a:xfrm>
          <a:prstGeom prst="ellipse">
            <a:avLst/>
          </a:prstGeom>
          <a:noFill/>
          <a:ln w="28575" cap="flat" cmpd="sng">
            <a:solidFill>
              <a:srgbClr val="475375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21" name="Google Shape;621;g2a47814ba0b_1_183"/>
          <p:cNvSpPr txBox="1"/>
          <p:nvPr/>
        </p:nvSpPr>
        <p:spPr>
          <a:xfrm>
            <a:off x="3953700" y="4280813"/>
            <a:ext cx="29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200">
                <a:solidFill>
                  <a:schemeClr val="dk1"/>
                </a:solidFill>
                <a:latin typeface="Pretendard JP Variable"/>
                <a:ea typeface="Pretendard JP Variable"/>
              </a:rPr>
              <a:t>기업의 ESG 스코어</a:t>
            </a:r>
            <a:endParaRPr>
              <a:solidFill>
                <a:schemeClr val="dk1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622" name="Google Shape;622;g2a47814ba0b_1_183"/>
          <p:cNvSpPr txBox="1"/>
          <p:nvPr/>
        </p:nvSpPr>
        <p:spPr>
          <a:xfrm>
            <a:off x="4080600" y="5419725"/>
            <a:ext cx="2730600" cy="1552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700">
                <a:solidFill>
                  <a:schemeClr val="lt1"/>
                </a:solidFill>
                <a:latin typeface="Pretendard JP Variable"/>
                <a:ea typeface="Pretendard JP Variable"/>
              </a:rPr>
              <a:t>최신 점수에 </a:t>
            </a:r>
            <a:endParaRPr lang="en-US" sz="1700">
              <a:solidFill>
                <a:schemeClr val="lt1"/>
              </a:solidFill>
              <a:latin typeface="Pretendard JP Variable"/>
              <a:ea typeface="Pretendard JP Variable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700">
                <a:solidFill>
                  <a:schemeClr val="lt1"/>
                </a:solidFill>
                <a:latin typeface="Pretendard JP Variable"/>
                <a:ea typeface="Pretendard JP Variable"/>
              </a:rPr>
              <a:t>더 높은 비중을 부여한 </a:t>
            </a:r>
            <a:endParaRPr lang="en-US" sz="1700">
              <a:solidFill>
                <a:schemeClr val="lt1"/>
              </a:solidFill>
              <a:latin typeface="Pretendard JP Variable"/>
              <a:ea typeface="Pretendard JP Variable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700" b="1">
                <a:solidFill>
                  <a:schemeClr val="lt1"/>
                </a:solidFill>
                <a:latin typeface="Pretendard JP Variable"/>
                <a:ea typeface="Pretendard JP Variable"/>
              </a:rPr>
              <a:t>가중 평균</a:t>
            </a:r>
            <a:r>
              <a:rPr lang="en-US" sz="1700">
                <a:solidFill>
                  <a:schemeClr val="lt1"/>
                </a:solidFill>
                <a:latin typeface="Pretendard JP Variable"/>
                <a:ea typeface="Pretendard JP Variable"/>
              </a:rPr>
              <a:t> 계산</a:t>
            </a:r>
            <a:endParaRPr sz="1700">
              <a:solidFill>
                <a:schemeClr val="lt1"/>
              </a:solidFill>
              <a:latin typeface="한컴바탕"/>
              <a:ea typeface="한컴바탕"/>
              <a:cs typeface="굴림"/>
              <a:sym typeface="굴림"/>
            </a:endParaRPr>
          </a:p>
        </p:txBody>
      </p:sp>
      <p:sp>
        <p:nvSpPr>
          <p:cNvPr id="623" name="Google Shape;623;g2a47814ba0b_1_183"/>
          <p:cNvSpPr/>
          <p:nvPr/>
        </p:nvSpPr>
        <p:spPr>
          <a:xfrm>
            <a:off x="1000900" y="4875063"/>
            <a:ext cx="2730600" cy="2827800"/>
          </a:xfrm>
          <a:prstGeom prst="ellipse">
            <a:avLst/>
          </a:prstGeom>
          <a:solidFill>
            <a:srgbClr val="3f5378"/>
          </a:solidFill>
          <a:ln w="9525" cap="flat" cmpd="sng">
            <a:solidFill>
              <a:schemeClr val="dk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24" name="Google Shape;624;g2a47814ba0b_1_183"/>
          <p:cNvSpPr/>
          <p:nvPr/>
        </p:nvSpPr>
        <p:spPr>
          <a:xfrm>
            <a:off x="1000900" y="3346125"/>
            <a:ext cx="2730600" cy="2827800"/>
          </a:xfrm>
          <a:prstGeom prst="ellipse">
            <a:avLst/>
          </a:prstGeom>
          <a:noFill/>
          <a:ln w="28575" cap="flat" cmpd="sng">
            <a:solidFill>
              <a:srgbClr val="475375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25" name="Google Shape;625;g2a47814ba0b_1_183"/>
          <p:cNvSpPr txBox="1"/>
          <p:nvPr/>
        </p:nvSpPr>
        <p:spPr>
          <a:xfrm>
            <a:off x="874000" y="4271650"/>
            <a:ext cx="29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200">
                <a:solidFill>
                  <a:schemeClr val="dk1"/>
                </a:solidFill>
                <a:latin typeface="Pretendard JP Variable"/>
                <a:ea typeface="Pretendard JP Variable"/>
              </a:rPr>
              <a:t>사용자 응답</a:t>
            </a:r>
            <a:endParaRPr>
              <a:solidFill>
                <a:schemeClr val="dk1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626" name="Google Shape;626;g2a47814ba0b_1_183"/>
          <p:cNvSpPr txBox="1"/>
          <p:nvPr/>
        </p:nvSpPr>
        <p:spPr>
          <a:xfrm>
            <a:off x="1000900" y="5991225"/>
            <a:ext cx="2730600" cy="1038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700">
                <a:solidFill>
                  <a:schemeClr val="lt1"/>
                </a:solidFill>
                <a:latin typeface="Pretendard JP Variable"/>
                <a:ea typeface="Pretendard JP Variable"/>
              </a:rPr>
              <a:t>E / S /G 섹터에</a:t>
            </a:r>
            <a:r>
              <a:rPr lang="ko-KR" altLang="en-US" sz="1700">
                <a:solidFill>
                  <a:schemeClr val="lt1"/>
                </a:solidFill>
                <a:latin typeface="Pretendard JP Variable"/>
                <a:ea typeface="Pretendard JP Variable"/>
              </a:rPr>
              <a:t> </a:t>
            </a:r>
            <a:r>
              <a:rPr lang="en-US" sz="1700">
                <a:solidFill>
                  <a:schemeClr val="lt1"/>
                </a:solidFill>
                <a:latin typeface="Pretendard JP Variable"/>
                <a:ea typeface="Pretendard JP Variable"/>
              </a:rPr>
              <a:t>대한 </a:t>
            </a:r>
            <a:r>
              <a:rPr lang="en-US" sz="1700" b="1">
                <a:solidFill>
                  <a:schemeClr val="lt1"/>
                </a:solidFill>
                <a:latin typeface="Pretendard JP Variable"/>
                <a:ea typeface="Pretendard JP Variable"/>
              </a:rPr>
              <a:t>중요도</a:t>
            </a:r>
            <a:r>
              <a:rPr lang="en-US" sz="1700">
                <a:solidFill>
                  <a:schemeClr val="lt1"/>
                </a:solidFill>
                <a:latin typeface="Pretendard JP Variable"/>
                <a:ea typeface="Pretendard JP Variable"/>
              </a:rPr>
              <a:t> </a:t>
            </a:r>
            <a:endParaRPr lang="en-US" sz="1700">
              <a:solidFill>
                <a:schemeClr val="lt1"/>
              </a:solidFill>
              <a:latin typeface="Pretendard JP Variable"/>
              <a:ea typeface="Pretendard JP Variable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700">
                <a:solidFill>
                  <a:schemeClr val="lt1"/>
                </a:solidFill>
                <a:latin typeface="Pretendard JP Variable"/>
                <a:ea typeface="Pretendard JP Variable"/>
              </a:rPr>
              <a:t>&amp; </a:t>
            </a:r>
            <a:r>
              <a:rPr lang="en-US" sz="1700" b="1">
                <a:solidFill>
                  <a:schemeClr val="lt1"/>
                </a:solidFill>
                <a:latin typeface="Pretendard JP Variable"/>
                <a:ea typeface="Pretendard JP Variable"/>
              </a:rPr>
              <a:t>투자 성향</a:t>
            </a:r>
            <a:endParaRPr sz="1700" b="1">
              <a:solidFill>
                <a:schemeClr val="lt1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627" name="Google Shape;627;g2a47814ba0b_1_183"/>
          <p:cNvSpPr/>
          <p:nvPr/>
        </p:nvSpPr>
        <p:spPr>
          <a:xfrm>
            <a:off x="8773300" y="4681750"/>
            <a:ext cx="2730600" cy="2827800"/>
          </a:xfrm>
          <a:prstGeom prst="ellipse">
            <a:avLst/>
          </a:prstGeom>
          <a:solidFill>
            <a:srgbClr val="3f5378"/>
          </a:solidFill>
          <a:ln w="9525" cap="flat" cmpd="sng">
            <a:solidFill>
              <a:schemeClr val="dk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28" name="Google Shape;628;g2a47814ba0b_1_183"/>
          <p:cNvSpPr/>
          <p:nvPr/>
        </p:nvSpPr>
        <p:spPr>
          <a:xfrm>
            <a:off x="8773300" y="3152813"/>
            <a:ext cx="2730600" cy="2827800"/>
          </a:xfrm>
          <a:prstGeom prst="ellipse">
            <a:avLst/>
          </a:prstGeom>
          <a:noFill/>
          <a:ln w="28575" cap="flat" cmpd="sng">
            <a:solidFill>
              <a:srgbClr val="475375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29" name="Google Shape;629;g2a47814ba0b_1_183"/>
          <p:cNvSpPr txBox="1"/>
          <p:nvPr/>
        </p:nvSpPr>
        <p:spPr>
          <a:xfrm>
            <a:off x="8646400" y="4271638"/>
            <a:ext cx="298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200">
                <a:solidFill>
                  <a:schemeClr val="dk1"/>
                </a:solidFill>
                <a:latin typeface="Pretendard JP Variable"/>
                <a:ea typeface="Pretendard JP Variable"/>
              </a:rPr>
              <a:t>ESG 점수 조정</a:t>
            </a:r>
            <a:endParaRPr>
              <a:solidFill>
                <a:schemeClr val="dk1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630" name="Google Shape;630;g2a47814ba0b_1_183"/>
          <p:cNvSpPr txBox="1"/>
          <p:nvPr/>
        </p:nvSpPr>
        <p:spPr>
          <a:xfrm>
            <a:off x="8773300" y="5494775"/>
            <a:ext cx="2730600" cy="123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600">
                <a:solidFill>
                  <a:schemeClr val="lt1"/>
                </a:solidFill>
                <a:latin typeface="Pretendard JP Variable"/>
                <a:ea typeface="Pretendard JP Variable"/>
              </a:rPr>
              <a:t>ESG 선호도를 바탕으로</a:t>
            </a:r>
            <a:endParaRPr lang="en-US" sz="1600">
              <a:solidFill>
                <a:schemeClr val="lt1"/>
              </a:solidFill>
              <a:latin typeface="Pretendard JP Variable"/>
              <a:ea typeface="Pretendard JP Variable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600" b="1">
                <a:solidFill>
                  <a:schemeClr val="lt1"/>
                </a:solidFill>
                <a:latin typeface="Pretendard JP Variable"/>
                <a:ea typeface="Pretendard JP Variable"/>
              </a:rPr>
              <a:t>최종 스코어 도출</a:t>
            </a:r>
            <a:r>
              <a:rPr lang="en-US" sz="1600">
                <a:solidFill>
                  <a:schemeClr val="lt1"/>
                </a:solidFill>
                <a:latin typeface="Pretendard JP Variable"/>
                <a:ea typeface="Pretendard JP Variable"/>
              </a:rPr>
              <a:t> &amp; </a:t>
            </a:r>
            <a:r>
              <a:rPr lang="en-US" sz="1600" b="1">
                <a:solidFill>
                  <a:schemeClr val="lt1"/>
                </a:solidFill>
                <a:latin typeface="Pretendard JP Variable"/>
                <a:ea typeface="Pretendard JP Variable"/>
              </a:rPr>
              <a:t>투자 성향:</a:t>
            </a:r>
            <a:r>
              <a:rPr lang="en-US" sz="1600">
                <a:solidFill>
                  <a:schemeClr val="lt1"/>
                </a:solidFill>
                <a:latin typeface="Pretendard JP Variable"/>
                <a:ea typeface="Pretendard JP Variable"/>
              </a:rPr>
              <a:t> ESG 스코어 </a:t>
            </a:r>
            <a:r>
              <a:rPr lang="en-US" sz="1600" b="1">
                <a:solidFill>
                  <a:schemeClr val="lt1"/>
                </a:solidFill>
                <a:latin typeface="Pretendard JP Variable"/>
                <a:ea typeface="Pretendard JP Variable"/>
              </a:rPr>
              <a:t>가중치로 적용</a:t>
            </a:r>
            <a:r>
              <a:rPr lang="en-US" sz="1600">
                <a:solidFill>
                  <a:schemeClr val="lt1"/>
                </a:solidFill>
                <a:latin typeface="Pretendard JP Variable"/>
                <a:ea typeface="Pretendard JP Variable"/>
              </a:rPr>
              <a:t> </a:t>
            </a:r>
            <a:endParaRPr sz="1600">
              <a:solidFill>
                <a:schemeClr val="lt1"/>
              </a:solidFill>
              <a:latin typeface="한컴바탕"/>
              <a:ea typeface="한컴바탕"/>
              <a:cs typeface="굴림"/>
              <a:sym typeface="굴림"/>
            </a:endParaRPr>
          </a:p>
        </p:txBody>
      </p:sp>
      <p:sp>
        <p:nvSpPr>
          <p:cNvPr id="631" name="Google Shape;631;g2a47814ba0b_1_183"/>
          <p:cNvSpPr/>
          <p:nvPr/>
        </p:nvSpPr>
        <p:spPr>
          <a:xfrm>
            <a:off x="7463525" y="4929100"/>
            <a:ext cx="952500" cy="77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5378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666666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32" name="Google Shape;632;g2a47814ba0b_1_183"/>
          <p:cNvSpPr/>
          <p:nvPr/>
        </p:nvSpPr>
        <p:spPr>
          <a:xfrm>
            <a:off x="14180500" y="4666663"/>
            <a:ext cx="2730600" cy="2827800"/>
          </a:xfrm>
          <a:prstGeom prst="ellipse">
            <a:avLst/>
          </a:prstGeom>
          <a:solidFill>
            <a:srgbClr val="3f5378"/>
          </a:solidFill>
          <a:ln w="9525" cap="flat" cmpd="sng">
            <a:solidFill>
              <a:schemeClr val="dk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33" name="Google Shape;633;g2a47814ba0b_1_183"/>
          <p:cNvSpPr/>
          <p:nvPr/>
        </p:nvSpPr>
        <p:spPr>
          <a:xfrm>
            <a:off x="14180500" y="3137725"/>
            <a:ext cx="2730600" cy="2827800"/>
          </a:xfrm>
          <a:prstGeom prst="ellipse">
            <a:avLst/>
          </a:prstGeom>
          <a:noFill/>
          <a:ln w="28575" cap="flat" cmpd="sng">
            <a:solidFill>
              <a:srgbClr val="475375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34" name="Google Shape;634;g2a47814ba0b_1_183"/>
          <p:cNvSpPr txBox="1"/>
          <p:nvPr/>
        </p:nvSpPr>
        <p:spPr>
          <a:xfrm>
            <a:off x="14053600" y="3912238"/>
            <a:ext cx="2984400" cy="716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200">
                <a:solidFill>
                  <a:schemeClr val="dk1"/>
                </a:solidFill>
                <a:latin typeface="Pretendard JP Variable"/>
                <a:ea typeface="Pretendard JP Variable"/>
              </a:rPr>
              <a:t>시장 데이터 수집 </a:t>
            </a:r>
            <a:endParaRPr lang="en-US" sz="2200">
              <a:solidFill>
                <a:schemeClr val="dk1"/>
              </a:solidFill>
              <a:latin typeface="Pretendard JP Variable"/>
              <a:ea typeface="Pretendard JP Variable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200">
                <a:solidFill>
                  <a:schemeClr val="dk1"/>
                </a:solidFill>
                <a:latin typeface="Pretendard JP Variable"/>
                <a:ea typeface="Pretendard JP Variable"/>
              </a:rPr>
              <a:t>및 공분산 행렬 계산</a:t>
            </a:r>
            <a:endParaRPr>
              <a:solidFill>
                <a:schemeClr val="dk1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635" name="Google Shape;635;g2a47814ba0b_1_183"/>
          <p:cNvSpPr txBox="1"/>
          <p:nvPr/>
        </p:nvSpPr>
        <p:spPr>
          <a:xfrm>
            <a:off x="14180500" y="5467350"/>
            <a:ext cx="2730600" cy="1466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일정 </a:t>
            </a:r>
            <a:r>
              <a:rPr lang="en-US" sz="1600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기간의 시장 </a:t>
            </a:r>
            <a:endParaRPr lang="en-US" sz="1600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600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데이터 수집 &amp; </a:t>
            </a:r>
            <a:r>
              <a:rPr lang="en-US" sz="1600">
                <a:solidFill>
                  <a:schemeClr val="lt1"/>
                </a:solidFill>
                <a:latin typeface="Pretendard JP Variable"/>
                <a:ea typeface="Pretendard JP Variable"/>
              </a:rPr>
              <a:t>평균 수익률 및 </a:t>
            </a:r>
            <a:endParaRPr lang="en-US" sz="1600">
              <a:solidFill>
                <a:schemeClr val="lt1"/>
              </a:solidFill>
              <a:latin typeface="Pretendard JP Variable"/>
              <a:ea typeface="Pretendard JP Variable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600" b="1">
                <a:solidFill>
                  <a:schemeClr val="lt1"/>
                </a:solidFill>
                <a:latin typeface="Pretendard JP Variable"/>
                <a:ea typeface="Pretendard JP Variable"/>
              </a:rPr>
              <a:t>공분산 행렬</a:t>
            </a:r>
            <a:r>
              <a:rPr lang="en-US" sz="1600">
                <a:solidFill>
                  <a:schemeClr val="lt1"/>
                </a:solidFill>
                <a:latin typeface="Pretendard JP Variable"/>
                <a:ea typeface="Pretendard JP Variable"/>
              </a:rPr>
              <a:t> 계산</a:t>
            </a:r>
            <a:endParaRPr sz="2100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36" name="Google Shape;636;g2a47814ba0b_1_183"/>
          <p:cNvSpPr/>
          <p:nvPr/>
        </p:nvSpPr>
        <p:spPr>
          <a:xfrm>
            <a:off x="12761301" y="1979425"/>
            <a:ext cx="45600" cy="6920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dist="19050" dir="10920000" algn="bl" rotWithShape="0">
              <a:srgbClr val="7c8da0">
                <a:alpha val="50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g2a47814ba0b_1_23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g2a47814ba0b_1_23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g2a47814ba0b_1_236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g2a47814ba0b_1_23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645" name="Google Shape;645;g2a47814ba0b_1_23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알고리즘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646" name="Google Shape;646;g2a47814ba0b_1_236"/>
          <p:cNvSpPr txBox="1"/>
          <p:nvPr/>
        </p:nvSpPr>
        <p:spPr>
          <a:xfrm>
            <a:off x="1306200" y="1478125"/>
            <a:ext cx="94869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 Black"/>
                <a:ea typeface="Pretendard JP Variable Black"/>
                <a:cs typeface="Calibri"/>
                <a:sym typeface="Calibri"/>
              </a:rPr>
              <a:t>최적화 모델 적용</a:t>
            </a:r>
            <a:endParaRPr b="1">
              <a:latin typeface="Pretendard JP Variable Black"/>
              <a:ea typeface="Pretendard JP Variable Black"/>
            </a:endParaRPr>
          </a:p>
        </p:txBody>
      </p:sp>
      <p:sp>
        <p:nvSpPr>
          <p:cNvPr id="647" name="Google Shape;647;g2a47814ba0b_1_236"/>
          <p:cNvSpPr/>
          <p:nvPr/>
        </p:nvSpPr>
        <p:spPr>
          <a:xfrm>
            <a:off x="6574975" y="4116950"/>
            <a:ext cx="2730600" cy="2827800"/>
          </a:xfrm>
          <a:prstGeom prst="ellipse">
            <a:avLst/>
          </a:prstGeom>
          <a:solidFill>
            <a:srgbClr val="7a8c9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7a8c9f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48" name="Google Shape;648;g2a47814ba0b_1_236"/>
          <p:cNvSpPr txBox="1"/>
          <p:nvPr/>
        </p:nvSpPr>
        <p:spPr>
          <a:xfrm>
            <a:off x="6574975" y="5332500"/>
            <a:ext cx="2730600" cy="69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100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조정된 시장 기대 수익률 </a:t>
            </a:r>
            <a:endParaRPr sz="2700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49" name="Google Shape;649;g2a47814ba0b_1_236"/>
          <p:cNvSpPr/>
          <p:nvPr/>
        </p:nvSpPr>
        <p:spPr>
          <a:xfrm>
            <a:off x="765725" y="4782375"/>
            <a:ext cx="2730600" cy="2827800"/>
          </a:xfrm>
          <a:prstGeom prst="ellipse">
            <a:avLst/>
          </a:prstGeom>
          <a:solidFill>
            <a:srgbClr val="808c9d"/>
          </a:solidFill>
          <a:ln w="9525" cap="flat" cmpd="sng">
            <a:solidFill>
              <a:schemeClr val="dk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50" name="Google Shape;650;g2a47814ba0b_1_236"/>
          <p:cNvSpPr/>
          <p:nvPr/>
        </p:nvSpPr>
        <p:spPr>
          <a:xfrm>
            <a:off x="765725" y="3253438"/>
            <a:ext cx="2730600" cy="2827800"/>
          </a:xfrm>
          <a:prstGeom prst="ellipse">
            <a:avLst/>
          </a:prstGeom>
          <a:noFill/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51" name="Google Shape;651;g2a47814ba0b_1_236"/>
          <p:cNvSpPr txBox="1"/>
          <p:nvPr/>
        </p:nvSpPr>
        <p:spPr>
          <a:xfrm>
            <a:off x="638825" y="4027950"/>
            <a:ext cx="2984400" cy="704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200">
                <a:solidFill>
                  <a:schemeClr val="dk1"/>
                </a:solidFill>
                <a:latin typeface="Pretendard JP Variable"/>
                <a:ea typeface="Pretendard JP Variable"/>
              </a:rPr>
              <a:t>사용자 응답 </a:t>
            </a:r>
            <a:endParaRPr lang="en-US" sz="2200">
              <a:solidFill>
                <a:schemeClr val="dk1"/>
              </a:solidFill>
              <a:latin typeface="Pretendard JP Variable"/>
              <a:ea typeface="Pretendard JP Variable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200">
                <a:solidFill>
                  <a:schemeClr val="dk1"/>
                </a:solidFill>
                <a:latin typeface="Pretendard JP Variable"/>
                <a:ea typeface="Pretendard JP Variable"/>
              </a:rPr>
              <a:t>및 시장의견</a:t>
            </a:r>
            <a:endParaRPr>
              <a:solidFill>
                <a:schemeClr val="dk1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652" name="Google Shape;652;g2a47814ba0b_1_236"/>
          <p:cNvSpPr txBox="1"/>
          <p:nvPr/>
        </p:nvSpPr>
        <p:spPr>
          <a:xfrm>
            <a:off x="910625" y="5591175"/>
            <a:ext cx="2440800" cy="1095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사용자 입력 바탕으로 </a:t>
            </a:r>
            <a:endParaRPr lang="en-US" sz="1800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도출된 ESG 스코어</a:t>
            </a:r>
            <a:endParaRPr sz="2500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53" name="Google Shape;653;g2a47814ba0b_1_236"/>
          <p:cNvSpPr/>
          <p:nvPr/>
        </p:nvSpPr>
        <p:spPr>
          <a:xfrm>
            <a:off x="9550200" y="4110600"/>
            <a:ext cx="2730600" cy="2827800"/>
          </a:xfrm>
          <a:prstGeom prst="ellipse">
            <a:avLst/>
          </a:prstGeom>
          <a:solidFill>
            <a:srgbClr val="3f5378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54" name="Google Shape;654;g2a47814ba0b_1_236"/>
          <p:cNvSpPr txBox="1"/>
          <p:nvPr/>
        </p:nvSpPr>
        <p:spPr>
          <a:xfrm>
            <a:off x="9550200" y="5324700"/>
            <a:ext cx="2730600" cy="33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200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공분산 행렬 </a:t>
            </a:r>
            <a:endParaRPr sz="2200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55" name="Google Shape;655;g2a47814ba0b_1_236"/>
          <p:cNvSpPr/>
          <p:nvPr/>
        </p:nvSpPr>
        <p:spPr>
          <a:xfrm>
            <a:off x="3928200" y="4732050"/>
            <a:ext cx="2341800" cy="152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5378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블랙리터만 모델</a:t>
            </a:r>
            <a:endParaRPr lang="en-US" sz="1800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적용</a:t>
            </a:r>
            <a:endParaRPr sz="1800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56" name="Google Shape;656;g2a47814ba0b_1_236"/>
          <p:cNvSpPr/>
          <p:nvPr/>
        </p:nvSpPr>
        <p:spPr>
          <a:xfrm>
            <a:off x="12525425" y="4768850"/>
            <a:ext cx="2341800" cy="152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5378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1800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CVXOPT 적용</a:t>
            </a:r>
            <a:endParaRPr sz="1800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57" name="Google Shape;657;g2a47814ba0b_1_236"/>
          <p:cNvSpPr/>
          <p:nvPr/>
        </p:nvSpPr>
        <p:spPr>
          <a:xfrm>
            <a:off x="14941350" y="4116950"/>
            <a:ext cx="2730600" cy="2827800"/>
          </a:xfrm>
          <a:prstGeom prst="ellipse">
            <a:avLst/>
          </a:prstGeom>
          <a:solidFill>
            <a:srgbClr val="8392a3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58" name="Google Shape;658;g2a47814ba0b_1_236"/>
          <p:cNvSpPr txBox="1"/>
          <p:nvPr/>
        </p:nvSpPr>
        <p:spPr>
          <a:xfrm>
            <a:off x="14941350" y="4857750"/>
            <a:ext cx="2730600" cy="1343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200">
                <a:solidFill>
                  <a:schemeClr val="lt1"/>
                </a:solidFill>
                <a:latin typeface="Pretendard JP Variable"/>
                <a:ea typeface="Pretendard JP Variable"/>
              </a:rPr>
              <a:t>각 자산의 </a:t>
            </a:r>
            <a:endParaRPr lang="en-US" sz="2200">
              <a:solidFill>
                <a:schemeClr val="lt1"/>
              </a:solidFill>
              <a:latin typeface="Pretendard JP Variable"/>
              <a:ea typeface="Pretendard JP Variable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200">
                <a:solidFill>
                  <a:schemeClr val="lt1"/>
                </a:solidFill>
                <a:latin typeface="Pretendard JP Variable"/>
                <a:ea typeface="Pretendard JP Variable"/>
              </a:rPr>
              <a:t>최적 가중치를 계산</a:t>
            </a:r>
            <a:endParaRPr sz="2200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60" name="Google Shape;660;g2a47814ba0b_1_236"/>
          <p:cNvSpPr/>
          <p:nvPr/>
        </p:nvSpPr>
        <p:spPr>
          <a:xfrm>
            <a:off x="15580050" y="7283625"/>
            <a:ext cx="1453200" cy="1905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808c9d"/>
          </a:solidFill>
          <a:ln w="9525" cap="flat" cmpd="sng">
            <a:solidFill>
              <a:schemeClr val="dk2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endParaRPr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661" name="Google Shape;661;g2a47814ba0b_1_236"/>
          <p:cNvSpPr txBox="1"/>
          <p:nvPr/>
        </p:nvSpPr>
        <p:spPr>
          <a:xfrm>
            <a:off x="10793105" y="8237325"/>
            <a:ext cx="4959300" cy="9513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400">
                <a:latin typeface="Pretendard JP Variable"/>
                <a:ea typeface="Pretendard JP Variable"/>
              </a:rPr>
              <a:t>쿼드라틱 프로그래밍 및</a:t>
            </a:r>
            <a:endParaRPr lang="en-US" sz="2400">
              <a:latin typeface="Pretendard JP Variable"/>
              <a:ea typeface="Pretendard JP Variable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400">
                <a:latin typeface="Pretendard JP Variable"/>
                <a:ea typeface="Pretendard JP Variable"/>
              </a:rPr>
              <a:t>Gradient Descent로 최적화</a:t>
            </a:r>
            <a:endParaRPr sz="2400" b="0" i="0" u="none" strike="noStrike" cap="none">
              <a:solidFill>
                <a:srgbClr val="000000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g2a47814ba0b_0_962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3495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g2a47814ba0b_0_962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g2a47814ba0b_0_962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g2a47814ba0b_0_962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670" name="Google Shape;670;g2a47814ba0b_0_962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알고리즘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671" name="Google Shape;671;g2a47814ba0b_0_962"/>
          <p:cNvSpPr txBox="1"/>
          <p:nvPr/>
        </p:nvSpPr>
        <p:spPr>
          <a:xfrm>
            <a:off x="273000" y="9455250"/>
            <a:ext cx="17742000" cy="507900"/>
          </a:xfrm>
          <a:prstGeom prst="rect">
            <a:avLst/>
          </a:prstGeom>
          <a:gradFill>
            <a:gsLst>
              <a:gs pos="0">
                <a:srgbClr val="ffff7b"/>
              </a:gs>
              <a:gs pos="35000">
                <a:srgbClr val="ffffa3"/>
              </a:gs>
              <a:gs pos="100000">
                <a:srgbClr val="ffffd9"/>
              </a:gs>
            </a:gsLst>
            <a:lin ang="16200038" scaled="0"/>
          </a:gradFill>
          <a:ln w="12700" cap="flat" cmpd="sng">
            <a:solidFill>
              <a:srgbClr val="ffdb00"/>
            </a:solidFill>
            <a:prstDash val="solid"/>
            <a:round/>
            <a:headEnd w="sm" len="sm"/>
            <a:tailEnd w="sm" len="sm"/>
          </a:ln>
          <a:effectLst>
            <a:outerShdw blurRad="38100" dist="25400" dir="5400000" rotWithShape="0">
              <a:srgbClr val="000000">
                <a:alpha val="74510"/>
              </a:srgbClr>
            </a:outerShdw>
          </a:effectLst>
        </p:spPr>
        <p:txBody>
          <a:bodyPr wrap="square" lIns="137150" tIns="68550" rIns="137150" bIns="6855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>
                <a:latin typeface="Pretendard JP Variable"/>
                <a:ea typeface="Pretendard JP Variable"/>
              </a:rPr>
              <a:t>요약</a:t>
            </a:r>
            <a:r>
              <a:rPr lang="en-US" sz="2400" b="1" i="0" u="none" strike="noStrike" cap="none">
                <a:solidFill>
                  <a:srgbClr val="000000"/>
                </a:solidFill>
                <a:latin typeface="Pretendard JP Variable"/>
                <a:ea typeface="Pretendard JP Variable"/>
              </a:rPr>
              <a:t>: [데이터 입력] → [ESG 평가 &amp; 투자자 의견] → [시장 균형 수익률 계산] → [Black-Litterman 결합] → [포트폴리오 최적화]</a:t>
            </a:r>
            <a:endParaRPr sz="2400" b="1" i="0" u="none" strike="noStrike" cap="none">
              <a:solidFill>
                <a:srgbClr val="000000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672" name="Google Shape;672;g2a47814ba0b_0_962"/>
          <p:cNvSpPr txBox="1"/>
          <p:nvPr/>
        </p:nvSpPr>
        <p:spPr>
          <a:xfrm>
            <a:off x="714374" y="2428725"/>
            <a:ext cx="15156900" cy="5079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400" b="0" i="0" u="none" strike="noStrike" cap="none">
                <a:solidFill>
                  <a:srgbClr val="000000"/>
                </a:solidFill>
                <a:latin typeface="Pretendard JP Variable"/>
                <a:ea typeface="Pretendard JP Variable"/>
                <a:cs typeface="Arial"/>
                <a:sym typeface="Arial"/>
              </a:rPr>
              <a:t>1. 위험 회피 계수 δ, 공분산 행렬 Σ, 시장 포트폴리오 가중치 w market 을 통해</a:t>
            </a:r>
            <a:r>
              <a:rPr lang="en-US" sz="2400">
                <a:latin typeface="Pretendard JP Variable"/>
                <a:ea typeface="Pretendard JP Variable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Pretendard JP Variable"/>
                <a:ea typeface="Pretendard JP Variable"/>
                <a:cs typeface="Arial"/>
                <a:sym typeface="Arial"/>
              </a:rPr>
              <a:t>시장 균형 수익률 Π을 계산</a:t>
            </a:r>
            <a:endParaRPr sz="2400" b="0" i="0" u="none" strike="noStrike" cap="none">
              <a:solidFill>
                <a:srgbClr val="000000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</p:txBody>
      </p:sp>
      <p:sp>
        <p:nvSpPr>
          <p:cNvPr id="673" name="Google Shape;673;g2a47814ba0b_0_962"/>
          <p:cNvSpPr txBox="1"/>
          <p:nvPr/>
        </p:nvSpPr>
        <p:spPr>
          <a:xfrm>
            <a:off x="790583" y="3789834"/>
            <a:ext cx="13201800" cy="9513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400" b="0" i="0" u="none" strike="noStrike" cap="none">
                <a:solidFill>
                  <a:srgbClr val="000000"/>
                </a:solidFill>
                <a:latin typeface="Pretendard JP Variable"/>
                <a:ea typeface="Pretendard JP Variable"/>
                <a:cs typeface="Arial"/>
                <a:sym typeface="Arial"/>
              </a:rPr>
              <a:t>2. 투자자의 의견을 선택 행렬 P (특정자산 가중치)와 의견 벡터 Q 로 표현하고,</a:t>
            </a:r>
            <a:endParaRPr lang="en-US" sz="2400" b="0" i="0" u="none" strike="noStrike" cap="none">
              <a:solidFill>
                <a:srgbClr val="000000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400" b="0" i="0" u="none" strike="noStrike" cap="none">
                <a:solidFill>
                  <a:srgbClr val="000000"/>
                </a:solidFill>
                <a:latin typeface="Pretendard JP Variable"/>
                <a:ea typeface="Pretendard JP Variable"/>
                <a:cs typeface="Arial"/>
                <a:sym typeface="Arial"/>
              </a:rPr>
              <a:t>이를 사용해 시장 균형 수익률을 조정하여 최종 기대 수익률  μBL을 계산</a:t>
            </a:r>
            <a:endParaRPr sz="2400" b="0" i="0" u="none" strike="noStrike" cap="none">
              <a:solidFill>
                <a:srgbClr val="000000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</p:txBody>
      </p:sp>
      <p:sp>
        <p:nvSpPr>
          <p:cNvPr id="674" name="Google Shape;674;g2a47814ba0b_0_962"/>
          <p:cNvSpPr txBox="1"/>
          <p:nvPr/>
        </p:nvSpPr>
        <p:spPr>
          <a:xfrm>
            <a:off x="790583" y="6021844"/>
            <a:ext cx="13308600" cy="5079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400" b="0" i="0" u="none" strike="noStrike" cap="none">
                <a:solidFill>
                  <a:srgbClr val="000000"/>
                </a:solidFill>
                <a:latin typeface="Pretendard JP Variable"/>
                <a:ea typeface="Pretendard JP Variable"/>
                <a:cs typeface="Arial"/>
                <a:sym typeface="Arial"/>
              </a:rPr>
              <a:t>3. 각 기업의 ESG 스코어에 사용자가 입력한 ESG 가중치에 따라 Q 값을 수정</a:t>
            </a:r>
            <a:endParaRPr sz="2400" b="0" i="0" u="none" strike="noStrike" cap="none">
              <a:solidFill>
                <a:srgbClr val="000000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</p:txBody>
      </p:sp>
      <p:sp>
        <p:nvSpPr>
          <p:cNvPr id="675" name="Google Shape;675;g2a47814ba0b_0_962"/>
          <p:cNvSpPr txBox="1"/>
          <p:nvPr/>
        </p:nvSpPr>
        <p:spPr>
          <a:xfrm>
            <a:off x="790583" y="7817238"/>
            <a:ext cx="14312700" cy="5079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400" b="0" i="0" u="none" strike="noStrike" cap="none">
                <a:solidFill>
                  <a:srgbClr val="000000"/>
                </a:solidFill>
                <a:latin typeface="Pretendard JP Variable"/>
                <a:ea typeface="Pretendard JP Variable"/>
                <a:cs typeface="Arial"/>
                <a:sym typeface="Arial"/>
              </a:rPr>
              <a:t>4. 기대 수익률 μ BL 과 공분산 행렬 Σ shrink 로 포트폴리오의 최적 가중치를 계산</a:t>
            </a:r>
            <a:endParaRPr sz="2400" b="0" i="0" u="none" strike="noStrike" cap="none">
              <a:solidFill>
                <a:srgbClr val="000000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</p:txBody>
      </p:sp>
      <p:pic>
        <p:nvPicPr>
          <p:cNvPr id="676" name="Google Shape;676;g2a47814ba0b_0_962"/>
          <p:cNvPicPr/>
          <p:nvPr/>
        </p:nvPicPr>
        <p:blipFill rotWithShape="1">
          <a:blip r:embed="rId6">
            <a:alphaModFix/>
          </a:blip>
          <a:srcRect t="15970" b="66210"/>
          <a:stretch>
            <a:fillRect/>
          </a:stretch>
        </p:blipFill>
        <p:spPr>
          <a:xfrm>
            <a:off x="2259225" y="4574188"/>
            <a:ext cx="13418200" cy="10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g2a47814ba0b_0_962"/>
          <p:cNvPicPr/>
          <p:nvPr/>
        </p:nvPicPr>
        <p:blipFill rotWithShape="1">
          <a:blip r:embed="rId7">
            <a:alphaModFix/>
          </a:blip>
          <a:srcRect r="69110" b="84950"/>
          <a:stretch>
            <a:fillRect/>
          </a:stretch>
        </p:blipFill>
        <p:spPr>
          <a:xfrm>
            <a:off x="2259223" y="3030881"/>
            <a:ext cx="4145211" cy="916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g2a47814ba0b_0_962"/>
          <p:cNvPicPr/>
          <p:nvPr/>
        </p:nvPicPr>
        <p:blipFill rotWithShape="1">
          <a:blip r:embed="rId8">
            <a:alphaModFix/>
          </a:blip>
          <a:srcRect t="51000" b="31180"/>
          <a:stretch>
            <a:fillRect/>
          </a:stretch>
        </p:blipFill>
        <p:spPr>
          <a:xfrm>
            <a:off x="2259225" y="6328196"/>
            <a:ext cx="13418200" cy="10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g2a47814ba0b_0_962"/>
          <p:cNvPicPr/>
          <p:nvPr/>
        </p:nvPicPr>
        <p:blipFill rotWithShape="1">
          <a:blip r:embed="rId9">
            <a:alphaModFix/>
          </a:blip>
          <a:srcRect t="82180"/>
          <a:stretch>
            <a:fillRect/>
          </a:stretch>
        </p:blipFill>
        <p:spPr>
          <a:xfrm>
            <a:off x="2259225" y="8197325"/>
            <a:ext cx="13418200" cy="108475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2a47814ba0b_0_962"/>
          <p:cNvSpPr txBox="1"/>
          <p:nvPr/>
        </p:nvSpPr>
        <p:spPr>
          <a:xfrm>
            <a:off x="1306200" y="1478125"/>
            <a:ext cx="94869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 Black"/>
                <a:ea typeface="Pretendard JP Variable Black"/>
                <a:cs typeface="Calibri"/>
                <a:sym typeface="Calibri"/>
              </a:rPr>
              <a:t>Black-Litterman</a:t>
            </a:r>
            <a:r>
              <a:rPr lang="ko-KR" altLang="en-US" sz="3700" b="1">
                <a:latin typeface="Pretendard JP Variable Black"/>
                <a:ea typeface="Pretendard JP Variable Black"/>
                <a:cs typeface="Calibri"/>
                <a:sym typeface="Calibri"/>
              </a:rPr>
              <a:t> 적용 원리</a:t>
            </a:r>
            <a:endParaRPr lang="en-US" sz="3700" b="1">
              <a:latin typeface="Pretendard JP Variable Black"/>
              <a:ea typeface="Pretendard JP Variable Black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g2a47814ba0b_1_270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g2a47814ba0b_1_270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g2a47814ba0b_1_270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g2a47814ba0b_1_270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689" name="Google Shape;689;g2a47814ba0b_1_270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및 UI / UX 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690" name="Google Shape;690;g2a47814ba0b_1_270"/>
          <p:cNvSpPr txBox="1"/>
          <p:nvPr/>
        </p:nvSpPr>
        <p:spPr>
          <a:xfrm>
            <a:off x="1306200" y="1478125"/>
            <a:ext cx="94869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"/>
                <a:ea typeface="Pretendard JP Variable"/>
                <a:cs typeface="Calibri"/>
                <a:sym typeface="Calibri"/>
              </a:rPr>
              <a:t>UI / UX 소개 - 메인 페이지</a:t>
            </a:r>
            <a:endParaRPr b="1">
              <a:latin typeface="Pretendard JP Variable"/>
              <a:ea typeface="Pretendard JP Variable"/>
            </a:endParaRPr>
          </a:p>
        </p:txBody>
      </p:sp>
      <p:pic>
        <p:nvPicPr>
          <p:cNvPr id="691" name="Google Shape;691;g2a47814ba0b_1_270"/>
          <p:cNvPicPr/>
          <p:nvPr/>
        </p:nvPicPr>
        <p:blipFill rotWithShape="1">
          <a:blip r:embed="rId6">
            <a:alphaModFix/>
          </a:blip>
          <a:srcRect l="-44340" t="358400" r="44340" b="-358400"/>
          <a:stretch>
            <a:fillRect/>
          </a:stretch>
        </p:blipFill>
        <p:spPr>
          <a:xfrm>
            <a:off x="4156800" y="6804200"/>
            <a:ext cx="28194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g2a47814ba0b_1_270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10727975" y="6880425"/>
            <a:ext cx="3022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g2a47814ba0b_1_270"/>
          <p:cNvSpPr txBox="1"/>
          <p:nvPr/>
        </p:nvSpPr>
        <p:spPr>
          <a:xfrm>
            <a:off x="8067158" y="7403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fld id="{00000000-1234-1234-1234-123412341234}" type="slidenum">
              <a:rPr lang="en-US" sz="1000">
                <a:solidFill>
                  <a:srgbClr val="ffffff"/>
                </a:solidFill>
                <a:latin typeface="Pretendard JP Variable"/>
                <a:ea typeface="Pretendard JP Variable"/>
                <a:cs typeface="Lato"/>
                <a:sym typeface="La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Pretendard Variable"/>
                  <a:ea typeface="Pretendard Variable"/>
                </a:defRPr>
              </a:pPr>
              <a:t>28</a:t>
            </a:fld>
            <a:endParaRPr lang="en-US" sz="1000">
              <a:solidFill>
                <a:srgbClr val="ffffff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pic>
        <p:nvPicPr>
          <p:cNvPr id="694" name="Google Shape;694;g2a47814ba0b_1_270"/>
          <p:cNvPicPr/>
          <p:nvPr/>
        </p:nvPicPr>
        <p:blipFill rotWithShape="1">
          <a:blip r:embed="rId8">
            <a:alphaModFix/>
          </a:blip>
          <a:stretch>
            <a:fillRect/>
          </a:stretch>
        </p:blipFill>
        <p:spPr>
          <a:xfrm>
            <a:off x="1219196" y="2742534"/>
            <a:ext cx="12673474" cy="60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g2a47814ba0b_1_270"/>
          <p:cNvSpPr/>
          <p:nvPr/>
        </p:nvSpPr>
        <p:spPr>
          <a:xfrm>
            <a:off x="11275275" y="6880425"/>
            <a:ext cx="5801100" cy="18645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이름을 입력하여 결과 페이지에서 </a:t>
            </a:r>
            <a:endParaRPr lang="en-US" sz="28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PDF로 본인 이름이 적용된 </a:t>
            </a:r>
            <a:endParaRPr lang="en-US" sz="28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포트폴리오를 받아볼 수 있음</a:t>
            </a:r>
            <a:endParaRPr lang="en-US" altLang="ko-KR"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g2a47814ba0b_1_297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g2a47814ba0b_1_297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g2a47814ba0b_1_297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g2a47814ba0b_1_297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704" name="Google Shape;704;g2a47814ba0b_1_297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및 UI / UX 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705" name="Google Shape;705;g2a47814ba0b_1_297"/>
          <p:cNvSpPr txBox="1"/>
          <p:nvPr/>
        </p:nvSpPr>
        <p:spPr>
          <a:xfrm>
            <a:off x="1306200" y="1478125"/>
            <a:ext cx="94869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"/>
                <a:ea typeface="Pretendard JP Variable"/>
                <a:cs typeface="Calibri"/>
                <a:sym typeface="Calibri"/>
              </a:rPr>
              <a:t>UI / UX 소개 - 설문 페이지</a:t>
            </a:r>
            <a:endParaRPr b="1">
              <a:latin typeface="Pretendard JP Variable"/>
              <a:ea typeface="Pretendard JP Variable"/>
            </a:endParaRPr>
          </a:p>
        </p:txBody>
      </p:sp>
      <p:pic>
        <p:nvPicPr>
          <p:cNvPr id="706" name="Google Shape;706;g2a47814ba0b_1_297"/>
          <p:cNvPicPr/>
          <p:nvPr/>
        </p:nvPicPr>
        <p:blipFill rotWithShape="1">
          <a:blip r:embed="rId6">
            <a:alphaModFix/>
          </a:blip>
          <a:srcRect l="-44340" t="358400" r="44340" b="-358400"/>
          <a:stretch>
            <a:fillRect/>
          </a:stretch>
        </p:blipFill>
        <p:spPr>
          <a:xfrm>
            <a:off x="4156800" y="6804200"/>
            <a:ext cx="28194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g2a47814ba0b_1_297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10727975" y="6880425"/>
            <a:ext cx="3022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g2a47814ba0b_1_297"/>
          <p:cNvSpPr txBox="1"/>
          <p:nvPr/>
        </p:nvSpPr>
        <p:spPr>
          <a:xfrm>
            <a:off x="8067158" y="7403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fld id="{00000000-1234-1234-1234-123412341234}" type="slidenum">
              <a:rPr lang="en-US" sz="1000">
                <a:solidFill>
                  <a:srgbClr val="ffffff"/>
                </a:solidFill>
                <a:latin typeface="Pretendard JP Variable"/>
                <a:ea typeface="Pretendard JP Variable"/>
                <a:cs typeface="Lato"/>
                <a:sym typeface="La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Pretendard Variable"/>
                  <a:ea typeface="Pretendard Variable"/>
                </a:defRPr>
              </a:pPr>
              <a:t>29</a:t>
            </a:fld>
            <a:endParaRPr lang="en-US" sz="1000">
              <a:solidFill>
                <a:srgbClr val="ffffff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pic>
        <p:nvPicPr>
          <p:cNvPr id="709" name="Google Shape;709;g2a47814ba0b_1_297"/>
          <p:cNvPicPr/>
          <p:nvPr/>
        </p:nvPicPr>
        <p:blipFill rotWithShape="1">
          <a:blip r:embed="rId8">
            <a:alphaModFix/>
          </a:blip>
          <a:stretch>
            <a:fillRect/>
          </a:stretch>
        </p:blipFill>
        <p:spPr>
          <a:xfrm>
            <a:off x="659025" y="2422750"/>
            <a:ext cx="8070426" cy="38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g2a47814ba0b_1_297"/>
          <p:cNvPicPr/>
          <p:nvPr/>
        </p:nvPicPr>
        <p:blipFill rotWithShape="1">
          <a:blip r:embed="rId9">
            <a:alphaModFix/>
          </a:blip>
          <a:stretch>
            <a:fillRect/>
          </a:stretch>
        </p:blipFill>
        <p:spPr>
          <a:xfrm>
            <a:off x="8729451" y="2422750"/>
            <a:ext cx="8540273" cy="366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g2a47814ba0b_1_297"/>
          <p:cNvPicPr/>
          <p:nvPr/>
        </p:nvPicPr>
        <p:blipFill rotWithShape="1">
          <a:blip r:embed="rId10">
            <a:alphaModFix/>
          </a:blip>
          <a:stretch>
            <a:fillRect/>
          </a:stretch>
        </p:blipFill>
        <p:spPr>
          <a:xfrm>
            <a:off x="968000" y="6375825"/>
            <a:ext cx="8070426" cy="3553774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g2a47814ba0b_1_297"/>
          <p:cNvSpPr/>
          <p:nvPr/>
        </p:nvSpPr>
        <p:spPr>
          <a:xfrm>
            <a:off x="10210800" y="7579900"/>
            <a:ext cx="6383400" cy="16044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E / S / G 각 섹터별 5개의 문항과 </a:t>
            </a:r>
            <a:endParaRPr lang="en-US" sz="28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사용자 투자 성향에 대한 1개의 문항</a:t>
            </a: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g2a47814ba0b_1_31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g2a47814ba0b_1_31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g2a47814ba0b_1_316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g2a47814ba0b_1_31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721" name="Google Shape;721;g2a47814ba0b_1_31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및 UI / UX 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722" name="Google Shape;722;g2a47814ba0b_1_316"/>
          <p:cNvSpPr txBox="1"/>
          <p:nvPr/>
        </p:nvSpPr>
        <p:spPr>
          <a:xfrm>
            <a:off x="1306200" y="1478125"/>
            <a:ext cx="94869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"/>
                <a:ea typeface="Pretendard JP Variable"/>
                <a:cs typeface="Calibri"/>
                <a:sym typeface="Calibri"/>
              </a:rPr>
              <a:t>UI / UX 소개 - 결과 페이지</a:t>
            </a:r>
            <a:endParaRPr b="1">
              <a:latin typeface="Pretendard JP Variable"/>
              <a:ea typeface="Pretendard JP Variable"/>
            </a:endParaRPr>
          </a:p>
        </p:txBody>
      </p:sp>
      <p:pic>
        <p:nvPicPr>
          <p:cNvPr id="723" name="Google Shape;723;g2a47814ba0b_1_316"/>
          <p:cNvPicPr/>
          <p:nvPr/>
        </p:nvPicPr>
        <p:blipFill rotWithShape="1">
          <a:blip r:embed="rId6">
            <a:alphaModFix/>
          </a:blip>
          <a:srcRect l="-44340" t="358400" r="44340" b="-358400"/>
          <a:stretch>
            <a:fillRect/>
          </a:stretch>
        </p:blipFill>
        <p:spPr>
          <a:xfrm>
            <a:off x="4156800" y="6804200"/>
            <a:ext cx="28194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g2a47814ba0b_1_316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10727975" y="6880425"/>
            <a:ext cx="3022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g2a47814ba0b_1_316"/>
          <p:cNvSpPr txBox="1"/>
          <p:nvPr/>
        </p:nvSpPr>
        <p:spPr>
          <a:xfrm>
            <a:off x="8067158" y="7403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fld id="{00000000-1234-1234-1234-123412341234}" type="slidenum">
              <a:rPr lang="en-US" sz="1000">
                <a:solidFill>
                  <a:srgbClr val="ffffff"/>
                </a:solidFill>
                <a:latin typeface="Pretendard JP Variable"/>
                <a:ea typeface="Pretendard JP Variable"/>
                <a:cs typeface="Lato"/>
                <a:sym typeface="La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Pretendard Variable"/>
                  <a:ea typeface="Pretendard Variable"/>
                </a:defRPr>
              </a:pPr>
              <a:t>31</a:t>
            </a:fld>
            <a:endParaRPr lang="en-US" sz="1000">
              <a:solidFill>
                <a:srgbClr val="ffffff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pic>
        <p:nvPicPr>
          <p:cNvPr id="726" name="Google Shape;726;g2a47814ba0b_1_316"/>
          <p:cNvPicPr/>
          <p:nvPr/>
        </p:nvPicPr>
        <p:blipFill rotWithShape="1">
          <a:blip r:embed="rId8">
            <a:alphaModFix/>
          </a:blip>
          <a:stretch>
            <a:fillRect/>
          </a:stretch>
        </p:blipFill>
        <p:spPr>
          <a:xfrm>
            <a:off x="1665311" y="2138425"/>
            <a:ext cx="15674224" cy="7416476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g2a47814ba0b_1_316"/>
          <p:cNvSpPr/>
          <p:nvPr/>
        </p:nvSpPr>
        <p:spPr>
          <a:xfrm>
            <a:off x="1066800" y="2848350"/>
            <a:ext cx="4477200" cy="11613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오늘 코스피, 코스닥 지수와 </a:t>
            </a:r>
            <a:endParaRPr lang="en-US" sz="28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전일 대비 증감폭 </a:t>
            </a: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728" name="Google Shape;728;g2a47814ba0b_1_316"/>
          <p:cNvSpPr/>
          <p:nvPr/>
        </p:nvSpPr>
        <p:spPr>
          <a:xfrm>
            <a:off x="11222825" y="8890275"/>
            <a:ext cx="4866300" cy="9525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제안 비중, ESG 점수, </a:t>
            </a:r>
            <a:endParaRPr lang="en-US" sz="27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종목 소개 안내 (상위 5개)</a:t>
            </a:r>
            <a:endParaRPr sz="1300"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729" name="Google Shape;729;g2a47814ba0b_1_316"/>
          <p:cNvSpPr/>
          <p:nvPr/>
        </p:nvSpPr>
        <p:spPr>
          <a:xfrm>
            <a:off x="421075" y="6242100"/>
            <a:ext cx="2298000" cy="11613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7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섹터별 선호도</a:t>
            </a:r>
            <a:endParaRPr sz="1300"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730" name="Google Shape;730;g2a47814ba0b_1_316"/>
          <p:cNvSpPr/>
          <p:nvPr/>
        </p:nvSpPr>
        <p:spPr>
          <a:xfrm>
            <a:off x="266700" y="8785875"/>
            <a:ext cx="2298000" cy="11613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포트폴리오 속 기업 제외 기능</a:t>
            </a:r>
            <a:endParaRPr sz="1000"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731" name="Google Shape;731;g2a47814ba0b_1_316"/>
          <p:cNvSpPr/>
          <p:nvPr/>
        </p:nvSpPr>
        <p:spPr>
          <a:xfrm>
            <a:off x="5676675" y="2848350"/>
            <a:ext cx="3826500" cy="11613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포트폴리오 제안 비중 시각화</a:t>
            </a:r>
            <a:endParaRPr sz="1000"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732" name="Google Shape;732;g2a47814ba0b_1_316"/>
          <p:cNvSpPr/>
          <p:nvPr/>
        </p:nvSpPr>
        <p:spPr>
          <a:xfrm>
            <a:off x="9946075" y="2848350"/>
            <a:ext cx="5471700" cy="11613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포트폴리오의 연간 기대 수익률, </a:t>
            </a:r>
            <a:endParaRPr lang="en-US" sz="28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변동성, 샤프 비율 안내</a:t>
            </a: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733" name="그림 732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167196" y="5381625"/>
            <a:ext cx="2981557" cy="26628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Google Shape;737;g2a47814ba0b_1_33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g2a47814ba0b_1_33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g2a47814ba0b_1_336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g2a47814ba0b_1_33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741" name="Google Shape;741;g2a47814ba0b_1_33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및 UI / UX 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742" name="Google Shape;742;g2a47814ba0b_1_336"/>
          <p:cNvSpPr txBox="1"/>
          <p:nvPr/>
        </p:nvSpPr>
        <p:spPr>
          <a:xfrm>
            <a:off x="1306200" y="1478125"/>
            <a:ext cx="153705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"/>
                <a:ea typeface="Pretendard JP Variable"/>
                <a:cs typeface="Calibri"/>
                <a:sym typeface="Calibri"/>
              </a:rPr>
              <a:t>UI / UX 소개 - 결과 페이지 ( 파이차트 내 클릭 기업에 대한 추가 정보 제공 )</a:t>
            </a:r>
            <a:endParaRPr b="1">
              <a:latin typeface="Pretendard JP Variable"/>
              <a:ea typeface="Pretendard JP Variable"/>
            </a:endParaRPr>
          </a:p>
        </p:txBody>
      </p:sp>
      <p:pic>
        <p:nvPicPr>
          <p:cNvPr id="743" name="Google Shape;743;g2a47814ba0b_1_336"/>
          <p:cNvPicPr/>
          <p:nvPr/>
        </p:nvPicPr>
        <p:blipFill rotWithShape="1">
          <a:blip r:embed="rId6">
            <a:alphaModFix/>
          </a:blip>
          <a:srcRect l="-44340" t="358400" r="44340" b="-358400"/>
          <a:stretch>
            <a:fillRect/>
          </a:stretch>
        </p:blipFill>
        <p:spPr>
          <a:xfrm>
            <a:off x="4156800" y="6804200"/>
            <a:ext cx="28194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g2a47814ba0b_1_336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10727975" y="6880425"/>
            <a:ext cx="3022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g2a47814ba0b_1_336"/>
          <p:cNvSpPr txBox="1"/>
          <p:nvPr/>
        </p:nvSpPr>
        <p:spPr>
          <a:xfrm>
            <a:off x="8067158" y="7403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fld id="{00000000-1234-1234-1234-123412341234}" type="slidenum">
              <a:rPr lang="en-US" sz="1000">
                <a:solidFill>
                  <a:srgbClr val="ffffff"/>
                </a:solidFill>
                <a:latin typeface="Pretendard JP Variable"/>
                <a:ea typeface="Pretendard JP Variable"/>
                <a:cs typeface="Lato"/>
                <a:sym typeface="La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Pretendard Variable"/>
                  <a:ea typeface="Pretendard Variable"/>
                </a:defRPr>
              </a:pPr>
              <a:t>31</a:t>
            </a:fld>
            <a:endParaRPr lang="en-US" sz="1000">
              <a:solidFill>
                <a:srgbClr val="ffffff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pic>
        <p:nvPicPr>
          <p:cNvPr id="746" name="Google Shape;746;g2a47814ba0b_1_336"/>
          <p:cNvPicPr/>
          <p:nvPr/>
        </p:nvPicPr>
        <p:blipFill rotWithShape="1">
          <a:blip r:embed="rId8">
            <a:alphaModFix/>
          </a:blip>
          <a:stretch>
            <a:fillRect/>
          </a:stretch>
        </p:blipFill>
        <p:spPr>
          <a:xfrm>
            <a:off x="1659988" y="2422750"/>
            <a:ext cx="14282325" cy="6269926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g2a47814ba0b_1_336"/>
          <p:cNvSpPr/>
          <p:nvPr/>
        </p:nvSpPr>
        <p:spPr>
          <a:xfrm>
            <a:off x="2044625" y="8023400"/>
            <a:ext cx="4070700" cy="11613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해당 기업의 5년간 </a:t>
            </a:r>
            <a:endParaRPr lang="en-US" sz="28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ESG 스코어 변화 시각화</a:t>
            </a: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748" name="Google Shape;748;g2a47814ba0b_1_336"/>
          <p:cNvSpPr/>
          <p:nvPr/>
        </p:nvSpPr>
        <p:spPr>
          <a:xfrm>
            <a:off x="6437175" y="8023400"/>
            <a:ext cx="4365600" cy="11613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해당 기업의 5년간 </a:t>
            </a:r>
            <a:endParaRPr lang="en-US" sz="28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주가 그래프 및 거래량 </a:t>
            </a: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749" name="Google Shape;749;g2a47814ba0b_1_336"/>
          <p:cNvSpPr/>
          <p:nvPr/>
        </p:nvSpPr>
        <p:spPr>
          <a:xfrm>
            <a:off x="11124625" y="8023400"/>
            <a:ext cx="4572016" cy="1545643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포트폴리오 내 기업들의 </a:t>
            </a:r>
            <a:endParaRPr lang="en-US" sz="28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워드 클라우드 제공</a:t>
            </a:r>
            <a:endParaRPr lang="en-US" sz="28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altLang="ko-KR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(</a:t>
            </a:r>
            <a:r>
              <a:rPr lang="ko-KR" alt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제안 비중에 비례한 블렌딩</a:t>
            </a:r>
            <a:r>
              <a:rPr lang="en-US" altLang="ko-KR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)</a:t>
            </a:r>
            <a:endParaRPr lang="en-US" altLang="ko-KR" sz="28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g2a47814ba0b_1_358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g2a47814ba0b_1_358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g2a47814ba0b_1_358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g2a47814ba0b_1_358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4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758" name="Google Shape;758;g2a47814ba0b_1_358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최적화 및 UI / UX 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759" name="Google Shape;759;g2a47814ba0b_1_358"/>
          <p:cNvSpPr txBox="1"/>
          <p:nvPr/>
        </p:nvSpPr>
        <p:spPr>
          <a:xfrm>
            <a:off x="1306200" y="1478125"/>
            <a:ext cx="153705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1">
                <a:latin typeface="Pretendard JP Variable"/>
                <a:ea typeface="Pretendard JP Variable"/>
                <a:cs typeface="Calibri"/>
                <a:sym typeface="Calibri"/>
              </a:rPr>
              <a:t>UI / UX 소개 - PDF로 포트폴리오 다운로드</a:t>
            </a:r>
            <a:endParaRPr b="1">
              <a:latin typeface="Pretendard JP Variable"/>
              <a:ea typeface="Pretendard JP Variable"/>
            </a:endParaRPr>
          </a:p>
        </p:txBody>
      </p:sp>
      <p:pic>
        <p:nvPicPr>
          <p:cNvPr id="760" name="Google Shape;760;g2a47814ba0b_1_358"/>
          <p:cNvPicPr/>
          <p:nvPr/>
        </p:nvPicPr>
        <p:blipFill rotWithShape="1">
          <a:blip r:embed="rId6">
            <a:alphaModFix/>
          </a:blip>
          <a:srcRect l="-44340" t="358400" r="44340" b="-358400"/>
          <a:stretch>
            <a:fillRect/>
          </a:stretch>
        </p:blipFill>
        <p:spPr>
          <a:xfrm>
            <a:off x="4156800" y="6804200"/>
            <a:ext cx="28194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g2a47814ba0b_1_358"/>
          <p:cNvSpPr txBox="1"/>
          <p:nvPr/>
        </p:nvSpPr>
        <p:spPr>
          <a:xfrm>
            <a:off x="8067158" y="7403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fld id="{00000000-1234-1234-1234-123412341234}" type="slidenum">
              <a:rPr lang="en-US" sz="1000">
                <a:solidFill>
                  <a:srgbClr val="ffffff"/>
                </a:solidFill>
                <a:latin typeface="Pretendard JP Variable"/>
                <a:ea typeface="Pretendard JP Variable"/>
                <a:cs typeface="Lato"/>
                <a:sym typeface="La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>
                  <a:latin typeface="Pretendard Variable"/>
                  <a:ea typeface="Pretendard Variable"/>
                </a:defRPr>
              </a:pPr>
              <a:t>33</a:t>
            </a:fld>
            <a:endParaRPr lang="en-US" sz="1000">
              <a:solidFill>
                <a:srgbClr val="ffffff"/>
              </a:solidFill>
              <a:latin typeface="Pretendard JP Variable"/>
              <a:ea typeface="Pretendard JP Variable"/>
              <a:cs typeface="Lato"/>
              <a:sym typeface="Lato"/>
            </a:endParaRPr>
          </a:p>
        </p:txBody>
      </p:sp>
      <p:pic>
        <p:nvPicPr>
          <p:cNvPr id="762" name="Google Shape;762;g2a47814ba0b_1_358"/>
          <p:cNvPicPr/>
          <p:nvPr/>
        </p:nvPicPr>
        <p:blipFill rotWithShape="1">
          <a:blip r:embed="rId7">
            <a:alphaModFix/>
          </a:blip>
          <a:srcRect l="1100" b="1880"/>
          <a:stretch>
            <a:fillRect/>
          </a:stretch>
        </p:blipFill>
        <p:spPr>
          <a:xfrm>
            <a:off x="2384787" y="2138425"/>
            <a:ext cx="6363425" cy="735055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g2a47814ba0b_1_358"/>
          <p:cNvSpPr/>
          <p:nvPr/>
        </p:nvSpPr>
        <p:spPr>
          <a:xfrm>
            <a:off x="9251125" y="3981338"/>
            <a:ext cx="6892500" cy="11613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포트폴리오의 정보 및 사용자의 관심도</a:t>
            </a: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764" name="Google Shape;764;g2a47814ba0b_1_358"/>
          <p:cNvSpPr/>
          <p:nvPr/>
        </p:nvSpPr>
        <p:spPr>
          <a:xfrm>
            <a:off x="9251125" y="6985575"/>
            <a:ext cx="6892500" cy="1161300"/>
          </a:xfrm>
          <a:prstGeom prst="roundRect">
            <a:avLst>
              <a:gd name="adj" fmla="val 20749"/>
            </a:avLst>
          </a:prstGeom>
          <a:solidFill>
            <a:schemeClr val="lt1"/>
          </a:solidFill>
          <a:ln w="28575" cap="flat" cmpd="sng">
            <a:solidFill>
              <a:srgbClr val="808c9d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기존 결과 페이지와 달리 제안된</a:t>
            </a:r>
            <a:endParaRPr lang="en-US" sz="2800">
              <a:solidFill>
                <a:schemeClr val="dk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800">
                <a:solidFill>
                  <a:schemeClr val="dk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전체 기업에 대한 정보와 제안 비중 제공 </a:t>
            </a:r>
            <a:endParaRPr>
              <a:highlight>
                <a:srgbClr val="3f5378"/>
              </a:highlight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" name="Google Shape;769;g2a47814ba0b_0_330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g2a47814ba0b_0_330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595629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g2a47814ba0b_0_330"/>
          <p:cNvSpPr txBox="1"/>
          <p:nvPr/>
        </p:nvSpPr>
        <p:spPr>
          <a:xfrm>
            <a:off x="353725" y="7404000"/>
            <a:ext cx="17430312" cy="265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90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5. </a:t>
            </a:r>
            <a:r>
              <a:rPr lang="ko-KR" altLang="en-US" sz="90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향후 계획</a:t>
            </a:r>
            <a:endParaRPr lang="ko-KR" altLang="en-US" sz="9000" b="1">
              <a:solidFill>
                <a:srgbClr val="3f537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g2a47814ba0b_2_29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g2a47814ba0b_2_29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g2a47814ba0b_2_29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5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787" name="가로 글상자 786"/>
          <p:cNvSpPr txBox="1"/>
          <p:nvPr/>
        </p:nvSpPr>
        <p:spPr>
          <a:xfrm>
            <a:off x="1137902" y="1882892"/>
            <a:ext cx="16012193" cy="410642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UI/UX 관련: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lvl="0">
              <a:defRPr/>
            </a:pPr>
            <a:endParaRPr lang="ko-KR" altLang="en-US" sz="4400">
              <a:latin typeface="Pretendard Variable"/>
              <a:ea typeface="Pretendard Variable"/>
            </a:endParaRPr>
          </a:p>
          <a:p>
            <a:pPr marL="628320" lvl="0" indent="-62832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UI의 직관성 개선 필요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marL="628320" lvl="0" indent="-62832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시각적 구분을 위한 카드 형태 레이아웃 도입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marL="628320" lvl="0" indent="-62832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툴팁과 매뉴얼을 통한 사용자 가이드 제공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marL="628320" lvl="0" indent="-62832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대시보드 형태로 한 화면에서 모든 정보를 볼 수 있도록 구성</a:t>
            </a:r>
            <a:endParaRPr lang="ko-KR" altLang="en-US" sz="4400">
              <a:latin typeface="Pretendard Variable"/>
              <a:ea typeface="Pretendard Variable"/>
            </a:endParaRPr>
          </a:p>
        </p:txBody>
      </p:sp>
      <p:sp>
        <p:nvSpPr>
          <p:cNvPr id="790" name="Google Shape;857;g2a47814ba0b_2_17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전문가 피드백</a:t>
            </a:r>
            <a:endPara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g2a47814ba0b_2_29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g2a47814ba0b_2_29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g2a47814ba0b_2_29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5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786" name="가로 글상자 785"/>
          <p:cNvSpPr txBox="1"/>
          <p:nvPr/>
        </p:nvSpPr>
        <p:spPr>
          <a:xfrm>
            <a:off x="828843" y="1871378"/>
            <a:ext cx="17231892" cy="410841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기능/신뢰성: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lvl="0">
              <a:defRPr/>
            </a:pPr>
            <a:endParaRPr lang="ko-KR" altLang="en-US" sz="4400">
              <a:latin typeface="Pretendard Variable"/>
              <a:ea typeface="Pretendard Variable"/>
            </a:endParaRPr>
          </a:p>
          <a:p>
            <a:pPr marL="628320" lvl="0" indent="-62832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ESG 평가 점수의 설명력과 신뢰성 검증 필요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marL="628320" lvl="0" indent="-62832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기업 규모(대기업/중소기업)에 따른 차이 반영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marL="628320" lvl="0" indent="-62832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ESG 점수와 수익성 간의 관계 설명 필요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marL="628320" lvl="0" indent="-62832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사용자가 특정 기업을 제외할 수 있는 기능 추가</a:t>
            </a:r>
            <a:endParaRPr lang="ko-KR" altLang="en-US" sz="4400">
              <a:latin typeface="Pretendard Variable"/>
              <a:ea typeface="Pretendard Variable"/>
            </a:endParaRPr>
          </a:p>
        </p:txBody>
      </p:sp>
      <p:sp>
        <p:nvSpPr>
          <p:cNvPr id="789" name="Google Shape;857;g2a47814ba0b_2_17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전문가 피드백</a:t>
            </a:r>
            <a:endPara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g2a47814ba0b_2_29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g2a47814ba0b_2_29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g2a47814ba0b_2_29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5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786" name="가로 글상자 785"/>
          <p:cNvSpPr txBox="1"/>
          <p:nvPr/>
        </p:nvSpPr>
        <p:spPr>
          <a:xfrm>
            <a:off x="862263" y="1954931"/>
            <a:ext cx="13716003" cy="411058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데이터/분석: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lvl="0">
              <a:defRPr/>
            </a:pPr>
            <a:endParaRPr lang="ko-KR" altLang="en-US" sz="4400">
              <a:latin typeface="Pretendard Variable"/>
              <a:ea typeface="Pretendard Variable"/>
            </a:endParaRPr>
          </a:p>
          <a:p>
            <a:pPr marL="685440" lvl="0" indent="-68544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ESG 성장률/성장세의 정량화 반영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marL="685440" lvl="0" indent="-68544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다른 평가기관과의 결과 차이 비교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marL="685440" lvl="0" indent="-68544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ESG 점수가 높게 나온 요인에 대한 설명 제공</a:t>
            </a:r>
            <a:endParaRPr lang="ko-KR" altLang="en-US" sz="4400">
              <a:latin typeface="Pretendard Variable"/>
              <a:ea typeface="Pretendard Variable"/>
            </a:endParaRPr>
          </a:p>
          <a:p>
            <a:pPr marL="685440" lvl="0" indent="-685440">
              <a:buChar char="•"/>
              <a:defRPr/>
            </a:pPr>
            <a:r>
              <a:rPr lang="ko-KR" altLang="en-US" sz="4400">
                <a:latin typeface="Pretendard Variable"/>
                <a:ea typeface="Pretendard Variable"/>
              </a:rPr>
              <a:t>PDF 출력 및 이메일/QR코드 공유 기능</a:t>
            </a:r>
            <a:endParaRPr lang="ko-KR" altLang="en-US" sz="4400">
              <a:latin typeface="Pretendard Variable"/>
              <a:ea typeface="Pretendard Variable"/>
            </a:endParaRPr>
          </a:p>
        </p:txBody>
      </p:sp>
      <p:sp>
        <p:nvSpPr>
          <p:cNvPr id="787" name="Google Shape;857;g2a47814ba0b_2_17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전문가 피드백</a:t>
            </a:r>
            <a:endPara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;p1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Google Shape;725;p7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rmAutofit/>
          </a:bodyPr>
          <a:lstStyle/>
          <a:p>
            <a:pPr marL="0" marR="0" lvl="0" indent="0" algn="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xmlns:mc="http://schemas.openxmlformats.org/markup-compatibility/2006" xmlns:hp="http://schemas.haansoft.com/office/presentation/8.0" kumimoji="0" lang="en-US" sz="1200" b="0" i="0" u="none" strike="noStrike" kern="0" cap="none" spc="0" normalizeH="0" baseline="0" mc:Ignorable="hp" hp:hslEmbossed="0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pPr marL="0" marR="0" lvl="0" indent="0" algn="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t>38</a:t>
            </a:fld>
            <a:endParaRPr xmlns:mc="http://schemas.openxmlformats.org/markup-compatibility/2006" xmlns:hp="http://schemas.haansoft.com/office/presentation/8.0" kumimoji="0" lang="en-US" sz="1200" b="0" i="0" u="none" strike="noStrike" kern="0" cap="none" spc="0" normalizeH="0" baseline="0" mc:Ignorable="hp" hp:hslEmbossed="0">
              <a:solidFill>
                <a:srgbClr val="88888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5" name="Google Shape;726;p78"/>
          <p:cNvPicPr/>
          <p:nvPr/>
        </p:nvPicPr>
        <p:blipFill rotWithShape="1">
          <a:blip r:embed="rId2">
            <a:alphaModFix/>
          </a:blip>
          <a:srcRect t="10150" b="5910"/>
          <a:stretch>
            <a:fillRect/>
          </a:stretch>
        </p:blipFill>
        <p:spPr>
          <a:xfrm>
            <a:off x="1086200" y="2352650"/>
            <a:ext cx="16115596" cy="7352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54;g2a47814ba0b_2_17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55;g2a47814ba0b_2_17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56;g2a47814ba0b_2_17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ctr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en-US" sz="3700" b="0" i="0" u="none" strike="noStrike" kern="0" cap="none" spc="0" normalizeH="0" baseline="0" mc:Ignorable="hp" hp:hslEmbossed="0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3700" b="0" i="0" u="none" strike="noStrike" kern="0" cap="none" spc="0" normalizeH="0" baseline="0" mc:Ignorable="hp" hp:hslEmbossed="0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5</a:t>
            </a:r>
            <a:endParaRPr xmlns:mc="http://schemas.openxmlformats.org/markup-compatibility/2006" xmlns:hp="http://schemas.haansoft.com/office/presentation/8.0" kumimoji="0" lang="en-US" altLang="ko-KR" sz="3700" b="0" i="0" u="none" strike="noStrike" kern="0" cap="none" spc="0" normalizeH="0" baseline="0" mc:Ignorable="hp" hp:hslEmbossed="0">
              <a:solidFill>
                <a:srgbClr val="ffffff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</p:txBody>
      </p:sp>
      <p:sp>
        <p:nvSpPr>
          <p:cNvPr id="9" name="Google Shape;857;g2a47814ba0b_2_17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개선 완료 항목</a:t>
            </a:r>
            <a:endPara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10" name="Google Shape;755;p82"/>
          <p:cNvSpPr txBox="1">
            <a:spLocks noGrp="1"/>
          </p:cNvSpPr>
          <p:nvPr/>
        </p:nvSpPr>
        <p:spPr>
          <a:xfrm>
            <a:off x="1164245" y="1380054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40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인터페이스 개선</a:t>
            </a:r>
            <a:br>
              <a:rPr xmlns:mc="http://schemas.openxmlformats.org/markup-compatibility/2006" xmlns:hp="http://schemas.haansoft.com/office/presentation/8.0" kumimoji="0" lang="ko-KR" altLang="en-US" sz="40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</a:br>
            <a:endParaRPr xmlns:mc="http://schemas.openxmlformats.org/markup-compatibility/2006" xmlns:hp="http://schemas.haansoft.com/office/presentation/8.0" kumimoji="0" lang="ko-KR" altLang="en-US" sz="40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671896" y="5610225"/>
            <a:ext cx="2981557" cy="26628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32;p7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rmAutofit/>
          </a:bodyPr>
          <a:lstStyle/>
          <a:p>
            <a:pPr marL="0" marR="0" lvl="0" indent="0" algn="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xmlns:mc="http://schemas.openxmlformats.org/markup-compatibility/2006" xmlns:hp="http://schemas.haansoft.com/office/presentation/8.0" kumimoji="0" lang="en-US" sz="1200" b="0" i="0" u="none" strike="noStrike" kern="0" cap="none" spc="0" normalizeH="0" baseline="0" mc:Ignorable="hp" hp:hslEmbossed="0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pPr marL="0" marR="0" lvl="0" indent="0" algn="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t>38</a:t>
            </a:fld>
            <a:endParaRPr xmlns:mc="http://schemas.openxmlformats.org/markup-compatibility/2006" xmlns:hp="http://schemas.haansoft.com/office/presentation/8.0" kumimoji="0" lang="en-US" sz="1200" b="0" i="0" u="none" strike="noStrike" kern="0" cap="none" spc="0" normalizeH="0" baseline="0" mc:Ignorable="hp" hp:hslEmbossed="0">
              <a:solidFill>
                <a:srgbClr val="88888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5" name="Google Shape;733;p79"/>
          <p:cNvSpPr txBox="1">
            <a:spLocks noGrp="1"/>
          </p:cNvSpPr>
          <p:nvPr/>
        </p:nvSpPr>
        <p:spPr>
          <a:xfrm>
            <a:off x="2595000" y="1556184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40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특정 기업 제외 </a:t>
            </a:r>
            <a:r>
              <a:rPr xmlns:mc="http://schemas.openxmlformats.org/markup-compatibility/2006" xmlns:hp="http://schemas.haansoft.com/office/presentation/8.0" kumimoji="0" lang="ko" sz="40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선택 가능</a:t>
            </a:r>
            <a:endParaRPr xmlns:mc="http://schemas.openxmlformats.org/markup-compatibility/2006" xmlns:hp="http://schemas.haansoft.com/office/presentation/8.0" kumimoji="0" lang="ko" sz="40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</p:txBody>
      </p:sp>
      <p:pic>
        <p:nvPicPr>
          <p:cNvPr id="6" name="Google Shape;734;p79"/>
          <p:cNvPicPr/>
          <p:nvPr/>
        </p:nvPicPr>
        <p:blipFill rotWithShape="1">
          <a:blip r:embed="rId2">
            <a:alphaModFix/>
          </a:blip>
          <a:stretch>
            <a:fillRect/>
          </a:stretch>
        </p:blipFill>
        <p:spPr>
          <a:xfrm>
            <a:off x="2150850" y="2809100"/>
            <a:ext cx="14966116" cy="7061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54;g2a47814ba0b_2_17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5;g2a47814ba0b_2_17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56;g2a47814ba0b_2_17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ctr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en-US" sz="3700" b="0" i="0" u="none" strike="noStrike" kern="0" cap="none" spc="0" normalizeH="0" baseline="0" mc:Ignorable="hp" hp:hslEmbossed="0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3700" b="0" i="0" u="none" strike="noStrike" kern="0" cap="none" spc="0" normalizeH="0" baseline="0" mc:Ignorable="hp" hp:hslEmbossed="0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5</a:t>
            </a:r>
            <a:endParaRPr xmlns:mc="http://schemas.openxmlformats.org/markup-compatibility/2006" xmlns:hp="http://schemas.haansoft.com/office/presentation/8.0" kumimoji="0" lang="en-US" altLang="ko-KR" sz="3700" b="0" i="0" u="none" strike="noStrike" kern="0" cap="none" spc="0" normalizeH="0" baseline="0" mc:Ignorable="hp" hp:hslEmbossed="0">
              <a:solidFill>
                <a:srgbClr val="ffffff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</p:txBody>
      </p:sp>
      <p:sp>
        <p:nvSpPr>
          <p:cNvPr id="10" name="Google Shape;857;g2a47814ba0b_2_17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개선 완료 항목</a:t>
            </a:r>
            <a:endPara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11" name="Google Shape;748;p81"/>
          <p:cNvPicPr/>
          <p:nvPr/>
        </p:nvPicPr>
        <p:blipFill rotWithShape="1">
          <a:blip r:embed="rId5">
            <a:alphaModFix/>
          </a:blip>
          <a:stretch>
            <a:fillRect/>
          </a:stretch>
        </p:blipFill>
        <p:spPr>
          <a:xfrm>
            <a:off x="6510033" y="3050172"/>
            <a:ext cx="5769250" cy="6977450"/>
          </a:xfrm>
          <a:prstGeom prst="rect">
            <a:avLst/>
          </a:prstGeom>
          <a:noFill/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3;p8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rmAutofit/>
          </a:bodyPr>
          <a:lstStyle/>
          <a:p>
            <a:pPr marL="0" marR="0" lvl="0" indent="0" algn="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xmlns:mc="http://schemas.openxmlformats.org/markup-compatibility/2006" xmlns:hp="http://schemas.haansoft.com/office/presentation/8.0" kumimoji="0" lang="en-US" sz="1200" b="0" i="0" u="none" strike="noStrike" kern="0" cap="none" spc="0" normalizeH="0" baseline="0" mc:Ignorable="hp" hp:hslEmbossed="0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pPr marL="0" marR="0" lvl="0" indent="0" algn="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t>39</a:t>
            </a:fld>
            <a:endParaRPr xmlns:mc="http://schemas.openxmlformats.org/markup-compatibility/2006" xmlns:hp="http://schemas.haansoft.com/office/presentation/8.0" kumimoji="0" lang="en-US" sz="1200" b="0" i="0" u="none" strike="noStrike" kern="0" cap="none" spc="0" normalizeH="0" baseline="0" mc:Ignorable="hp" hp:hslEmbossed="0">
              <a:solidFill>
                <a:srgbClr val="88888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5" name="Google Shape;754;p82"/>
          <p:cNvPicPr/>
          <p:nvPr/>
        </p:nvPicPr>
        <p:blipFill rotWithShape="1">
          <a:blip r:embed="rId2">
            <a:alphaModFix/>
          </a:blip>
          <a:stretch>
            <a:fillRect/>
          </a:stretch>
        </p:blipFill>
        <p:spPr>
          <a:xfrm>
            <a:off x="6314604" y="542300"/>
            <a:ext cx="8022900" cy="920239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5;p82"/>
          <p:cNvSpPr txBox="1">
            <a:spLocks noGrp="1"/>
          </p:cNvSpPr>
          <p:nvPr/>
        </p:nvSpPr>
        <p:spPr>
          <a:xfrm>
            <a:off x="2745395" y="1589605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Pd</a:t>
            </a:r>
            <a:r>
              <a:rPr xmlns:mc="http://schemas.openxmlformats.org/markup-compatibility/2006" xmlns:hp="http://schemas.haansoft.com/office/presentation/8.0" kumimoji="0" lang="ko" sz="40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f 파일 출력 </a:t>
            </a:r>
            <a:endParaRPr xmlns:mc="http://schemas.openxmlformats.org/markup-compatibility/2006" xmlns:hp="http://schemas.haansoft.com/office/presentation/8.0" kumimoji="0" lang="ko" sz="40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</p:txBody>
      </p:sp>
      <p:pic>
        <p:nvPicPr>
          <p:cNvPr id="7" name="Google Shape;854;g2a47814ba0b_2_17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5;g2a47814ba0b_2_17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56;g2a47814ba0b_2_17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ctr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en-US" sz="3700" b="0" i="0" u="none" strike="noStrike" kern="0" cap="none" spc="0" normalizeH="0" baseline="0" mc:Ignorable="hp" hp:hslEmbossed="0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3700" b="0" i="0" u="none" strike="noStrike" kern="0" cap="none" spc="0" normalizeH="0" baseline="0" mc:Ignorable="hp" hp:hslEmbossed="0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5</a:t>
            </a:r>
            <a:endParaRPr xmlns:mc="http://schemas.openxmlformats.org/markup-compatibility/2006" xmlns:hp="http://schemas.haansoft.com/office/presentation/8.0" kumimoji="0" lang="en-US" altLang="ko-KR" sz="3700" b="0" i="0" u="none" strike="noStrike" kern="0" cap="none" spc="0" normalizeH="0" baseline="0" mc:Ignorable="hp" hp:hslEmbossed="0">
              <a:solidFill>
                <a:srgbClr val="ffffff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</p:txBody>
      </p:sp>
      <p:sp>
        <p:nvSpPr>
          <p:cNvPr id="10" name="Google Shape;857;g2a47814ba0b_2_17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개선 완료 항목</a:t>
            </a:r>
            <a:endPara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;p1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Google Shape;767;p8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rmAutofit/>
          </a:bodyPr>
          <a:lstStyle/>
          <a:p>
            <a:pPr marL="0" marR="0" lvl="0" indent="0" algn="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xmlns:mc="http://schemas.openxmlformats.org/markup-compatibility/2006" xmlns:hp="http://schemas.haansoft.com/office/presentation/8.0" kumimoji="0" lang="en-US" sz="1200" b="0" i="0" u="none" strike="noStrike" kern="0" cap="none" spc="0" normalizeH="0" baseline="0" mc:Ignorable="hp" hp:hslEmbossed="0">
                <a:solidFill>
                  <a:srgbClr val="88888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pPr marL="0" marR="0" lvl="0" indent="0" algn="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t>40</a:t>
            </a:fld>
            <a:endParaRPr xmlns:mc="http://schemas.openxmlformats.org/markup-compatibility/2006" xmlns:hp="http://schemas.haansoft.com/office/presentation/8.0" kumimoji="0" lang="en-US" sz="1200" b="0" i="0" u="none" strike="noStrike" kern="0" cap="none" spc="0" normalizeH="0" baseline="0" mc:Ignorable="hp" hp:hslEmbossed="0">
              <a:solidFill>
                <a:srgbClr val="88888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5" name="Google Shape;768;p84"/>
          <p:cNvPicPr/>
          <p:nvPr/>
        </p:nvPicPr>
        <p:blipFill rotWithShape="1">
          <a:blip r:embed="rId2">
            <a:alphaModFix/>
          </a:blip>
          <a:stretch>
            <a:fillRect/>
          </a:stretch>
        </p:blipFill>
        <p:spPr>
          <a:xfrm>
            <a:off x="427550" y="3677900"/>
            <a:ext cx="17432900" cy="56485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69;p84"/>
          <p:cNvSpPr txBox="1">
            <a:spLocks noGrp="1"/>
          </p:cNvSpPr>
          <p:nvPr/>
        </p:nvSpPr>
        <p:spPr>
          <a:xfrm>
            <a:off x="2595000" y="1656447"/>
            <a:ext cx="14077800" cy="1828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40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종목별 </a:t>
            </a:r>
            <a:r>
              <a:rPr xmlns:mc="http://schemas.openxmlformats.org/markup-compatibility/2006" xmlns:hp="http://schemas.haansoft.com/office/presentation/8.0" kumimoji="0" lang="ko" sz="40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상세 정보 화면 </a:t>
            </a:r>
            <a:endParaRPr xmlns:mc="http://schemas.openxmlformats.org/markup-compatibility/2006" xmlns:hp="http://schemas.haansoft.com/office/presentation/8.0" kumimoji="0" lang="ko" sz="40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</p:txBody>
      </p:sp>
      <p:pic>
        <p:nvPicPr>
          <p:cNvPr id="7" name="Google Shape;854;g2a47814ba0b_2_17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5;g2a47814ba0b_2_17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56;g2a47814ba0b_2_17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ctr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en-US" sz="3700" b="0" i="0" u="none" strike="noStrike" kern="0" cap="none" spc="0" normalizeH="0" baseline="0" mc:Ignorable="hp" hp:hslEmbossed="0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3700" b="0" i="0" u="none" strike="noStrike" kern="0" cap="none" spc="0" normalizeH="0" baseline="0" mc:Ignorable="hp" hp:hslEmbossed="0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5</a:t>
            </a:r>
            <a:endParaRPr xmlns:mc="http://schemas.openxmlformats.org/markup-compatibility/2006" xmlns:hp="http://schemas.haansoft.com/office/presentation/8.0" kumimoji="0" lang="en-US" altLang="ko-KR" sz="3700" b="0" i="0" u="none" strike="noStrike" kern="0" cap="none" spc="0" normalizeH="0" baseline="0" mc:Ignorable="hp" hp:hslEmbossed="0">
              <a:solidFill>
                <a:srgbClr val="ffffff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</p:txBody>
      </p:sp>
      <p:sp>
        <p:nvSpPr>
          <p:cNvPr id="10" name="Google Shape;857;g2a47814ba0b_2_17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l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Variable"/>
                <a:ea typeface="Pretendard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개선 완료 항목</a:t>
            </a:r>
            <a:endParaRPr xmlns:mc="http://schemas.openxmlformats.org/markup-compatibility/2006" xmlns:hp="http://schemas.haansoft.com/office/presentation/8.0" kumimoji="0" lang="ko-KR" altLang="en-US" sz="37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g2a47814ba0b_2_17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g2a47814ba0b_2_17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g2a47814ba0b_2_17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altLang="ko-KR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5</a:t>
            </a:r>
            <a:endParaRPr lang="en-US" altLang="ko-KR" sz="3700" b="0" i="0" u="none" strike="noStrike" cap="none">
              <a:solidFill>
                <a:srgbClr val="ffffff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</p:txBody>
      </p:sp>
      <p:sp>
        <p:nvSpPr>
          <p:cNvPr id="857" name="Google Shape;857;g2a47814ba0b_2_17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향후 계획</a:t>
            </a:r>
            <a:endParaRPr lang="ko-KR" altLang="en-US"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858" name="Google Shape;858;g2a47814ba0b_2_176"/>
          <p:cNvPicPr/>
          <p:nvPr/>
        </p:nvPicPr>
        <p:blipFill rotWithShape="1">
          <a:blip r:embed="rId5">
            <a:alphaModFix amt="30000"/>
          </a:blip>
          <a:srcRect/>
          <a:stretch>
            <a:fillRect/>
          </a:stretch>
        </p:blipFill>
        <p:spPr>
          <a:xfrm>
            <a:off x="8171845" y="3486563"/>
            <a:ext cx="112024" cy="95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g2a47814ba0b_2_176"/>
          <p:cNvPicPr/>
          <p:nvPr/>
        </p:nvPicPr>
        <p:blipFill rotWithShape="1">
          <a:blip r:embed="rId6">
            <a:alphaModFix amt="50000"/>
          </a:blip>
          <a:srcRect/>
          <a:stretch>
            <a:fillRect/>
          </a:stretch>
        </p:blipFill>
        <p:spPr>
          <a:xfrm>
            <a:off x="8427899" y="3472883"/>
            <a:ext cx="144030" cy="12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g2a47814ba0b_2_176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8731963" y="3459204"/>
            <a:ext cx="176037" cy="15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g2a47814ba0b_2_176"/>
          <p:cNvPicPr/>
          <p:nvPr/>
        </p:nvPicPr>
        <p:blipFill rotWithShape="1">
          <a:blip r:embed="rId8">
            <a:alphaModFix amt="30000"/>
          </a:blip>
          <a:srcRect/>
          <a:stretch>
            <a:fillRect/>
          </a:stretch>
        </p:blipFill>
        <p:spPr>
          <a:xfrm>
            <a:off x="8187849" y="5675280"/>
            <a:ext cx="112024" cy="95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g2a47814ba0b_2_176"/>
          <p:cNvPicPr/>
          <p:nvPr/>
        </p:nvPicPr>
        <p:blipFill rotWithShape="1">
          <a:blip r:embed="rId9">
            <a:alphaModFix amt="50000"/>
          </a:blip>
          <a:srcRect/>
          <a:stretch>
            <a:fillRect/>
          </a:stretch>
        </p:blipFill>
        <p:spPr>
          <a:xfrm>
            <a:off x="8443902" y="5647921"/>
            <a:ext cx="144030" cy="12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g2a47814ba0b_2_176"/>
          <p:cNvPicPr/>
          <p:nvPr/>
        </p:nvPicPr>
        <p:blipFill rotWithShape="1">
          <a:blip r:embed="rId10">
            <a:alphaModFix/>
          </a:blip>
          <a:srcRect/>
          <a:stretch>
            <a:fillRect/>
          </a:stretch>
        </p:blipFill>
        <p:spPr>
          <a:xfrm>
            <a:off x="8747966" y="5634242"/>
            <a:ext cx="176037" cy="15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g2a47814ba0b_2_176"/>
          <p:cNvPicPr/>
          <p:nvPr/>
        </p:nvPicPr>
        <p:blipFill rotWithShape="1">
          <a:blip r:embed="rId11">
            <a:alphaModFix amt="30000"/>
          </a:blip>
          <a:srcRect/>
          <a:stretch>
            <a:fillRect/>
          </a:stretch>
        </p:blipFill>
        <p:spPr>
          <a:xfrm>
            <a:off x="8187849" y="7932396"/>
            <a:ext cx="112024" cy="95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g2a47814ba0b_2_176"/>
          <p:cNvPicPr/>
          <p:nvPr/>
        </p:nvPicPr>
        <p:blipFill rotWithShape="1">
          <a:blip r:embed="rId12">
            <a:alphaModFix amt="50000"/>
          </a:blip>
          <a:srcRect/>
          <a:stretch>
            <a:fillRect/>
          </a:stretch>
        </p:blipFill>
        <p:spPr>
          <a:xfrm>
            <a:off x="8459906" y="7918716"/>
            <a:ext cx="144030" cy="12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g2a47814ba0b_2_176"/>
          <p:cNvPicPr/>
          <p:nvPr/>
        </p:nvPicPr>
        <p:blipFill rotWithShape="1">
          <a:blip r:embed="rId13">
            <a:alphaModFix/>
          </a:blip>
          <a:srcRect/>
          <a:stretch>
            <a:fillRect/>
          </a:stretch>
        </p:blipFill>
        <p:spPr>
          <a:xfrm>
            <a:off x="8747966" y="7905037"/>
            <a:ext cx="176037" cy="15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g2a47814ba0b_2_176"/>
          <p:cNvPicPr/>
          <p:nvPr/>
        </p:nvPicPr>
        <p:blipFill rotWithShape="1">
          <a:blip r:embed="rId14">
            <a:alphaModFix/>
          </a:blip>
          <a:srcRect/>
          <a:stretch>
            <a:fillRect/>
          </a:stretch>
        </p:blipFill>
        <p:spPr>
          <a:xfrm>
            <a:off x="9612147" y="4758755"/>
            <a:ext cx="5073064" cy="184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g2a47814ba0b_2_176"/>
          <p:cNvPicPr/>
          <p:nvPr/>
        </p:nvPicPr>
        <p:blipFill rotWithShape="1">
          <a:blip r:embed="rId15">
            <a:alphaModFix/>
          </a:blip>
          <a:srcRect/>
          <a:stretch>
            <a:fillRect/>
          </a:stretch>
        </p:blipFill>
        <p:spPr>
          <a:xfrm>
            <a:off x="9612147" y="2501640"/>
            <a:ext cx="5073064" cy="184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g2a47814ba0b_2_176"/>
          <p:cNvPicPr/>
          <p:nvPr/>
        </p:nvPicPr>
        <p:blipFill rotWithShape="1">
          <a:blip r:embed="rId16">
            <a:alphaModFix/>
          </a:blip>
          <a:srcRect/>
          <a:stretch>
            <a:fillRect/>
          </a:stretch>
        </p:blipFill>
        <p:spPr>
          <a:xfrm>
            <a:off x="9612147" y="7002190"/>
            <a:ext cx="5073064" cy="184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g2a47814ba0b_2_176"/>
          <p:cNvPicPr/>
          <p:nvPr/>
        </p:nvPicPr>
        <p:blipFill rotWithShape="1">
          <a:blip r:embed="rId17">
            <a:alphaModFix/>
          </a:blip>
          <a:srcRect/>
          <a:stretch>
            <a:fillRect/>
          </a:stretch>
        </p:blipFill>
        <p:spPr>
          <a:xfrm>
            <a:off x="9372122" y="2269101"/>
            <a:ext cx="5553165" cy="6812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g2a47814ba0b_2_176"/>
          <p:cNvPicPr/>
          <p:nvPr/>
        </p:nvPicPr>
        <p:blipFill rotWithShape="1">
          <a:blip r:embed="rId18">
            <a:alphaModFix/>
          </a:blip>
          <a:srcRect/>
          <a:stretch>
            <a:fillRect/>
          </a:stretch>
        </p:blipFill>
        <p:spPr>
          <a:xfrm>
            <a:off x="2650687" y="4758755"/>
            <a:ext cx="5073064" cy="1846730"/>
          </a:xfrm>
          <a:prstGeom prst="rect">
            <a:avLst/>
          </a:prstGeom>
          <a:noFill/>
          <a:ln>
            <a:noFill/>
          </a:ln>
          <a:effectLst>
            <a:outerShdw blurRad="29381" dist="158546" dir="2700000">
              <a:srgbClr val="000000">
                <a:alpha val="6670"/>
              </a:srgbClr>
            </a:outerShdw>
          </a:effectLst>
        </p:spPr>
      </p:pic>
      <p:pic>
        <p:nvPicPr>
          <p:cNvPr id="873" name="Google Shape;873;g2a47814ba0b_2_176"/>
          <p:cNvPicPr/>
          <p:nvPr/>
        </p:nvPicPr>
        <p:blipFill rotWithShape="1">
          <a:blip r:embed="rId19">
            <a:alphaModFix/>
          </a:blip>
          <a:srcRect/>
          <a:stretch>
            <a:fillRect/>
          </a:stretch>
        </p:blipFill>
        <p:spPr>
          <a:xfrm>
            <a:off x="2650687" y="2501640"/>
            <a:ext cx="5073064" cy="1846730"/>
          </a:xfrm>
          <a:prstGeom prst="rect">
            <a:avLst/>
          </a:prstGeom>
          <a:noFill/>
          <a:ln>
            <a:noFill/>
          </a:ln>
          <a:effectLst>
            <a:outerShdw blurRad="29381" dist="158546" dir="2700000">
              <a:srgbClr val="000000">
                <a:alpha val="6670"/>
              </a:srgbClr>
            </a:outerShdw>
          </a:effectLst>
        </p:spPr>
      </p:pic>
      <p:pic>
        <p:nvPicPr>
          <p:cNvPr id="874" name="Google Shape;874;g2a47814ba0b_2_176"/>
          <p:cNvPicPr/>
          <p:nvPr/>
        </p:nvPicPr>
        <p:blipFill rotWithShape="1">
          <a:blip r:embed="rId20">
            <a:alphaModFix/>
          </a:blip>
          <a:srcRect/>
          <a:stretch>
            <a:fillRect/>
          </a:stretch>
        </p:blipFill>
        <p:spPr>
          <a:xfrm>
            <a:off x="2650687" y="7002190"/>
            <a:ext cx="5073064" cy="1846730"/>
          </a:xfrm>
          <a:prstGeom prst="rect">
            <a:avLst/>
          </a:prstGeom>
          <a:noFill/>
          <a:ln>
            <a:noFill/>
          </a:ln>
          <a:effectLst>
            <a:outerShdw blurRad="29381" dist="158546" dir="2700000">
              <a:srgbClr val="000000">
                <a:alpha val="6670"/>
              </a:srgbClr>
            </a:outerShdw>
          </a:effectLst>
        </p:spPr>
      </p:pic>
      <p:sp>
        <p:nvSpPr>
          <p:cNvPr id="876" name="Google Shape;876;g2a47814ba0b_2_176"/>
          <p:cNvSpPr txBox="1"/>
          <p:nvPr/>
        </p:nvSpPr>
        <p:spPr>
          <a:xfrm>
            <a:off x="3242712" y="3103562"/>
            <a:ext cx="3840900" cy="62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latin typeface="Pretendard JP Variable"/>
                <a:ea typeface="Pretendard JP Variable"/>
                <a:cs typeface="Calibri"/>
                <a:sym typeface="Calibri"/>
              </a:rPr>
              <a:t>ESG 점수 생성 과정의</a:t>
            </a:r>
            <a:endParaRPr lang="en-US" sz="3100" b="1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latin typeface="Pretendard JP Variable"/>
                <a:ea typeface="Pretendard JP Variable"/>
                <a:cs typeface="Calibri"/>
                <a:sym typeface="Calibri"/>
              </a:rPr>
              <a:t>도메인 지식 필요</a:t>
            </a:r>
            <a:endParaRPr sz="3100" b="1">
              <a:latin typeface="Pretendard JP Variable"/>
              <a:ea typeface="Pretendard JP Variable"/>
            </a:endParaRPr>
          </a:p>
        </p:txBody>
      </p:sp>
      <p:sp>
        <p:nvSpPr>
          <p:cNvPr id="877" name="Google Shape;877;g2a47814ba0b_2_176"/>
          <p:cNvSpPr txBox="1"/>
          <p:nvPr/>
        </p:nvSpPr>
        <p:spPr>
          <a:xfrm>
            <a:off x="3176812" y="5455987"/>
            <a:ext cx="3840900" cy="62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latin typeface="Pretendard JP Variable"/>
                <a:ea typeface="Pretendard JP Variable"/>
                <a:cs typeface="Calibri"/>
                <a:sym typeface="Calibri"/>
              </a:rPr>
              <a:t>ESG 점수와 </a:t>
            </a:r>
            <a:endParaRPr lang="en-US" sz="3100" b="1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latin typeface="Pretendard JP Variable"/>
                <a:ea typeface="Pretendard JP Variable"/>
                <a:cs typeface="Calibri"/>
                <a:sym typeface="Calibri"/>
              </a:rPr>
              <a:t>수익률 관계의</a:t>
            </a:r>
            <a:endParaRPr lang="en-US" sz="3100" b="1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latin typeface="Pretendard JP Variable"/>
                <a:ea typeface="Pretendard JP Variable"/>
                <a:cs typeface="Calibri"/>
                <a:sym typeface="Calibri"/>
              </a:rPr>
              <a:t>직관적 설명 부족</a:t>
            </a:r>
            <a:endParaRPr sz="3100" b="1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878" name="Google Shape;878;g2a47814ba0b_2_176"/>
          <p:cNvSpPr txBox="1"/>
          <p:nvPr/>
        </p:nvSpPr>
        <p:spPr>
          <a:xfrm>
            <a:off x="10228262" y="3103549"/>
            <a:ext cx="3840900" cy="62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결과 이해를 도울 수 있는 관련 정보 페이지 제공</a:t>
            </a:r>
            <a:endParaRPr sz="3100" b="1">
              <a:solidFill>
                <a:schemeClr val="lt1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879" name="Google Shape;879;g2a47814ba0b_2_176"/>
          <p:cNvSpPr txBox="1"/>
          <p:nvPr/>
        </p:nvSpPr>
        <p:spPr>
          <a:xfrm>
            <a:off x="10237787" y="5360737"/>
            <a:ext cx="3840900" cy="62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ESG 점수와 수익률 </a:t>
            </a:r>
            <a:endParaRPr lang="en-US" sz="3100" b="1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관계 시각화 </a:t>
            </a:r>
            <a:r>
              <a:rPr lang="ko-KR" altLang="en-US" sz="3100" b="1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추가</a:t>
            </a:r>
            <a:endParaRPr lang="ko-KR" altLang="en-US" sz="3100" b="1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880" name="Google Shape;880;g2a47814ba0b_2_176"/>
          <p:cNvSpPr txBox="1"/>
          <p:nvPr/>
        </p:nvSpPr>
        <p:spPr>
          <a:xfrm>
            <a:off x="10228262" y="7443579"/>
            <a:ext cx="38409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병렬 분산 처리로</a:t>
            </a:r>
            <a:endParaRPr lang="en-US" sz="3100" b="1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solidFill>
                  <a:schemeClr val="lt1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프로그램 구조 개선</a:t>
            </a:r>
            <a:endParaRPr sz="3100" b="1">
              <a:solidFill>
                <a:schemeClr val="lt1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sp>
        <p:nvSpPr>
          <p:cNvPr id="881" name="Google Shape;881;g2a47814ba0b_2_176"/>
          <p:cNvSpPr txBox="1"/>
          <p:nvPr/>
        </p:nvSpPr>
        <p:spPr>
          <a:xfrm>
            <a:off x="3274687" y="7665724"/>
            <a:ext cx="3840900" cy="62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latin typeface="Pretendard JP Variable"/>
                <a:ea typeface="Pretendard JP Variable"/>
                <a:cs typeface="Calibri"/>
                <a:sym typeface="Calibri"/>
              </a:rPr>
              <a:t>최적화를 할 때마다</a:t>
            </a:r>
            <a:endParaRPr lang="en-US" sz="3100" b="1">
              <a:latin typeface="Pretendard JP Variable"/>
              <a:ea typeface="Pretendard JP Variab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100" b="1">
                <a:latin typeface="Pretendard JP Variable"/>
                <a:ea typeface="Pretendard JP Variable"/>
                <a:cs typeface="Calibri"/>
                <a:sym typeface="Calibri"/>
              </a:rPr>
              <a:t>대기 시간 발생</a:t>
            </a:r>
            <a:endParaRPr sz="3100" b="1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g2a47814ba0b_0_324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g2a47814ba0b_0_324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5956299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g2a47814ba0b_0_324"/>
          <p:cNvSpPr txBox="1"/>
          <p:nvPr/>
        </p:nvSpPr>
        <p:spPr>
          <a:xfrm>
            <a:off x="353725" y="7404000"/>
            <a:ext cx="16962300" cy="265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45720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96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6. </a:t>
            </a:r>
            <a:r>
              <a:rPr lang="ko-KR" altLang="en-US" sz="9600" b="1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성과 및 기대효과</a:t>
            </a:r>
            <a:endParaRPr lang="ko-KR" altLang="en-US" sz="9600" b="1">
              <a:solidFill>
                <a:srgbClr val="3f537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g2a47814ba0b_2_12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g2a47814ba0b_2_12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g2a47814ba0b_2_12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6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835" name="Google Shape;835;g2a47814ba0b_2_12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프로젝트 성과</a:t>
            </a:r>
            <a:endParaRPr lang="ko-KR" altLang="en-US"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854" name="그림 853"/>
          <p:cNvPicPr>
            <a:picLocks noChangeAspect="1"/>
          </p:cNvPicPr>
          <p:nvPr/>
        </p:nvPicPr>
        <p:blipFill rotWithShape="1">
          <a:blip r:embed="rId5"/>
          <a:srcRect r="19710" b="18530"/>
          <a:stretch>
            <a:fillRect/>
          </a:stretch>
        </p:blipFill>
        <p:spPr>
          <a:xfrm>
            <a:off x="889833" y="1480320"/>
            <a:ext cx="6315747" cy="7326358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58" name="가로 글상자 857"/>
          <p:cNvSpPr txBox="1"/>
          <p:nvPr/>
        </p:nvSpPr>
        <p:spPr>
          <a:xfrm>
            <a:off x="1714500" y="9070576"/>
            <a:ext cx="5668211" cy="638174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600">
                <a:latin typeface="Pretendard JP Variable"/>
                <a:ea typeface="Pretendard JP Variable"/>
              </a:rPr>
              <a:t>GitHub 오픈소스로 공개</a:t>
            </a:r>
            <a:endParaRPr lang="ko-KR" altLang="en-US">
              <a:latin typeface="Pretendard JP Variable"/>
              <a:ea typeface="Pretendard JP Variable"/>
            </a:endParaRPr>
          </a:p>
        </p:txBody>
      </p:sp>
      <p:sp>
        <p:nvSpPr>
          <p:cNvPr id="860" name="가로 글상자 859"/>
          <p:cNvSpPr txBox="1"/>
          <p:nvPr/>
        </p:nvSpPr>
        <p:spPr>
          <a:xfrm>
            <a:off x="7649911" y="2192704"/>
            <a:ext cx="10514264" cy="613019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 Black"/>
                <a:ea typeface="Pretendard JP Variable Black"/>
              </a:rPr>
              <a:t>KoElectra 모델 파인튜닝 및 데이터셋 공개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 Black"/>
              <a:ea typeface="Pretendard JP Variable Black"/>
            </a:endParaRPr>
          </a:p>
          <a:p>
            <a:pPr marL="514080" marR="0" lvl="0" indent="-51408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파인튜닝 코드 및 학습용 데이터셋을 오픈소스로 공개.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  <a:p>
            <a:pPr marL="514080" marR="0" lvl="0" indent="-51408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유사 연구 및 개발자들에게 선행 연구 사례 제공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JP Variable"/>
                <a:ea typeface="Pretendard JP Variable"/>
              </a:defRPr>
            </a:pP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 Black"/>
                <a:ea typeface="Pretendard JP Variable Black"/>
              </a:rPr>
              <a:t>정량적 ESG 평가 및 포트폴리오 제공 파이프라인 공개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 Black"/>
              <a:ea typeface="Pretendard JP Variable Black"/>
            </a:endParaRPr>
          </a:p>
          <a:p>
            <a:pPr marL="514080" lvl="1" indent="-514080" algn="l">
              <a:buClr>
                <a:srgbClr val="000000"/>
              </a:buClr>
              <a:buChar char="•"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텍스트 수집 → 전처리 → ESG 점수화 → 최적화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  <a:p>
            <a:pPr marL="514080" marR="0" lvl="0" indent="-51408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자동화된 ESG 평가 및 최적화 포트폴리오 제공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JP Variable"/>
                <a:ea typeface="Pretendard JP Variable"/>
              </a:defRPr>
            </a:pP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 Black"/>
                <a:ea typeface="Pretendard JP Variable Black"/>
              </a:rPr>
              <a:t>ESG 기반 포트폴리오 제공 서비스 구현 및 공개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 Black"/>
              <a:ea typeface="Pretendard JP Variable Black"/>
            </a:endParaRPr>
          </a:p>
          <a:p>
            <a:pPr marL="514080" marR="0" lvl="0" indent="-51408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사용자 친화적 인터페이스로 설계, 투자 편의성 강화.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  <a:p>
            <a:pPr marL="514080" marR="0" lvl="0" indent="-51408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GitHub 코드를 통해 맞춤형 기능 추가 및 개선 가능.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861" name="가로 글상자 860"/>
          <p:cNvSpPr txBox="1"/>
          <p:nvPr/>
        </p:nvSpPr>
        <p:spPr>
          <a:xfrm>
            <a:off x="7234238" y="9282146"/>
            <a:ext cx="6326102" cy="39334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2000">
                <a:latin typeface="Pretendard Variable"/>
                <a:ea typeface="Pretendard Variable"/>
                <a:hlinkClick r:id="rId6"/>
              </a:rPr>
              <a:t>https://github.com/fairyofdata?tab=repositories</a:t>
            </a:r>
            <a:r>
              <a:rPr lang="ko-KR" altLang="en-US" sz="2000">
                <a:latin typeface="Pretendard Variable"/>
                <a:ea typeface="Pretendard Variable"/>
              </a:rPr>
              <a:t> </a:t>
            </a:r>
            <a:endParaRPr lang="ko-KR" altLang="en-US" sz="2000">
              <a:latin typeface="Pretendard Variable"/>
              <a:ea typeface="Pretendard Variab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g2a47814ba0b_2_12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g2a47814ba0b_2_12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g2a47814ba0b_2_12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6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835" name="Google Shape;835;g2a47814ba0b_2_12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ko-KR" altLang="en-US" sz="3700">
                <a:latin typeface="Pretendard JP Variable"/>
                <a:ea typeface="Pretendard JP Variable"/>
                <a:cs typeface="Calibri"/>
                <a:sym typeface="Calibri"/>
              </a:rPr>
              <a:t>프로젝트 성과</a:t>
            </a:r>
            <a:endParaRPr lang="ko-KR" altLang="en-US" sz="3700"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  <p:pic>
        <p:nvPicPr>
          <p:cNvPr id="860" name="그림 85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77466" y="1474076"/>
            <a:ext cx="6275247" cy="7338848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sp>
        <p:nvSpPr>
          <p:cNvPr id="861" name="가로 글상자 860"/>
          <p:cNvSpPr txBox="1"/>
          <p:nvPr/>
        </p:nvSpPr>
        <p:spPr>
          <a:xfrm>
            <a:off x="7548988" y="9087289"/>
            <a:ext cx="10398544" cy="635832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학부 졸업전시회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(2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위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 수상    단과대학 전시회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(2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위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 수상   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</p:txBody>
      </p:sp>
      <p:pic>
        <p:nvPicPr>
          <p:cNvPr id="863" name="그림 86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574327" y="1472778"/>
            <a:ext cx="5037684" cy="7341444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pic>
        <p:nvPicPr>
          <p:cNvPr id="862" name="그림 86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406105" y="1488443"/>
            <a:ext cx="4997149" cy="7310114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sp>
        <p:nvSpPr>
          <p:cNvPr id="864" name="가로 글상자 863"/>
          <p:cNvSpPr txBox="1"/>
          <p:nvPr/>
        </p:nvSpPr>
        <p:spPr>
          <a:xfrm>
            <a:off x="1363581" y="9104002"/>
            <a:ext cx="5651502" cy="638338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>
                <a:latin typeface="Pretendard JP Variable"/>
                <a:ea typeface="Pretendard JP Variable"/>
              </a:defRPr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  <a:solidFill>
                  <a:srgbClr val="000000"/>
                </a:solidFill>
                <a:latin typeface="Pretendard JP Variable"/>
                <a:ea typeface="Pretendard JP Variable"/>
              </a:rPr>
              <a:t>컴퓨터프로그램 저작권 확보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0" cap="none" spc="0" normalizeH="0" baseline="0" mc:Ignorable="hp" hp:hslEmbossed="0">
              <a:solidFill>
                <a:srgbClr val="000000"/>
              </a:solidFill>
              <a:latin typeface="Pretendard JP Variable"/>
              <a:ea typeface="Pretendard JP Variab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g2a47814ba0b_2_12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g2a47814ba0b_2_12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219200" y="1181100"/>
            <a:ext cx="16789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g2a47814ba0b_2_126"/>
          <p:cNvSpPr txBox="1"/>
          <p:nvPr/>
        </p:nvSpPr>
        <p:spPr>
          <a:xfrm>
            <a:off x="241300" y="342900"/>
            <a:ext cx="10542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 b="0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0</a:t>
            </a:r>
            <a:r>
              <a:rPr lang="en-US" sz="3700">
                <a:solidFill>
                  <a:srgbClr val="ffffff"/>
                </a:solidFill>
                <a:latin typeface="Pretendard JP Variable"/>
                <a:ea typeface="Pretendard JP Variable"/>
              </a:rPr>
              <a:t>6</a:t>
            </a:r>
            <a:endParaRPr>
              <a:latin typeface="Pretendard JP Variable"/>
              <a:ea typeface="Pretendard JP Variable"/>
            </a:endParaRPr>
          </a:p>
        </p:txBody>
      </p:sp>
      <p:sp>
        <p:nvSpPr>
          <p:cNvPr id="835" name="Google Shape;835;g2a47814ba0b_2_126"/>
          <p:cNvSpPr txBox="1"/>
          <p:nvPr/>
        </p:nvSpPr>
        <p:spPr>
          <a:xfrm>
            <a:off x="1473200" y="355600"/>
            <a:ext cx="43656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700">
                <a:latin typeface="Pretendard JP Variable"/>
                <a:ea typeface="Pretendard JP Variable"/>
                <a:cs typeface="Calibri"/>
                <a:sym typeface="Calibri"/>
              </a:rPr>
              <a:t>활용 및 기대효과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836" name="Google Shape;836;g2a47814ba0b_2_126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6680912" y="7657181"/>
            <a:ext cx="3995204" cy="18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g2a47814ba0b_2_126"/>
          <p:cNvSpPr txBox="1"/>
          <p:nvPr/>
        </p:nvSpPr>
        <p:spPr>
          <a:xfrm>
            <a:off x="3386989" y="4866671"/>
            <a:ext cx="2451000" cy="554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2400" b="1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핵심</a:t>
            </a:r>
            <a:r>
              <a:rPr lang="en-US" sz="2400" b="1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Arial"/>
                <a:sym typeface="Arial"/>
              </a:rPr>
              <a:t> </a:t>
            </a:r>
            <a:r>
              <a:rPr lang="en-US" sz="2400" b="1" i="0" u="none" strike="noStrike" cap="none">
                <a:solidFill>
                  <a:srgbClr val="ffffff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목표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838" name="Google Shape;838;g2a47814ba0b_2_126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2485198" y="1766688"/>
            <a:ext cx="4146284" cy="4146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g2a47814ba0b_2_126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6866481" y="1766700"/>
            <a:ext cx="4146284" cy="4146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g2a47814ba0b_2_126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11247765" y="1766700"/>
            <a:ext cx="4146284" cy="4146284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g2a47814ba0b_2_126"/>
          <p:cNvSpPr txBox="1"/>
          <p:nvPr/>
        </p:nvSpPr>
        <p:spPr>
          <a:xfrm>
            <a:off x="2401227" y="3416831"/>
            <a:ext cx="4297200" cy="10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객관적이고 신뢰성 있는 </a:t>
            </a:r>
            <a:endParaRPr lang="en-US"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ESG 평가 제공</a:t>
            </a:r>
            <a:endParaRPr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</p:txBody>
      </p:sp>
      <p:pic>
        <p:nvPicPr>
          <p:cNvPr id="842" name="Google Shape;842;g2a47814ba0b_2_126"/>
          <p:cNvPicPr/>
          <p:nvPr/>
        </p:nvPicPr>
        <p:blipFill rotWithShape="1">
          <a:blip r:embed="rId9">
            <a:alphaModFix/>
          </a:blip>
          <a:srcRect/>
          <a:stretch>
            <a:fillRect/>
          </a:stretch>
        </p:blipFill>
        <p:spPr>
          <a:xfrm>
            <a:off x="11306315" y="5492538"/>
            <a:ext cx="4146284" cy="4146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g2a47814ba0b_2_126"/>
          <p:cNvPicPr/>
          <p:nvPr/>
        </p:nvPicPr>
        <p:blipFill rotWithShape="1">
          <a:blip r:embed="rId10">
            <a:alphaModFix/>
          </a:blip>
          <a:srcRect/>
          <a:stretch>
            <a:fillRect/>
          </a:stretch>
        </p:blipFill>
        <p:spPr>
          <a:xfrm>
            <a:off x="6857977" y="5492550"/>
            <a:ext cx="4146284" cy="4146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g2a47814ba0b_2_126"/>
          <p:cNvPicPr/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2485140" y="5492550"/>
            <a:ext cx="4146284" cy="4146284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g2a47814ba0b_2_126"/>
          <p:cNvSpPr txBox="1"/>
          <p:nvPr/>
        </p:nvSpPr>
        <p:spPr>
          <a:xfrm>
            <a:off x="6791014" y="3416818"/>
            <a:ext cx="4297200" cy="10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투자자 맞춤형 </a:t>
            </a:r>
            <a:endParaRPr lang="en-US"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포트폴리오 경험 제공</a:t>
            </a:r>
            <a:endParaRPr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846" name="Google Shape;846;g2a47814ba0b_2_126"/>
          <p:cNvSpPr txBox="1"/>
          <p:nvPr/>
        </p:nvSpPr>
        <p:spPr>
          <a:xfrm>
            <a:off x="11180814" y="3416831"/>
            <a:ext cx="4297200" cy="10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중소기업 등</a:t>
            </a:r>
            <a:endParaRPr lang="en-US"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ESG 평가 적용의</a:t>
            </a:r>
            <a:endParaRPr lang="en-US"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 확장성 확보</a:t>
            </a:r>
            <a:endParaRPr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847" name="Google Shape;847;g2a47814ba0b_2_126"/>
          <p:cNvSpPr txBox="1"/>
          <p:nvPr/>
        </p:nvSpPr>
        <p:spPr>
          <a:xfrm>
            <a:off x="2334227" y="7120956"/>
            <a:ext cx="4297200" cy="10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실시간 데이터와 </a:t>
            </a:r>
            <a:endParaRPr lang="en-US"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변화 대응</a:t>
            </a:r>
            <a:endParaRPr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848" name="Google Shape;848;g2a47814ba0b_2_126"/>
          <p:cNvSpPr txBox="1"/>
          <p:nvPr/>
        </p:nvSpPr>
        <p:spPr>
          <a:xfrm>
            <a:off x="6782514" y="7053743"/>
            <a:ext cx="4297200" cy="10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균형 잡힌</a:t>
            </a:r>
            <a:endParaRPr lang="en-US"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투자 옵션 제공</a:t>
            </a:r>
            <a:endParaRPr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</p:txBody>
      </p:sp>
      <p:sp>
        <p:nvSpPr>
          <p:cNvPr id="849" name="Google Shape;849;g2a47814ba0b_2_126"/>
          <p:cNvSpPr txBox="1"/>
          <p:nvPr/>
        </p:nvSpPr>
        <p:spPr>
          <a:xfrm>
            <a:off x="11230827" y="7208056"/>
            <a:ext cx="4297200" cy="10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개인 가치관에 따른</a:t>
            </a:r>
            <a:endParaRPr lang="en-US"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ESG 영역별 가중치 </a:t>
            </a:r>
            <a:endParaRPr lang="en-US"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etendard Variable"/>
                <a:ea typeface="Pretendard Variable"/>
              </a:defRPr>
            </a:pPr>
            <a:r>
              <a:rPr lang="en-US" sz="3000" b="1">
                <a:solidFill>
                  <a:srgbClr val="31537b"/>
                </a:solidFill>
                <a:latin typeface="Pretendard JP Variable"/>
                <a:ea typeface="Pretendard JP Variable"/>
              </a:rPr>
              <a:t>조정 가능</a:t>
            </a:r>
            <a:endParaRPr sz="3000" b="1">
              <a:solidFill>
                <a:srgbClr val="31537b"/>
              </a:solidFill>
              <a:latin typeface="Pretendard JP Variable"/>
              <a:ea typeface="Pretendard JP Variab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2a47814ba0b_0_16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66700" y="241300"/>
            <a:ext cx="17741900" cy="9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2a47814ba0b_0_16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5125700" y="482600"/>
            <a:ext cx="26797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2a47814ba0b_0_16"/>
          <p:cNvSpPr txBox="1"/>
          <p:nvPr/>
        </p:nvSpPr>
        <p:spPr>
          <a:xfrm>
            <a:off x="15227300" y="635000"/>
            <a:ext cx="2463900" cy="31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Pretendard JP Variable"/>
                <a:ea typeface="Pretendard JP Variable"/>
              </a:rPr>
              <a:t>2024.12.09</a:t>
            </a:r>
            <a:endParaRPr>
              <a:latin typeface="Pretendard JP Variable"/>
              <a:ea typeface="Pretendard JP Variable"/>
            </a:endParaRPr>
          </a:p>
        </p:txBody>
      </p:sp>
      <p:pic>
        <p:nvPicPr>
          <p:cNvPr id="173" name="Google Shape;173;g2a47814ba0b_0_16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5232400" y="739273"/>
            <a:ext cx="78232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2a47814ba0b_0_16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5232400" y="3711073"/>
            <a:ext cx="78232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886;g2a47814ba0b_0_639"/>
          <p:cNvSpPr txBox="1"/>
          <p:nvPr/>
        </p:nvSpPr>
        <p:spPr>
          <a:xfrm>
            <a:off x="5374534" y="3372900"/>
            <a:ext cx="6889200" cy="1770600"/>
          </a:xfrm>
          <a:prstGeom prst="rect">
            <a:avLst/>
          </a:prstGeom>
          <a:noFill/>
          <a:ln>
            <a:noFill/>
          </a:ln>
        </p:spPr>
        <p:txBody>
          <a:bodyPr wrap="square" lIns="137150" tIns="68550" rIns="137150" bIns="68550" anchor="t" anchorCtr="0">
            <a:noAutofit/>
          </a:bodyPr>
          <a:p>
            <a:pPr marL="0" marR="0" lvl="0" indent="0" algn="ctr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sz="10000" b="1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Arial"/>
                <a:sym typeface="Arial"/>
              </a:rPr>
              <a:t>감사합니다</a:t>
            </a:r>
            <a:r>
              <a:rPr xmlns:mc="http://schemas.openxmlformats.org/markup-compatibility/2006" xmlns:hp="http://schemas.haansoft.com/office/presentation/8.0" kumimoji="0" lang="en-US" altLang="ko-KR" sz="10000" b="1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Arial"/>
                <a:sym typeface="Arial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0000" b="1" i="0" u="none" strike="noStrike" kern="0" cap="none" spc="0" normalizeH="0" baseline="0" mc:Ignorable="hp" hp:hslEmbossed="0">
              <a:solidFill>
                <a:srgbClr val="3f5378"/>
              </a:solidFill>
              <a:latin typeface="Pretendard JP Variable"/>
              <a:ea typeface="Pretendard JP Variable"/>
              <a:cs typeface="Arial"/>
              <a:sym typeface="Arial"/>
            </a:endParaRPr>
          </a:p>
        </p:txBody>
      </p:sp>
      <p:sp>
        <p:nvSpPr>
          <p:cNvPr id="179" name="Google Shape;176;g2a47814ba0b_0_16"/>
          <p:cNvSpPr txBox="1"/>
          <p:nvPr/>
        </p:nvSpPr>
        <p:spPr>
          <a:xfrm>
            <a:off x="4811059" y="6133164"/>
            <a:ext cx="8016149" cy="1047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p>
            <a:pPr marL="0" marR="0" lvl="0" indent="0" algn="ctr" rtl="0" eaLnBrk="1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1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 Black"/>
                <a:ea typeface="Pretendard JP Variable Black"/>
                <a:cs typeface="Calibri"/>
                <a:sym typeface="Calibri"/>
              </a:rPr>
              <a:t>Team KWargs </a:t>
            </a:r>
            <a:r>
              <a:rPr xmlns:mc="http://schemas.openxmlformats.org/markup-compatibility/2006" xmlns:hp="http://schemas.haansoft.com/office/presentation/8.0" kumimoji="0" lang="en-US" altLang="ko-KR" sz="4000" b="0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| </a:t>
            </a:r>
            <a:r>
              <a:rPr xmlns:mc="http://schemas.openxmlformats.org/markup-compatibility/2006" xmlns:hp="http://schemas.haansoft.com/office/presentation/8.0" kumimoji="0" lang="en-US" sz="4000" b="0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백지헌</a:t>
            </a:r>
            <a:r>
              <a:rPr xmlns:mc="http://schemas.openxmlformats.org/markup-compatibility/2006" xmlns:hp="http://schemas.haansoft.com/office/presentation/8.0" kumimoji="0" lang="en-US" altLang="ko-KR" sz="4000" b="0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</a:t>
            </a:r>
            <a:r>
              <a:rPr xmlns:mc="http://schemas.openxmlformats.org/markup-compatibility/2006" xmlns:hp="http://schemas.haansoft.com/office/presentation/8.0" kumimoji="0" lang="en-US" sz="4000" b="0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김나연 장한재</a:t>
            </a:r>
            <a:r>
              <a:rPr xmlns:mc="http://schemas.openxmlformats.org/markup-compatibility/2006" xmlns:hp="http://schemas.haansoft.com/office/presentation/8.0" kumimoji="0" lang="en-US" altLang="ko-KR" sz="4000" b="0" i="0" u="none" strike="noStrike" kern="0" cap="none" spc="0" normalizeH="0" baseline="0" mc:Ignorable="hp" hp:hslEmbossed="0">
                <a:solidFill>
                  <a:srgbClr val="3f5378"/>
                </a:solidFill>
                <a:latin typeface="Pretendard JP Variable"/>
                <a:ea typeface="Pretendard JP Variable"/>
                <a:cs typeface="Calibri"/>
                <a:sym typeface="Calibri"/>
              </a:rPr>
              <a:t> 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0" cap="none" spc="0" normalizeH="0" baseline="0" mc:Ignorable="hp" hp:hslEmbossed="0">
              <a:solidFill>
                <a:srgbClr val="3f5378"/>
              </a:solidFill>
              <a:latin typeface="Pretendard JP Variable"/>
              <a:ea typeface="Pretendard JP Variable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rgbClr val="000000"/>
      </a:dk1>
      <a:lt1>
        <a:srgbClr val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1825</ep:Words>
  <ep:PresentationFormat/>
  <ep:Paragraphs>431</ep:Paragraphs>
  <ep:Slides>47</ep:Slides>
  <ep:Notes>42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47</vt:i4>
      </vt:variant>
    </vt:vector>
  </ep:HeadingPairs>
  <ep:TitlesOfParts>
    <vt:vector size="49" baseType="lpstr">
      <vt:lpstr>Office Theme</vt:lpstr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fairy</cp:lastModifiedBy>
  <dcterms:modified xsi:type="dcterms:W3CDTF">2024-12-19T00:41:01.077</dcterms:modified>
  <cp:revision>39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